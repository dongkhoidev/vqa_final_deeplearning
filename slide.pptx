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75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2681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077B6">
              <a:alpha val="25000"/>
            </a:srgbClr>
          </a:solidFill>
          <a:ln w="12700">
            <a:solidFill>
              <a:srgbClr val="0077B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280160" cy="1280160"/>
          </a:xfrm>
          <a:prstGeom prst="ellipse">
            <a:avLst/>
          </a:prstGeom>
          <a:solidFill>
            <a:srgbClr val="00B4D8">
              <a:alpha val="80000"/>
            </a:srgbClr>
          </a:solidFill>
          <a:ln w="254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🚦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Sign VQA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hỏi đáp ảnh biển báo giao thông tiếng Việt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0" y="2377440"/>
            <a:ext cx="457200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651760" cy="868680"/>
          </a:xfrm>
          <a:prstGeom prst="rect">
            <a:avLst/>
          </a:prstGeom>
          <a:solidFill>
            <a:srgbClr val="132437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Môn học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907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Sâu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2606040"/>
            <a:ext cx="2651760" cy="868680"/>
          </a:xfrm>
          <a:prstGeom prst="rect">
            <a:avLst/>
          </a:prstGeom>
          <a:solidFill>
            <a:srgbClr val="132437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2651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2907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Question Answering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606040"/>
            <a:ext cx="2651760" cy="868680"/>
          </a:xfrm>
          <a:prstGeom prst="rect">
            <a:avLst/>
          </a:prstGeom>
          <a:solidFill>
            <a:srgbClr val="132437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26480" y="2651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26480" y="2907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VQA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A089E3-6372-CEDE-43D6-F50869599F9B}"/>
              </a:ext>
            </a:extLst>
          </p:cNvPr>
          <p:cNvSpPr txBox="1"/>
          <p:nvPr/>
        </p:nvSpPr>
        <p:spPr>
          <a:xfrm>
            <a:off x="457200" y="3675888"/>
            <a:ext cx="3318729" cy="92333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ctr">
              <a:buNone/>
              <a:defRPr i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/>
            <a:r>
              <a:rPr lang="en-US"/>
              <a:t>Trần Nhựt Đông Khởi – 52300121</a:t>
            </a:r>
          </a:p>
          <a:p>
            <a:pPr algn="l"/>
            <a:r>
              <a:rPr lang="en-US"/>
              <a:t>Nguyễn Quốc Bảo – 52300094</a:t>
            </a:r>
          </a:p>
          <a:p>
            <a:pPr algn="l"/>
            <a:r>
              <a:rPr lang="en-US"/>
              <a:t>Huỳnh Thị Mỹ Ngọc - 52300134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401A41-AAB9-18EE-4C8D-3309CECFC037}"/>
              </a:ext>
            </a:extLst>
          </p:cNvPr>
          <p:cNvSpPr txBox="1"/>
          <p:nvPr/>
        </p:nvSpPr>
        <p:spPr>
          <a:xfrm>
            <a:off x="3481647" y="3200400"/>
            <a:ext cx="2272145" cy="92333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ctr">
              <a:buNone/>
              <a:defRPr i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/>
            <a:r>
              <a:rPr lang="en-US"/>
              <a:t>GV: TS. Lê Anh Cường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Bài Toán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3931920" cy="32918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ĐẦU VÀO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48132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4356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biển báo giao thông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956816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9110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tiếng Việt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32918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87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ĐẦU 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37760" y="1481328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143560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trả lời ngắn tiếng Việt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956816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19110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(Bài 2)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2432304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20640" y="23865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Khuyến nghị hành động (Bài 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2907792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0" y="2862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 (Bài 2)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2377440"/>
            <a:ext cx="393192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57700" y="222427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4D8"/>
                </a:solidFill>
              </a:rPr>
              <a:t>▶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11480" y="4251960"/>
            <a:ext cx="8321040" cy="594360"/>
          </a:xfrm>
          <a:prstGeom prst="rect">
            <a:avLst/>
          </a:prstGeom>
          <a:solidFill>
            <a:srgbClr val="0A1929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43159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 Ảnh + "Biển báo này có ý nghĩa gì?"  →  "Cấm rẽ trái."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Lý Do Chọn Đề Tài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115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34440" y="11155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Miền chuyên biệt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Biển báo giao thông có ý nghĩa ứng dụng thực tế cao trong an toàn giao thông.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0584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115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🖼️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23560" y="11155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thuộc tính trực quan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15087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Màu sắc, hình dạng, biểu tượng, chữ viết — phong phú về đặc trưng ảnh.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0358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234440" y="30358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đa dạng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429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Yes/No, nhận dạng, màu sắc, số lượng, hành động — nhiều loại task.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92608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30358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23560" y="30358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kiến trúc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3429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để đánh giá kiến trúc rời vs. mô hình multimodal pretrained.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Dataset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2606040" cy="128016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biển báo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606040" cy="128016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46120" y="1005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4612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Cặp QA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80760" y="914400"/>
            <a:ext cx="2606040" cy="128016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80760" y="1005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08076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ảnh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31720"/>
          <a:ext cx="8321040" cy="201168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Split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Số ảnh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Số QA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8F4FD"/>
                          </a:solidFill>
                        </a:rPr>
                        <a:t>Train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206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2,060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8F4FD"/>
                          </a:solidFill>
                        </a:rPr>
                        <a:t>Validation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8F4FD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4E5F2"/>
                          </a:solidFill>
                        </a:rPr>
                        <a:t>270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</a:rPr>
                        <a:t>Tổng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</a:rPr>
                        <a:t>2,580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Tiền Xử Lý Ảnh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737360" cy="8229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SquarePad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115568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DA0B3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14600" y="1005840"/>
            <a:ext cx="1737360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14600" y="1005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224×224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51960" y="1115568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DA0B3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0" y="1005840"/>
            <a:ext cx="1737360" cy="82296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005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ToTensor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115568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DA0B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29400" y="1005840"/>
            <a:ext cx="1737360" cy="8229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005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2103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 sao dùng SquarePad?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1480" y="2606040"/>
            <a:ext cx="8321040" cy="566928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26334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76F"/>
                </a:solidFill>
              </a:rPr>
              <a:t>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26517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trực tiếp → méo biển báo (hình tròn thành ellipse)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3264408"/>
            <a:ext cx="8321040" cy="566928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D6A0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331012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SquarePad giữ nguyên tỷ lệ: hình tròn, tam giác, chữ nhật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922776"/>
            <a:ext cx="8321040" cy="566928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950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D6A0"/>
                </a:solidFill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968496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và demo dùng cùng một preprocessing pipeline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Hướng A — Kiến Trúc Rời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920240" cy="9144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19202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Encoder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pretrained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4560" y="117043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1920240" cy="914400"/>
          </a:xfrm>
          <a:prstGeom prst="rect">
            <a:avLst/>
          </a:prstGeom>
          <a:solidFill>
            <a:srgbClr val="1D4E89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960120"/>
            <a:ext cx="19202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Encoder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LSTM/BiLSTM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43400" y="117043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1920240" cy="914400"/>
          </a:xfrm>
          <a:prstGeom prst="rect">
            <a:avLst/>
          </a:prstGeom>
          <a:solidFill>
            <a:srgbClr val="0E6BA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960120"/>
            <a:ext cx="19202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+ câu hỏi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117043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20840" y="960120"/>
            <a:ext cx="1920240" cy="914400"/>
          </a:xfrm>
          <a:prstGeom prst="rect">
            <a:avLst/>
          </a:prstGeom>
          <a:solidFill>
            <a:srgbClr val="0A2342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960120"/>
            <a:ext cx="19202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Decoder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câu trả lời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103120"/>
            <a:ext cx="4114800" cy="26060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2103120"/>
            <a:ext cx="640080" cy="4114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103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21488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Decoder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26334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dạng sequence-to-sequence với LSTM. Sinh từng token tuần tự.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3730752"/>
            <a:ext cx="4114800" cy="64008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82219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Acc: 66.78%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800600" y="2103120"/>
            <a:ext cx="4114800" cy="26060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00600" y="2103120"/>
            <a:ext cx="640080" cy="4114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32120" y="21488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Decoder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26334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dùng self-attention và cross-attention. Hiệu quả hơn với ngữ cảnh dài.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3730752"/>
            <a:ext cx="4114800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382219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Acc: 74.97%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Hướng B — Multimodal Pretrained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ect">
            <a:avLst/>
          </a:prstGeom>
          <a:solidFill>
            <a:srgbClr val="091826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0789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Qwen/Qwen2-VL-2B-Instruct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417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Vision-Language Model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920240"/>
            <a:ext cx="4114800" cy="2560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1920240"/>
            <a:ext cx="640080" cy="41148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9202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19659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450592"/>
            <a:ext cx="3840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fine-tune.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base model trực tiếp với prompt tiếng Việt.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456432"/>
            <a:ext cx="4114800" cy="64008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5478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Match: 2.96%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1920240"/>
            <a:ext cx="4114800" cy="2560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00600" y="1920240"/>
            <a:ext cx="640080" cy="4114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19202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32120" y="19659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Fine-tuned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2450592"/>
            <a:ext cx="3840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bằng LoRA/QLoRA trên Colab T4.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nhẹ (~vài chục MB).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3456432"/>
            <a:ext cx="4114800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5478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Match: 43.33%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11480" y="4617720"/>
            <a:ext cx="8321040" cy="457200"/>
          </a:xfrm>
          <a:prstGeom prst="rect">
            <a:avLst/>
          </a:prstGeom>
          <a:solidFill>
            <a:srgbClr val="091826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🇻🇳  Chiến lược tiếng Việt: Dùng trực tiếp câu hỏi và prompt tiếng Việt — không dịch sang tiếng Anh để giữ đúng ngữ cảnh.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Huấn Luyện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379476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393192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/ A2 — Kiến trúc rời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5361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148132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trên train.json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204825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validation loss / accuracy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267004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4672" y="261518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best và latest checkpoint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236976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31821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biểu đồ loss/accuracy từ history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00600" y="960120"/>
            <a:ext cx="3931920" cy="379476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00600" y="960120"/>
            <a:ext cx="3931920" cy="41148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— LoRA Fine-tuning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83480" y="15361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93792" y="148132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Qwen2-VL bằng LoRA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983480" y="2103120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93792" y="204825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trên Google Colab T4 GPU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83480" y="267004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93792" y="261518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 nhẹ (~vài chục MB)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83480" y="3236976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93792" y="31821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cache từ HuggingFace/Drive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Kết Quả Thực Nghiệm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60520" cy="1417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658368" cy="141732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960120"/>
            <a:ext cx="658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4128" y="106984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LSTM Decoder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4356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4128" y="16459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66.78%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160520" cy="1417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658368" cy="14173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09160" y="960120"/>
            <a:ext cx="658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58968" y="106984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Transformer Decoder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58968" y="14356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58968" y="16459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74.97%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274320" y="2587752"/>
            <a:ext cx="4160520" cy="1417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2587752"/>
            <a:ext cx="658368" cy="141732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587752"/>
            <a:ext cx="658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26974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Qwen2-VL zero-shot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30632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4128" y="32735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2.96%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709160" y="2587752"/>
            <a:ext cx="4160520" cy="141732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09160" y="2587752"/>
            <a:ext cx="658368" cy="1417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09160" y="2587752"/>
            <a:ext cx="6583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58968" y="26974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Qwen2-VL + LoRA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58968" y="30632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58968" y="32735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43.33%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274320" y="4224528"/>
            <a:ext cx="8595360" cy="640080"/>
          </a:xfrm>
          <a:prstGeom prst="rect">
            <a:avLst/>
          </a:prstGeom>
          <a:solidFill>
            <a:srgbClr val="091826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11480" y="429768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A2 &gt; A1: Transformer decoder vượt trội hơn LSTM  |  B2 &gt;&gt; B1: Fine-tuning cải thiện Exact Match từ 2.96% → 43.33%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Phương Pháp Đánh Giá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đã sử dụng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353312"/>
            <a:ext cx="3931920" cy="201168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94360" y="15361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14904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103120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205740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Accuracy (A1/A2)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67004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262432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curve (theo dõi training)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960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phân tích trong báo cáo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1353312"/>
            <a:ext cx="3931920" cy="2834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983480" y="1536192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93792" y="14904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VQA Accuracy / Soft Accuracy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83480" y="2103120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93792" y="205740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ROUGE-L, METEOR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83480" y="2670048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93792" y="262432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BERTScore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3480" y="3236976"/>
            <a:ext cx="109728" cy="109728"/>
          </a:xfrm>
          <a:prstGeom prst="ellips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93792" y="319125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520440"/>
            <a:ext cx="3931920" cy="1417320"/>
          </a:xfrm>
          <a:prstGeom prst="rect">
            <a:avLst/>
          </a:prstGeom>
          <a:solidFill>
            <a:srgbClr val="0A1929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Lưu ý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91363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khá nghiêm ngặt. Câu đúng ngữ nghĩa nhưng khác từ vẫn bị tính sai → cần metric ngữ nghĩa bổ sung.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Demo — Bài 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37490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393192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Demo Local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5361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14904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08483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20391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demo.html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263347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4672" y="25877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ảnh + nhập câu hỏi + chọn model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18211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313639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A1/A2: chạy realtime với checkpoint .pt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73075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4672" y="368503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B1/B2: đọc prediction đã lưu sẵn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00600" y="960120"/>
            <a:ext cx="3931920" cy="37490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960120"/>
            <a:ext cx="3931920" cy="41148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Demo Colab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3480" y="15361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93792" y="14904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public link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83480" y="208483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93792" y="20391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B1/B2 chạy Qwen realtime trên T4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83480" y="263347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93792" y="25877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= base Qwen2-VL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83480" y="318211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93792" y="313639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= Qwen2-VL + LoRA adapter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Bài 2 — Explainable VQA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VQA thành hệ thống giải thích &amp; hỗ trợ ra quyết định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286000" cy="22860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VÀO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 Ảnh biển báo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Câu hỏi tiếng Việt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B4D8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108960" y="1234440"/>
            <a:ext cx="2926080" cy="2286000"/>
          </a:xfrm>
          <a:prstGeom prst="rect">
            <a:avLst/>
          </a:prstGeom>
          <a:solidFill>
            <a:srgbClr val="0077B6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08960" y="123444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VQA SYSTEM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35040" y="21488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B4D8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92240" y="1234440"/>
            <a:ext cx="2331720" cy="22860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92240" y="1280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01968" y="1691640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1228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trả lời VQA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1968" y="2057400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biển suy luận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01968" y="2423160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1228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ngắn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1968" y="2788920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1228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Khuyến nghị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01968" y="3154680"/>
            <a:ext cx="109728" cy="10972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12280" y="3127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703320"/>
            <a:ext cx="8595360" cy="1097280"/>
          </a:xfrm>
          <a:prstGeom prst="rect">
            <a:avLst/>
          </a:prstGeom>
          <a:solidFill>
            <a:srgbClr val="091826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Giá trị gia tăng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chỉ trả lời biển báo là gì — mà còn giúp người dùng hiểu ý nghĩa và biết mình cần làm gì tiếp theo khi đối mặt với biển báo đó.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Hạn Chế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548640" cy="1691640"/>
          </a:xfrm>
          <a:prstGeom prst="rect">
            <a:avLst/>
          </a:prstGeom>
          <a:solidFill>
            <a:srgbClr val="EF476F">
              <a:alpha val="60000"/>
            </a:srgbClr>
          </a:solidFill>
          <a:ln w="12700">
            <a:solidFill>
              <a:srgbClr val="EF47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9768" y="1508760"/>
            <a:ext cx="512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11155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nhỏ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5087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ảnh / 2,580 QA còn nhỏ so với bài toán VQA thực tế (VQAv2: ~1.1M câu hỏi).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005840"/>
            <a:ext cx="548640" cy="1691640"/>
          </a:xfrm>
          <a:prstGeom prst="rect">
            <a:avLst/>
          </a:prstGeom>
          <a:solidFill>
            <a:srgbClr val="EF476F">
              <a:alpha val="60000"/>
            </a:srgbClr>
          </a:solidFill>
          <a:ln w="12700">
            <a:solidFill>
              <a:srgbClr val="EF47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18888" y="1508760"/>
            <a:ext cx="512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11155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ý nghĩa khó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5087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"ý nghĩa biển báo" yêu cầu hiểu sâu hơn câu hỏi màu sắc, hình dạng, số lượng.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92608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548640" cy="1691640"/>
          </a:xfrm>
          <a:prstGeom prst="rect">
            <a:avLst/>
          </a:prstGeom>
          <a:solidFill>
            <a:srgbClr val="EF476F">
              <a:alpha val="60000"/>
            </a:srgbClr>
          </a:solidFill>
          <a:ln w="12700">
            <a:solidFill>
              <a:srgbClr val="EF47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3429000"/>
            <a:ext cx="512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3035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Yêu cầu GPU mạnh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B1/B2 realtime cần GPU mạnh. GTX 1650 local không ổn định khi chạy Qwen2-VL.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2926080"/>
            <a:ext cx="4114800" cy="169164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00600" y="2926080"/>
            <a:ext cx="548640" cy="1691640"/>
          </a:xfrm>
          <a:prstGeom prst="rect">
            <a:avLst/>
          </a:prstGeom>
          <a:solidFill>
            <a:srgbClr val="EF476F">
              <a:alpha val="60000"/>
            </a:srgbClr>
          </a:solidFill>
          <a:ln w="12700">
            <a:solidFill>
              <a:srgbClr val="EF47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18888" y="3429000"/>
            <a:ext cx="512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86400" y="3035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nghiêm ngặt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0" y="3429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thấp câu trả lời đúng nghĩa nhưng khác từ. Cần metric ngữ nghĩa như BERTScore.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Hướng Phát Triển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6858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640080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0058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với nhiều loại biển báo và điều kiện thực tế hơn.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764792"/>
            <a:ext cx="8321040" cy="6858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1764792"/>
            <a:ext cx="640080" cy="6858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764792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metric ngữ nghĩa như BERTScore, METEOR vào pipeline đánh giá.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569464"/>
            <a:ext cx="8321040" cy="6858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569464"/>
            <a:ext cx="640080" cy="68580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569464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2615184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human evaluation hoặc LLM-as-a-judge để đánh giá chất lượng câu trả lời.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3374136"/>
            <a:ext cx="8321040" cy="6858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374136"/>
            <a:ext cx="640080" cy="68580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374136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19856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lâu hơn hoặc dùng dữ liệu chất lượng cao hơn để cải thiện B2.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178808"/>
            <a:ext cx="8321040" cy="685800"/>
          </a:xfrm>
          <a:prstGeom prst="rect">
            <a:avLst/>
          </a:prstGeom>
          <a:solidFill>
            <a:srgbClr val="132437"/>
          </a:solidFill>
          <a:ln w="10160">
            <a:solidFill>
              <a:srgbClr val="0077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178808"/>
            <a:ext cx="640080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4178808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422452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DPO/RLHF với preference data để cải thiện chất lượng sinh câu trả lời.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94944"/>
            <a:ext cx="8321040" cy="228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Kết Luận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46720" y="4846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D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102412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dataset VQA tiếng Việt cho biển báo giao thông (258 ảnh, 2,580 QA).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166420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 đủ 4 cấu hình: A1, A2 (kiến trúc rời) và B1, B2 (multimodal pretrained).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228600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230428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LSTM decoder và Transformer decoder — Transformer vượt trội (74.97% vs 66.78%).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2926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94436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Qwen2-VL bằng LoRA — cải thiện Exact Match từ 2.96% lên 43.33%.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3566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" y="358444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demo local (FastAPI) và demo Colab (Gradio) hoạt động realtime.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062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D6A0"/>
                </a:solidFill>
              </a:rPr>
              <a:t>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" y="4224528"/>
            <a:ext cx="781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2 mở rộng thành Explainable VQA với giải thích, khuyến nghị và confidence.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077B6">
              <a:alpha val="30000"/>
            </a:srgbClr>
          </a:solidFill>
          <a:ln w="12700">
            <a:solidFill>
              <a:srgbClr val="0077B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077B6">
              <a:alpha val="20000"/>
            </a:srgbClr>
          </a:solidFill>
          <a:ln w="12700">
            <a:solidFill>
              <a:srgbClr val="0077B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8321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</a:t>
            </a: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ơn thầy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lắng nghe!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200400" y="2834640"/>
            <a:ext cx="274320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1199</Words>
  <Application>Microsoft Office PowerPoint</Application>
  <PresentationFormat>On-screen Show (16:9)</PresentationFormat>
  <Paragraphs>250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 Sign VQA</dc:title>
  <dc:subject>PptxGenJS Presentation</dc:subject>
  <dc:creator>PptxGenJS</dc:creator>
  <cp:lastModifiedBy>Khởi Đông</cp:lastModifiedBy>
  <cp:revision>2</cp:revision>
  <dcterms:created xsi:type="dcterms:W3CDTF">2026-05-15T01:18:40Z</dcterms:created>
  <dcterms:modified xsi:type="dcterms:W3CDTF">2026-05-15T01:24:30Z</dcterms:modified>
</cp:coreProperties>
</file>