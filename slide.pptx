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0461" autoAdjust="0"/>
  </p:normalViewPr>
  <p:slideViewPr>
    <p:cSldViewPr snapToGrid="0" snapToObjects="1">
      <p:cViewPr varScale="1">
        <p:scale>
          <a:sx n="113" d="100"/>
          <a:sy n="113" d="100"/>
        </p:scale>
        <p:origin x="147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26819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a:solidFill>
                  <a:schemeClr val="tx1"/>
                </a:solidFill>
                <a:effectLst/>
                <a:latin typeface="+mn-lt"/>
                <a:ea typeface="+mn-ea"/>
                <a:cs typeface="+mn-cs"/>
              </a:rPr>
              <a:t>Chào thầy/cô, em xin trình bày đồ án cuối kỳ môn Học sâu. Đề tài của em là </a:t>
            </a:r>
            <a:r>
              <a:rPr lang="vi-VN" sz="1200" b="1" i="0" kern="1200">
                <a:solidFill>
                  <a:schemeClr val="tx1"/>
                </a:solidFill>
                <a:effectLst/>
                <a:latin typeface="+mn-lt"/>
                <a:ea typeface="+mn-ea"/>
                <a:cs typeface="+mn-cs"/>
              </a:rPr>
              <a:t>hệ thống hỏi đáp ảnh biển báo giao thông tiếng Việt</a:t>
            </a:r>
            <a:r>
              <a:rPr lang="vi-VN" sz="1200" b="0" i="0" kern="1200">
                <a:solidFill>
                  <a:schemeClr val="tx1"/>
                </a:solidFill>
                <a:effectLst/>
                <a:latin typeface="+mn-lt"/>
                <a:ea typeface="+mn-ea"/>
                <a:cs typeface="+mn-cs"/>
              </a:rPr>
              <a:t>. Hệ thống nhận vào một ảnh biển báo và một câu hỏi tiếng Việt, sau đó sinh ra câu trả lời tương ứng.</a:t>
            </a:r>
            <a:endParaRPr lang="en-US" sz="1200" b="0" i="0" kern="1200">
              <a:solidFill>
                <a:schemeClr val="tx1"/>
              </a:solidFill>
              <a:effectLst/>
              <a:latin typeface="+mn-lt"/>
              <a:ea typeface="+mn-ea"/>
              <a:cs typeface="+mn-cs"/>
            </a:endParaRPr>
          </a:p>
          <a:p>
            <a:r>
              <a:rPr lang="vi-VN" sz="1200" b="0" i="0" kern="1200">
                <a:solidFill>
                  <a:schemeClr val="tx1"/>
                </a:solidFill>
                <a:effectLst/>
                <a:latin typeface="+mn-lt"/>
                <a:ea typeface="+mn-ea"/>
                <a:cs typeface="+mn-cs"/>
              </a:rPr>
              <a:t>Ngoài Bài 1 là VQA, em cũng mở rộng sang Bài 2 là </a:t>
            </a:r>
            <a:r>
              <a:rPr lang="vi-VN" sz="1200" b="1" i="0" kern="1200">
                <a:solidFill>
                  <a:schemeClr val="tx1"/>
                </a:solidFill>
                <a:effectLst/>
                <a:latin typeface="+mn-lt"/>
                <a:ea typeface="+mn-ea"/>
                <a:cs typeface="+mn-cs"/>
              </a:rPr>
              <a:t>Explainable VQA</a:t>
            </a:r>
            <a:r>
              <a:rPr lang="vi-VN" sz="1200" b="0" i="0" kern="1200">
                <a:solidFill>
                  <a:schemeClr val="tx1"/>
                </a:solidFill>
                <a:effectLst/>
                <a:latin typeface="+mn-lt"/>
                <a:ea typeface="+mn-ea"/>
                <a:cs typeface="+mn-cs"/>
              </a:rPr>
              <a:t>, tức là ngoài câu trả lời, hệ thống còn đưa ra giải thích, khuyến nghị hành động và độ tin cậy.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a:solidFill>
                  <a:schemeClr val="tx1"/>
                </a:solidFill>
                <a:effectLst/>
                <a:latin typeface="+mn-lt"/>
                <a:ea typeface="+mn-ea"/>
                <a:cs typeface="+mn-cs"/>
              </a:rPr>
              <a:t>Bài toán em giải quyết là Visual Question Answering trên miền biển báo giao thông. Đầu vào gồm ảnh và câu hỏi, ví dụ “Biển báo này có ý nghĩa gì?”, “Màu nền của biển báo là gì?”, hoặc “Có bao nhiêu mũi tên?”.</a:t>
            </a:r>
          </a:p>
          <a:p>
            <a:r>
              <a:rPr lang="vi-VN" sz="1200" b="0" i="0" kern="1200">
                <a:solidFill>
                  <a:schemeClr val="tx1"/>
                </a:solidFill>
                <a:effectLst/>
                <a:latin typeface="+mn-lt"/>
                <a:ea typeface="+mn-ea"/>
                <a:cs typeface="+mn-cs"/>
              </a:rPr>
              <a:t>Đầu ra là câu trả lời ngắn bằng tiếng Việt. Với Bài 2, em mở rộng thêm phần giải thích và khuyến nghị, để hệ thống không chỉ trả lời mà còn hỗ trợ người dùng hiểu nên làm gì khi gặp biển báo.</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a:solidFill>
                  <a:schemeClr val="tx1"/>
                </a:solidFill>
                <a:effectLst/>
                <a:latin typeface="+mn-lt"/>
                <a:ea typeface="+mn-ea"/>
                <a:cs typeface="+mn-cs"/>
              </a:rPr>
              <a:t>Em chọn biển báo giao thông vì đây là miền chuyên biệt và có ý nghĩa thực tế. Ảnh biển báo có nhiều đặc trưng trực quan như màu sắc, hình dạng, biểu tượng và chữ viết. Những đặc trưng này rất phù hợp cho bài toán kết hợp thị giác và ngôn ngữ.</a:t>
            </a:r>
          </a:p>
          <a:p>
            <a:r>
              <a:rPr lang="vi-VN" sz="1200" b="0" i="0" kern="1200">
                <a:solidFill>
                  <a:schemeClr val="tx1"/>
                </a:solidFill>
                <a:effectLst/>
                <a:latin typeface="+mn-lt"/>
                <a:ea typeface="+mn-ea"/>
                <a:cs typeface="+mn-cs"/>
              </a:rPr>
              <a:t>Ngoài ra, câu hỏi trong miền này cũng khá đa dạng, từ yes/no, nhận dạng loại biển, hỏi màu sắc, hình dạng, số lượng, đến hỏi hành động người lái xe nên thực hiện.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a:solidFill>
                  <a:schemeClr val="tx1"/>
                </a:solidFill>
                <a:effectLst/>
                <a:latin typeface="+mn-lt"/>
                <a:ea typeface="+mn-ea"/>
                <a:cs typeface="+mn-cs"/>
              </a:rPr>
              <a:t>Bộ dữ liệu của em gồm </a:t>
            </a:r>
            <a:r>
              <a:rPr lang="vi-VN" sz="1200" b="1" i="0" kern="1200">
                <a:solidFill>
                  <a:schemeClr val="tx1"/>
                </a:solidFill>
                <a:effectLst/>
                <a:latin typeface="+mn-lt"/>
                <a:ea typeface="+mn-ea"/>
                <a:cs typeface="+mn-cs"/>
              </a:rPr>
              <a:t>258 ảnh</a:t>
            </a:r>
            <a:r>
              <a:rPr lang="vi-VN" sz="1200" b="0" i="0" kern="1200">
                <a:solidFill>
                  <a:schemeClr val="tx1"/>
                </a:solidFill>
                <a:effectLst/>
                <a:latin typeface="+mn-lt"/>
                <a:ea typeface="+mn-ea"/>
                <a:cs typeface="+mn-cs"/>
              </a:rPr>
              <a:t> và </a:t>
            </a:r>
            <a:r>
              <a:rPr lang="vi-VN" sz="1200" b="1" i="0" kern="1200">
                <a:solidFill>
                  <a:schemeClr val="tx1"/>
                </a:solidFill>
                <a:effectLst/>
                <a:latin typeface="+mn-lt"/>
                <a:ea typeface="+mn-ea"/>
                <a:cs typeface="+mn-cs"/>
              </a:rPr>
              <a:t>2580 cặp hỏi đáp</a:t>
            </a:r>
            <a:r>
              <a:rPr lang="vi-VN" sz="1200" b="0" i="0" kern="1200">
                <a:solidFill>
                  <a:schemeClr val="tx1"/>
                </a:solidFill>
                <a:effectLst/>
                <a:latin typeface="+mn-lt"/>
                <a:ea typeface="+mn-ea"/>
                <a:cs typeface="+mn-cs"/>
              </a:rPr>
              <a:t>. Mỗi ảnh có 10 câu hỏi - câu trả lời. Dữ liệu được chia thành train, validation và test theo tỉ lệ gần 80/10/10.</a:t>
            </a:r>
          </a:p>
          <a:p>
            <a:r>
              <a:rPr lang="vi-VN" sz="1200" b="0" i="0" kern="1200">
                <a:solidFill>
                  <a:schemeClr val="tx1"/>
                </a:solidFill>
                <a:effectLst/>
                <a:latin typeface="+mn-lt"/>
                <a:ea typeface="+mn-ea"/>
                <a:cs typeface="+mn-cs"/>
              </a:rPr>
              <a:t>Cụ thể, train có 206 ảnh với 2060 QA, validation có 25 ảnh với 250 QA, và test có 27 ảnh với 270 QA. Các ảnh giữa train, validation và test không bị trùng nhau. Câu trả lời được giữ ngắn, đa số không quá 10 từ.</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a:solidFill>
                  <a:schemeClr val="tx1"/>
                </a:solidFill>
                <a:effectLst/>
                <a:latin typeface="+mn-lt"/>
                <a:ea typeface="+mn-ea"/>
                <a:cs typeface="+mn-cs"/>
              </a:rPr>
              <a:t>Với ảnh đầu vào, em dùng pipeline: SquarePad, sau đó resize về 224x224, chuyển tensor và normalize.</a:t>
            </a:r>
          </a:p>
          <a:p>
            <a:r>
              <a:rPr lang="vi-VN" sz="1200" b="0" i="0" kern="1200">
                <a:solidFill>
                  <a:schemeClr val="tx1"/>
                </a:solidFill>
                <a:effectLst/>
                <a:latin typeface="+mn-lt"/>
                <a:ea typeface="+mn-ea"/>
                <a:cs typeface="+mn-cs"/>
              </a:rPr>
              <a:t>Lý do dùng SquarePad là vì nếu resize trực tiếp, hình dạng biển báo có thể bị méo, ví dụ biển tròn thành elip hoặc tam giác bị biến dạng. Padding ảnh thành hình vuông trước giúp giữ đúng tỷ lệ hình dạng biển báo.</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a:solidFill>
                  <a:schemeClr val="tx1"/>
                </a:solidFill>
                <a:effectLst/>
                <a:latin typeface="+mn-lt"/>
                <a:ea typeface="+mn-ea"/>
                <a:cs typeface="+mn-cs"/>
              </a:rPr>
              <a:t>Ở Hướng A, em xây dựng mô hình theo kiến trúc rời. Image encoder dùng CNN pretrained để trích xuất đặc trưng ảnh. Text encoder dùng LSTM/BiLSTM để mã hóa câu hỏi. Sau đó đặc trưng ảnh và câu hỏi được fusion để đưa vào answer decoder.</a:t>
            </a:r>
          </a:p>
          <a:p>
            <a:r>
              <a:rPr lang="vi-VN" sz="1200" b="0" i="0" kern="1200">
                <a:solidFill>
                  <a:schemeClr val="tx1"/>
                </a:solidFill>
                <a:effectLst/>
                <a:latin typeface="+mn-lt"/>
                <a:ea typeface="+mn-ea"/>
                <a:cs typeface="+mn-cs"/>
              </a:rPr>
              <a:t>Theo yêu cầu đề bài, em triển khai hai decoder để so sánh. A1 dùng </a:t>
            </a:r>
            <a:r>
              <a:rPr lang="vi-VN" sz="1200" b="1" i="0" kern="1200">
                <a:solidFill>
                  <a:schemeClr val="tx1"/>
                </a:solidFill>
                <a:effectLst/>
                <a:latin typeface="+mn-lt"/>
                <a:ea typeface="+mn-ea"/>
                <a:cs typeface="+mn-cs"/>
              </a:rPr>
              <a:t>LSTM decoder</a:t>
            </a:r>
            <a:r>
              <a:rPr lang="vi-VN" sz="1200" b="0" i="0" kern="1200">
                <a:solidFill>
                  <a:schemeClr val="tx1"/>
                </a:solidFill>
                <a:effectLst/>
                <a:latin typeface="+mn-lt"/>
                <a:ea typeface="+mn-ea"/>
                <a:cs typeface="+mn-cs"/>
              </a:rPr>
              <a:t>, còn A2 dùng </a:t>
            </a:r>
            <a:r>
              <a:rPr lang="vi-VN" sz="1200" b="1" i="0" kern="1200">
                <a:solidFill>
                  <a:schemeClr val="tx1"/>
                </a:solidFill>
                <a:effectLst/>
                <a:latin typeface="+mn-lt"/>
                <a:ea typeface="+mn-ea"/>
                <a:cs typeface="+mn-cs"/>
              </a:rPr>
              <a:t>Transformer decoder</a:t>
            </a:r>
            <a:r>
              <a:rPr lang="vi-VN" sz="1200" b="0" i="0" kern="1200">
                <a:solidFill>
                  <a:schemeClr val="tx1"/>
                </a:solidFill>
                <a:effectLst/>
                <a:latin typeface="+mn-lt"/>
                <a:ea typeface="+mn-ea"/>
                <a:cs typeface="+mn-cs"/>
              </a:rPr>
              <a:t>. Hai mô hình giữ cùng image encoder và text encoder, chỉ khác phần decoder.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a:solidFill>
                  <a:schemeClr val="tx1"/>
                </a:solidFill>
                <a:effectLst/>
                <a:latin typeface="+mn-lt"/>
                <a:ea typeface="+mn-ea"/>
                <a:cs typeface="+mn-cs"/>
              </a:rPr>
              <a:t>Ở Hướng B, em sử dụng mô hình pretrained đa phương thức </a:t>
            </a:r>
            <a:r>
              <a:rPr lang="vi-VN" sz="1200" b="1" i="0" kern="1200">
                <a:solidFill>
                  <a:schemeClr val="tx1"/>
                </a:solidFill>
                <a:effectLst/>
                <a:latin typeface="+mn-lt"/>
                <a:ea typeface="+mn-ea"/>
                <a:cs typeface="+mn-cs"/>
              </a:rPr>
              <a:t>Qwen2-VL-2B-Instruct</a:t>
            </a:r>
            <a:r>
              <a:rPr lang="vi-VN" sz="1200" b="0" i="0" kern="1200">
                <a:solidFill>
                  <a:schemeClr val="tx1"/>
                </a:solidFill>
                <a:effectLst/>
                <a:latin typeface="+mn-lt"/>
                <a:ea typeface="+mn-ea"/>
                <a:cs typeface="+mn-cs"/>
              </a:rPr>
              <a:t>.</a:t>
            </a:r>
          </a:p>
          <a:p>
            <a:r>
              <a:rPr lang="vi-VN" sz="1200" b="0" i="0" kern="1200">
                <a:solidFill>
                  <a:schemeClr val="tx1"/>
                </a:solidFill>
                <a:effectLst/>
                <a:latin typeface="+mn-lt"/>
                <a:ea typeface="+mn-ea"/>
                <a:cs typeface="+mn-cs"/>
              </a:rPr>
              <a:t>B1 là cấu hình zero-shot, tức là dùng model gốc để suy luận trực tiếp, không fine-tune. B2 là cấu hình fine-tuned bằng LoRA. Em dùng LoRA vì full fine-tune Qwen2-VL rất nặng, còn LoRA chỉ huấn luyện một phần nhỏ tham số nên phù hợp với Colab T4.</a:t>
            </a:r>
          </a:p>
          <a:p>
            <a:r>
              <a:rPr lang="vi-VN" sz="1200" b="0" i="0" kern="1200">
                <a:solidFill>
                  <a:schemeClr val="tx1"/>
                </a:solidFill>
                <a:effectLst/>
                <a:latin typeface="+mn-lt"/>
                <a:ea typeface="+mn-ea"/>
                <a:cs typeface="+mn-cs"/>
              </a:rPr>
              <a:t>Về tiếng Việt, em dùng trực tiếp prompt và câu hỏi tiếng Việt, không dịch sang tiếng Anh.</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a:solidFill>
                  <a:schemeClr val="tx1"/>
                </a:solidFill>
                <a:effectLst/>
                <a:latin typeface="+mn-lt"/>
                <a:ea typeface="+mn-ea"/>
                <a:cs typeface="+mn-cs"/>
              </a:rPr>
              <a:t>Với A1 và A2, em train trên train.json, theo dõi loss và accuracy trên validation, đồng thời lưu cả best checkpoint và latest checkpoint để có thể resume nếu bị ngắt giữa chừng.</a:t>
            </a:r>
          </a:p>
          <a:p>
            <a:r>
              <a:rPr lang="vi-VN" sz="1200" b="0" i="0" kern="1200">
                <a:solidFill>
                  <a:schemeClr val="tx1"/>
                </a:solidFill>
                <a:effectLst/>
                <a:latin typeface="+mn-lt"/>
                <a:ea typeface="+mn-ea"/>
                <a:cs typeface="+mn-cs"/>
              </a:rPr>
              <a:t>Với B2, em fine-tune Qwen2-VL bằng LoRA trên Colab T4. Adapter LoRA khá nhẹ, còn base model được tải từ Hugging Face và có thể cache vào Google Drive để tránh tải lại nhiều lần.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a:solidFill>
                  <a:schemeClr val="tx1"/>
                </a:solidFill>
                <a:effectLst/>
                <a:latin typeface="+mn-lt"/>
                <a:ea typeface="+mn-ea"/>
                <a:cs typeface="+mn-cs"/>
              </a:rPr>
              <a:t>Đây là bảng kết quả chính. A1 đạt validation accuracy khoảng </a:t>
            </a:r>
            <a:r>
              <a:rPr lang="vi-VN" sz="1200" b="1" i="0" kern="1200">
                <a:solidFill>
                  <a:schemeClr val="tx1"/>
                </a:solidFill>
                <a:effectLst/>
                <a:latin typeface="+mn-lt"/>
                <a:ea typeface="+mn-ea"/>
                <a:cs typeface="+mn-cs"/>
              </a:rPr>
              <a:t>66.78%</a:t>
            </a:r>
            <a:r>
              <a:rPr lang="vi-VN" sz="1200" b="0" i="0" kern="1200">
                <a:solidFill>
                  <a:schemeClr val="tx1"/>
                </a:solidFill>
                <a:effectLst/>
                <a:latin typeface="+mn-lt"/>
                <a:ea typeface="+mn-ea"/>
                <a:cs typeface="+mn-cs"/>
              </a:rPr>
              <a:t>, còn A2 đạt khoảng </a:t>
            </a:r>
            <a:r>
              <a:rPr lang="vi-VN" sz="1200" b="1" i="0" kern="1200">
                <a:solidFill>
                  <a:schemeClr val="tx1"/>
                </a:solidFill>
                <a:effectLst/>
                <a:latin typeface="+mn-lt"/>
                <a:ea typeface="+mn-ea"/>
                <a:cs typeface="+mn-cs"/>
              </a:rPr>
              <a:t>74.97%</a:t>
            </a:r>
            <a:r>
              <a:rPr lang="vi-VN" sz="1200" b="0" i="0" kern="1200">
                <a:solidFill>
                  <a:schemeClr val="tx1"/>
                </a:solidFill>
                <a:effectLst/>
                <a:latin typeface="+mn-lt"/>
                <a:ea typeface="+mn-ea"/>
                <a:cs typeface="+mn-cs"/>
              </a:rPr>
              <a:t>. Điều này cho thấy Transformer decoder hoạt động tốt hơn LSTM decoder trong thiết lập của em.</a:t>
            </a:r>
          </a:p>
          <a:p>
            <a:r>
              <a:rPr lang="vi-VN" sz="1200" b="0" i="0" kern="1200">
                <a:solidFill>
                  <a:schemeClr val="tx1"/>
                </a:solidFill>
                <a:effectLst/>
                <a:latin typeface="+mn-lt"/>
                <a:ea typeface="+mn-ea"/>
                <a:cs typeface="+mn-cs"/>
              </a:rPr>
              <a:t>Với Hướng B, B1 zero-shot chỉ đạt exact match khoảng </a:t>
            </a:r>
            <a:r>
              <a:rPr lang="vi-VN" sz="1200" b="1" i="0" kern="1200">
                <a:solidFill>
                  <a:schemeClr val="tx1"/>
                </a:solidFill>
                <a:effectLst/>
                <a:latin typeface="+mn-lt"/>
                <a:ea typeface="+mn-ea"/>
                <a:cs typeface="+mn-cs"/>
              </a:rPr>
              <a:t>2.96%</a:t>
            </a:r>
            <a:r>
              <a:rPr lang="vi-VN" sz="1200" b="0" i="0" kern="1200">
                <a:solidFill>
                  <a:schemeClr val="tx1"/>
                </a:solidFill>
                <a:effectLst/>
                <a:latin typeface="+mn-lt"/>
                <a:ea typeface="+mn-ea"/>
                <a:cs typeface="+mn-cs"/>
              </a:rPr>
              <a:t>, vì model chưa được điều chỉnh theo miền biển báo Việt Nam. Sau khi fine-tune bằng LoRA, B2 đạt exact match khoảng </a:t>
            </a:r>
            <a:r>
              <a:rPr lang="vi-VN" sz="1200" b="1" i="0" kern="1200">
                <a:solidFill>
                  <a:schemeClr val="tx1"/>
                </a:solidFill>
                <a:effectLst/>
                <a:latin typeface="+mn-lt"/>
                <a:ea typeface="+mn-ea"/>
                <a:cs typeface="+mn-cs"/>
              </a:rPr>
              <a:t>43.33%</a:t>
            </a:r>
            <a:r>
              <a:rPr lang="vi-VN" sz="1200" b="0" i="0" kern="1200">
                <a:solidFill>
                  <a:schemeClr val="tx1"/>
                </a:solidFill>
                <a:effectLst/>
                <a:latin typeface="+mn-lt"/>
                <a:ea typeface="+mn-ea"/>
                <a:cs typeface="+mn-cs"/>
              </a:rPr>
              <a:t> trên 270 mẫu test. Điều này cho thấy fine-tuning giúp model thích nghi tốt hơn với domain.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a:solidFill>
                  <a:schemeClr val="tx1"/>
                </a:solidFill>
                <a:effectLst/>
                <a:latin typeface="+mn-lt"/>
                <a:ea typeface="+mn-ea"/>
                <a:cs typeface="+mn-cs"/>
              </a:rPr>
              <a:t>Metric chính em dùng là Exact Match và validation accuracy. Exact Match yêu cầu câu trả lời dự đoán phải khớp với ground truth sau chuẩn hóa, nên đây là metric khá nghiêm ngặt.</a:t>
            </a:r>
          </a:p>
          <a:p>
            <a:r>
              <a:rPr lang="vi-VN" sz="1200" b="0" i="0" kern="1200">
                <a:solidFill>
                  <a:schemeClr val="tx1"/>
                </a:solidFill>
                <a:effectLst/>
                <a:latin typeface="+mn-lt"/>
                <a:ea typeface="+mn-ea"/>
                <a:cs typeface="+mn-cs"/>
              </a:rPr>
              <a:t>Trong báo cáo, em cũng phân tích thêm các metric khác thường dùng cho VQA và sinh văn bản như soft VQA accuracy, BLEU, ROUGE-L, METEOR, BERTScore và LLM-as-a-judge. Những metric này giúp đánh giá tốt hơn trong trường hợp câu trả lời đúng ý nhưng khác cách diễn đạt.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a:solidFill>
                  <a:schemeClr val="tx1"/>
                </a:solidFill>
                <a:effectLst/>
                <a:latin typeface="+mn-lt"/>
                <a:ea typeface="+mn-ea"/>
                <a:cs typeface="+mn-cs"/>
              </a:rPr>
              <a:t>Về demo, em có demo local bằng FastAPI và giao diện HTML. Người dùng có thể upload ảnh, nhập câu hỏi và chọn model.</a:t>
            </a:r>
          </a:p>
          <a:p>
            <a:r>
              <a:rPr lang="vi-VN" sz="1200" b="0" i="0" kern="1200">
                <a:solidFill>
                  <a:schemeClr val="tx1"/>
                </a:solidFill>
                <a:effectLst/>
                <a:latin typeface="+mn-lt"/>
                <a:ea typeface="+mn-ea"/>
                <a:cs typeface="+mn-cs"/>
              </a:rPr>
              <a:t>A1 và A2 chạy realtime bằng checkpoint PyTorch trên local. Với B1 và B2, do Qwen2-VL khá nặng, bản local có thể dùng prediction đã lưu. Ngoài ra, em có demo Gradio trên Colab để chạy B1/B2 realtime bằng GPU T4.</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Với Bài 2, em mở rộng hệ thống VQA thành </a:t>
            </a:r>
            <a:r>
              <a:rPr lang="en-US" sz="1200" b="1" i="0" kern="1200">
                <a:solidFill>
                  <a:schemeClr val="tx1"/>
                </a:solidFill>
                <a:effectLst/>
                <a:latin typeface="+mn-lt"/>
                <a:ea typeface="+mn-ea"/>
                <a:cs typeface="+mn-cs"/>
              </a:rPr>
              <a:t>Explainable VQA</a:t>
            </a:r>
            <a:r>
              <a:rPr lang="en-US" sz="1200" b="0" i="0" kern="1200">
                <a:solidFill>
                  <a:schemeClr val="tx1"/>
                </a:solidFill>
                <a:effectLst/>
                <a:latin typeface="+mn-lt"/>
                <a:ea typeface="+mn-ea"/>
                <a:cs typeface="+mn-cs"/>
              </a:rPr>
              <a:t>. Thay vì chỉ trả lời câu hỏi, hệ thống sẽ sinh thêm nhóm biển suy luận, giải thích ngắn, khuyến nghị hành động và confidence heuristic.</a:t>
            </a:r>
          </a:p>
          <a:p>
            <a:r>
              <a:rPr lang="en-US" sz="1200" b="0" i="0" kern="1200">
                <a:solidFill>
                  <a:schemeClr val="tx1"/>
                </a:solidFill>
                <a:effectLst/>
                <a:latin typeface="+mn-lt"/>
                <a:ea typeface="+mn-ea"/>
                <a:cs typeface="+mn-cs"/>
              </a:rPr>
              <a:t>Ví dụ, nếu câu trả lời có dấu hiệu “cấm”, hệ thống sẽ khuyến nghị không thực hiện hành vi bị cấm. Nếu là biển cảnh báo nguy hiểm, hệ thống khuyến nghị giảm tốc độ và chú ý quan sát.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a:solidFill>
                  <a:schemeClr val="tx1"/>
                </a:solidFill>
                <a:effectLst/>
                <a:latin typeface="+mn-lt"/>
                <a:ea typeface="+mn-ea"/>
                <a:cs typeface="+mn-cs"/>
              </a:rPr>
              <a:t>Hiện tại đồ án vẫn có một số hạn chế. Thứ nhất, dataset còn nhỏ so với bài toán VQA thực tế. Thứ hai, các câu hỏi về ý nghĩa biển báo khó hơn nhiều so với câu hỏi về màu sắc, hình dạng hay số lượng.</a:t>
            </a:r>
          </a:p>
          <a:p>
            <a:r>
              <a:rPr lang="vi-VN" sz="1200" b="0" i="0" kern="1200">
                <a:solidFill>
                  <a:schemeClr val="tx1"/>
                </a:solidFill>
                <a:effectLst/>
                <a:latin typeface="+mn-lt"/>
                <a:ea typeface="+mn-ea"/>
                <a:cs typeface="+mn-cs"/>
              </a:rPr>
              <a:t>Ngoài ra, Qwen2-VL cần GPU khá mạnh nên máy local GTX 1650 không phù hợp để chạy realtime ổn định. Cuối cùng, Exact Match là metric nghiêm ngặt, có thể đánh giá thấp những câu trả lời đúng ngữ nghĩa nhưng khác cách diễn đạt.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a:solidFill>
                  <a:schemeClr val="tx1"/>
                </a:solidFill>
                <a:effectLst/>
                <a:latin typeface="+mn-lt"/>
                <a:ea typeface="+mn-ea"/>
                <a:cs typeface="+mn-cs"/>
              </a:rPr>
              <a:t>Trong tương lai, em có thể mở rộng dataset với nhiều loại biển báo và nhiều câu hỏi hơn. Em cũng muốn bổ sung các metric ngữ nghĩa như BERTScore, human evaluation hoặc LLM-as-a-judge.</a:t>
            </a:r>
          </a:p>
          <a:p>
            <a:r>
              <a:rPr lang="vi-VN" sz="1200" b="0" i="0" kern="1200">
                <a:solidFill>
                  <a:schemeClr val="tx1"/>
                </a:solidFill>
                <a:effectLst/>
                <a:latin typeface="+mn-lt"/>
                <a:ea typeface="+mn-ea"/>
                <a:cs typeface="+mn-cs"/>
              </a:rPr>
              <a:t>Ngoài ra, có thể fine-tune B2 lâu hơn, cải thiện chất lượng dữ liệu, hoặc nghiên cứu các hướng nâng cao như DPO/RLHF với preference data cho VQA.</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200" b="0" i="0" kern="1200">
                <a:solidFill>
                  <a:schemeClr val="tx1"/>
                </a:solidFill>
                <a:effectLst/>
                <a:latin typeface="+mn-lt"/>
                <a:ea typeface="+mn-ea"/>
                <a:cs typeface="+mn-cs"/>
              </a:rPr>
              <a:t>Tổng kết lại, đồ án đã xây dựng được hệ thống VQA tiếng Việt cho miền biển báo giao thông. Em đã triển khai đủ bốn cấu hình theo yêu cầu: A1, A2, B1 và B2. Kết quả cho thấy Transformer decoder tốt hơn LSTM decoder, và B2 sau fine-tune LoRA cải thiện rõ so với B1 zero-shot.</a:t>
            </a:r>
          </a:p>
          <a:p>
            <a:r>
              <a:rPr lang="vi-VN" sz="1200" b="0" i="0" kern="1200">
                <a:solidFill>
                  <a:schemeClr val="tx1"/>
                </a:solidFill>
                <a:effectLst/>
                <a:latin typeface="+mn-lt"/>
                <a:ea typeface="+mn-ea"/>
                <a:cs typeface="+mn-cs"/>
              </a:rPr>
              <a:t>Ngoài ra, em đã có demo local, demo Colab realtime cho Qwen, và mở rộng Bài 2 thành Explainable VQA.</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6583680" y="-1097280"/>
            <a:ext cx="4114800" cy="4114800"/>
          </a:xfrm>
          <a:prstGeom prst="ellipse">
            <a:avLst/>
          </a:prstGeom>
          <a:solidFill>
            <a:srgbClr val="0077B6">
              <a:alpha val="25000"/>
            </a:srgbClr>
          </a:solidFill>
          <a:ln w="12700">
            <a:solidFill>
              <a:srgbClr val="0077B6">
                <a:alpha val="25000"/>
              </a:srgbClr>
            </a:solidFill>
            <a:prstDash val="solid"/>
          </a:ln>
        </p:spPr>
        <p:txBody>
          <a:bodyPr/>
          <a:lstStyle/>
          <a:p>
            <a:endParaRPr lang="en-US"/>
          </a:p>
        </p:txBody>
      </p:sp>
      <p:sp>
        <p:nvSpPr>
          <p:cNvPr id="3" name="Shape 1"/>
          <p:cNvSpPr/>
          <p:nvPr/>
        </p:nvSpPr>
        <p:spPr>
          <a:xfrm>
            <a:off x="7132320" y="-548640"/>
            <a:ext cx="2926080" cy="2926080"/>
          </a:xfrm>
          <a:prstGeom prst="ellipse">
            <a:avLst/>
          </a:prstGeom>
          <a:solidFill>
            <a:srgbClr val="00B4D8">
              <a:alpha val="15000"/>
            </a:srgbClr>
          </a:solidFill>
          <a:ln w="12700">
            <a:solidFill>
              <a:srgbClr val="00B4D8">
                <a:alpha val="15000"/>
              </a:srgbClr>
            </a:solidFill>
            <a:prstDash val="solid"/>
          </a:ln>
        </p:spPr>
        <p:txBody>
          <a:bodyPr/>
          <a:lstStyle/>
          <a:p>
            <a:endParaRPr lang="en-US"/>
          </a:p>
        </p:txBody>
      </p:sp>
      <p:sp>
        <p:nvSpPr>
          <p:cNvPr id="4" name="Shape 2"/>
          <p:cNvSpPr/>
          <p:nvPr/>
        </p:nvSpPr>
        <p:spPr>
          <a:xfrm>
            <a:off x="457200" y="914400"/>
            <a:ext cx="1280160" cy="1280160"/>
          </a:xfrm>
          <a:prstGeom prst="ellipse">
            <a:avLst/>
          </a:prstGeom>
          <a:solidFill>
            <a:srgbClr val="00B4D8">
              <a:alpha val="80000"/>
            </a:srgbClr>
          </a:solidFill>
          <a:ln w="25400">
            <a:solidFill>
              <a:srgbClr val="48CAE4"/>
            </a:solidFill>
            <a:prstDash val="solid"/>
          </a:ln>
        </p:spPr>
        <p:txBody>
          <a:bodyPr/>
          <a:lstStyle/>
          <a:p>
            <a:endParaRPr lang="en-US"/>
          </a:p>
        </p:txBody>
      </p:sp>
      <p:sp>
        <p:nvSpPr>
          <p:cNvPr id="5" name="Text 3"/>
          <p:cNvSpPr/>
          <p:nvPr/>
        </p:nvSpPr>
        <p:spPr>
          <a:xfrm>
            <a:off x="548640" y="1005840"/>
            <a:ext cx="1097280" cy="1097280"/>
          </a:xfrm>
          <a:prstGeom prst="rect">
            <a:avLst/>
          </a:prstGeom>
          <a:noFill/>
          <a:ln/>
        </p:spPr>
        <p:txBody>
          <a:bodyPr wrap="square" rtlCol="0" anchor="ctr"/>
          <a:lstStyle/>
          <a:p>
            <a:pPr marL="0" indent="0" algn="ctr">
              <a:buNone/>
            </a:pPr>
            <a:r>
              <a:rPr lang="en-US" sz="3800" dirty="0">
                <a:solidFill>
                  <a:srgbClr val="000000"/>
                </a:solidFill>
              </a:rPr>
              <a:t>🚦</a:t>
            </a:r>
            <a:endParaRPr lang="en-US" sz="3800" dirty="0"/>
          </a:p>
        </p:txBody>
      </p:sp>
      <p:sp>
        <p:nvSpPr>
          <p:cNvPr id="6" name="Text 4"/>
          <p:cNvSpPr/>
          <p:nvPr/>
        </p:nvSpPr>
        <p:spPr>
          <a:xfrm>
            <a:off x="411480" y="914400"/>
            <a:ext cx="8321040" cy="914400"/>
          </a:xfrm>
          <a:prstGeom prst="rect">
            <a:avLst/>
          </a:prstGeom>
          <a:noFill/>
          <a:ln/>
        </p:spPr>
        <p:txBody>
          <a:bodyPr wrap="square"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Traffic Sign VQA</a:t>
            </a:r>
            <a:endParaRPr lang="en-US" sz="4400" dirty="0"/>
          </a:p>
        </p:txBody>
      </p:sp>
      <p:sp>
        <p:nvSpPr>
          <p:cNvPr id="7" name="Text 5"/>
          <p:cNvSpPr/>
          <p:nvPr/>
        </p:nvSpPr>
        <p:spPr>
          <a:xfrm>
            <a:off x="411480" y="1828800"/>
            <a:ext cx="8321040" cy="457200"/>
          </a:xfrm>
          <a:prstGeom prst="rect">
            <a:avLst/>
          </a:prstGeom>
          <a:noFill/>
          <a:ln/>
        </p:spPr>
        <p:txBody>
          <a:bodyPr wrap="square" rtlCol="0" anchor="ctr"/>
          <a:lstStyle/>
          <a:p>
            <a:pPr marL="0" indent="0" algn="ctr">
              <a:buNone/>
            </a:pPr>
            <a:r>
              <a:rPr lang="en-US" sz="1800" i="1" dirty="0">
                <a:solidFill>
                  <a:srgbClr val="00B4D8"/>
                </a:solidFill>
                <a:latin typeface="Calibri" pitchFamily="34" charset="0"/>
                <a:ea typeface="Calibri" pitchFamily="34" charset="-122"/>
                <a:cs typeface="Calibri" pitchFamily="34" charset="-120"/>
              </a:rPr>
              <a:t>Hệ thống hỏi đáp ảnh biển báo giao thông tiếng Việt</a:t>
            </a:r>
            <a:endParaRPr lang="en-US" sz="1800" dirty="0"/>
          </a:p>
        </p:txBody>
      </p:sp>
      <p:sp>
        <p:nvSpPr>
          <p:cNvPr id="8" name="Shape 6"/>
          <p:cNvSpPr/>
          <p:nvPr/>
        </p:nvSpPr>
        <p:spPr>
          <a:xfrm>
            <a:off x="2286000" y="2377440"/>
            <a:ext cx="4572000" cy="27432"/>
          </a:xfrm>
          <a:prstGeom prst="rect">
            <a:avLst/>
          </a:prstGeom>
          <a:solidFill>
            <a:srgbClr val="00B4D8"/>
          </a:solidFill>
          <a:ln w="12700">
            <a:solidFill>
              <a:srgbClr val="00B4D8"/>
            </a:solidFill>
            <a:prstDash val="solid"/>
          </a:ln>
        </p:spPr>
        <p:txBody>
          <a:bodyPr/>
          <a:lstStyle/>
          <a:p>
            <a:endParaRPr lang="en-US"/>
          </a:p>
        </p:txBody>
      </p:sp>
      <p:sp>
        <p:nvSpPr>
          <p:cNvPr id="9" name="Shape 7"/>
          <p:cNvSpPr/>
          <p:nvPr/>
        </p:nvSpPr>
        <p:spPr>
          <a:xfrm>
            <a:off x="457200" y="2606040"/>
            <a:ext cx="2651760" cy="868680"/>
          </a:xfrm>
          <a:prstGeom prst="rect">
            <a:avLst/>
          </a:prstGeom>
          <a:solidFill>
            <a:srgbClr val="132437"/>
          </a:solidFill>
          <a:ln w="12700">
            <a:solidFill>
              <a:srgbClr val="00B4D8"/>
            </a:solidFill>
            <a:prstDash val="solid"/>
          </a:ln>
        </p:spPr>
        <p:txBody>
          <a:bodyPr/>
          <a:lstStyle/>
          <a:p>
            <a:endParaRPr lang="en-US"/>
          </a:p>
        </p:txBody>
      </p:sp>
      <p:sp>
        <p:nvSpPr>
          <p:cNvPr id="10" name="Text 8"/>
          <p:cNvSpPr/>
          <p:nvPr/>
        </p:nvSpPr>
        <p:spPr>
          <a:xfrm>
            <a:off x="457200" y="2651760"/>
            <a:ext cx="2651760" cy="256032"/>
          </a:xfrm>
          <a:prstGeom prst="rect">
            <a:avLst/>
          </a:prstGeom>
          <a:noFill/>
          <a:ln/>
        </p:spPr>
        <p:txBody>
          <a:bodyPr wrap="square" lIns="0" tIns="0" rIns="0" bIns="0" rtlCol="0" anchor="ctr"/>
          <a:lstStyle/>
          <a:p>
            <a:pPr marL="0" indent="0" algn="ctr">
              <a:buNone/>
            </a:pPr>
            <a:r>
              <a:rPr lang="en-US" sz="900" b="1" dirty="0">
                <a:solidFill>
                  <a:srgbClr val="00B4D8"/>
                </a:solidFill>
                <a:latin typeface="Calibri" pitchFamily="34" charset="0"/>
                <a:ea typeface="Calibri" pitchFamily="34" charset="-122"/>
                <a:cs typeface="Calibri" pitchFamily="34" charset="-120"/>
              </a:rPr>
              <a:t>Môn học</a:t>
            </a:r>
            <a:endParaRPr lang="en-US" sz="900" dirty="0"/>
          </a:p>
        </p:txBody>
      </p:sp>
      <p:sp>
        <p:nvSpPr>
          <p:cNvPr id="11" name="Text 9"/>
          <p:cNvSpPr/>
          <p:nvPr/>
        </p:nvSpPr>
        <p:spPr>
          <a:xfrm>
            <a:off x="457200" y="2907792"/>
            <a:ext cx="2651760" cy="50292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Học Sâu</a:t>
            </a:r>
            <a:endParaRPr lang="en-US" sz="1200" dirty="0"/>
          </a:p>
        </p:txBody>
      </p:sp>
      <p:sp>
        <p:nvSpPr>
          <p:cNvPr id="12" name="Shape 10"/>
          <p:cNvSpPr/>
          <p:nvPr/>
        </p:nvSpPr>
        <p:spPr>
          <a:xfrm>
            <a:off x="3291840" y="2606040"/>
            <a:ext cx="2651760" cy="868680"/>
          </a:xfrm>
          <a:prstGeom prst="rect">
            <a:avLst/>
          </a:prstGeom>
          <a:solidFill>
            <a:srgbClr val="132437"/>
          </a:solidFill>
          <a:ln w="12700">
            <a:solidFill>
              <a:srgbClr val="00B4D8"/>
            </a:solidFill>
            <a:prstDash val="solid"/>
          </a:ln>
        </p:spPr>
        <p:txBody>
          <a:bodyPr/>
          <a:lstStyle/>
          <a:p>
            <a:endParaRPr lang="en-US"/>
          </a:p>
        </p:txBody>
      </p:sp>
      <p:sp>
        <p:nvSpPr>
          <p:cNvPr id="13" name="Text 11"/>
          <p:cNvSpPr/>
          <p:nvPr/>
        </p:nvSpPr>
        <p:spPr>
          <a:xfrm>
            <a:off x="3291840" y="2651760"/>
            <a:ext cx="2651760" cy="256032"/>
          </a:xfrm>
          <a:prstGeom prst="rect">
            <a:avLst/>
          </a:prstGeom>
          <a:noFill/>
          <a:ln/>
        </p:spPr>
        <p:txBody>
          <a:bodyPr wrap="square" lIns="0" tIns="0" rIns="0" bIns="0" rtlCol="0" anchor="ctr"/>
          <a:lstStyle/>
          <a:p>
            <a:pPr marL="0" indent="0" algn="ctr">
              <a:buNone/>
            </a:pPr>
            <a:r>
              <a:rPr lang="en-US" sz="900" b="1" dirty="0">
                <a:solidFill>
                  <a:srgbClr val="00B4D8"/>
                </a:solidFill>
                <a:latin typeface="Calibri" pitchFamily="34" charset="0"/>
                <a:ea typeface="Calibri" pitchFamily="34" charset="-122"/>
                <a:cs typeface="Calibri" pitchFamily="34" charset="-120"/>
              </a:rPr>
              <a:t>Bài 1</a:t>
            </a:r>
            <a:endParaRPr lang="en-US" sz="900" dirty="0"/>
          </a:p>
        </p:txBody>
      </p:sp>
      <p:sp>
        <p:nvSpPr>
          <p:cNvPr id="14" name="Text 12"/>
          <p:cNvSpPr/>
          <p:nvPr/>
        </p:nvSpPr>
        <p:spPr>
          <a:xfrm>
            <a:off x="3291840" y="2907792"/>
            <a:ext cx="2651760" cy="50292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Visual Question Answering</a:t>
            </a:r>
            <a:endParaRPr lang="en-US" sz="1200" dirty="0"/>
          </a:p>
        </p:txBody>
      </p:sp>
      <p:sp>
        <p:nvSpPr>
          <p:cNvPr id="15" name="Shape 13"/>
          <p:cNvSpPr/>
          <p:nvPr/>
        </p:nvSpPr>
        <p:spPr>
          <a:xfrm>
            <a:off x="6126480" y="2606040"/>
            <a:ext cx="2651760" cy="868680"/>
          </a:xfrm>
          <a:prstGeom prst="rect">
            <a:avLst/>
          </a:prstGeom>
          <a:solidFill>
            <a:srgbClr val="132437"/>
          </a:solidFill>
          <a:ln w="12700">
            <a:solidFill>
              <a:srgbClr val="00B4D8"/>
            </a:solidFill>
            <a:prstDash val="solid"/>
          </a:ln>
        </p:spPr>
        <p:txBody>
          <a:bodyPr/>
          <a:lstStyle/>
          <a:p>
            <a:endParaRPr lang="en-US"/>
          </a:p>
        </p:txBody>
      </p:sp>
      <p:sp>
        <p:nvSpPr>
          <p:cNvPr id="16" name="Text 14"/>
          <p:cNvSpPr/>
          <p:nvPr/>
        </p:nvSpPr>
        <p:spPr>
          <a:xfrm>
            <a:off x="6126480" y="2651760"/>
            <a:ext cx="2651760" cy="256032"/>
          </a:xfrm>
          <a:prstGeom prst="rect">
            <a:avLst/>
          </a:prstGeom>
          <a:noFill/>
          <a:ln/>
        </p:spPr>
        <p:txBody>
          <a:bodyPr wrap="square" lIns="0" tIns="0" rIns="0" bIns="0" rtlCol="0" anchor="ctr"/>
          <a:lstStyle/>
          <a:p>
            <a:pPr marL="0" indent="0" algn="ctr">
              <a:buNone/>
            </a:pPr>
            <a:r>
              <a:rPr lang="en-US" sz="900" b="1" dirty="0">
                <a:solidFill>
                  <a:srgbClr val="00B4D8"/>
                </a:solidFill>
                <a:latin typeface="Calibri" pitchFamily="34" charset="0"/>
                <a:ea typeface="Calibri" pitchFamily="34" charset="-122"/>
                <a:cs typeface="Calibri" pitchFamily="34" charset="-120"/>
              </a:rPr>
              <a:t>Bài 2</a:t>
            </a:r>
            <a:endParaRPr lang="en-US" sz="900" dirty="0"/>
          </a:p>
        </p:txBody>
      </p:sp>
      <p:sp>
        <p:nvSpPr>
          <p:cNvPr id="17" name="Text 15"/>
          <p:cNvSpPr/>
          <p:nvPr/>
        </p:nvSpPr>
        <p:spPr>
          <a:xfrm>
            <a:off x="6126480" y="2907792"/>
            <a:ext cx="2651760" cy="50292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Explainable VQA</a:t>
            </a:r>
            <a:endParaRPr lang="en-US" sz="1200" dirty="0"/>
          </a:p>
        </p:txBody>
      </p:sp>
      <p:sp>
        <p:nvSpPr>
          <p:cNvPr id="18" name="Shape 16"/>
          <p:cNvSpPr/>
          <p:nvPr/>
        </p:nvSpPr>
        <p:spPr>
          <a:xfrm>
            <a:off x="0" y="4800600"/>
            <a:ext cx="9144000" cy="342900"/>
          </a:xfrm>
          <a:prstGeom prst="rect">
            <a:avLst/>
          </a:prstGeom>
          <a:solidFill>
            <a:srgbClr val="0077B6"/>
          </a:solidFill>
          <a:ln w="12700">
            <a:solidFill>
              <a:srgbClr val="0077B6"/>
            </a:solidFill>
            <a:prstDash val="solid"/>
          </a:ln>
        </p:spPr>
        <p:txBody>
          <a:bodyPr/>
          <a:lstStyle/>
          <a:p>
            <a:endParaRPr lang="en-US"/>
          </a:p>
        </p:txBody>
      </p:sp>
      <p:sp>
        <p:nvSpPr>
          <p:cNvPr id="19" name="TextBox 18">
            <a:extLst>
              <a:ext uri="{FF2B5EF4-FFF2-40B4-BE49-F238E27FC236}">
                <a16:creationId xmlns:a16="http://schemas.microsoft.com/office/drawing/2014/main" id="{A0A089E3-6372-CEDE-43D6-F50869599F9B}"/>
              </a:ext>
            </a:extLst>
          </p:cNvPr>
          <p:cNvSpPr txBox="1"/>
          <p:nvPr/>
        </p:nvSpPr>
        <p:spPr>
          <a:xfrm>
            <a:off x="457200" y="3675888"/>
            <a:ext cx="3318729" cy="923330"/>
          </a:xfrm>
          <a:prstGeom prst="rect">
            <a:avLst/>
          </a:prstGeom>
          <a:noFill/>
          <a:ln/>
        </p:spPr>
        <p:txBody>
          <a:bodyPr wrap="square" rtlCol="0" anchor="ctr"/>
          <a:lstStyle>
            <a:lvl1pPr indent="0" algn="ctr">
              <a:buNone/>
              <a:defRPr i="1">
                <a:solidFill>
                  <a:srgbClr val="00B4D8"/>
                </a:solidFill>
                <a:latin typeface="Calibri" pitchFamily="34" charset="0"/>
                <a:ea typeface="Calibri" pitchFamily="34" charset="-122"/>
                <a:cs typeface="Calibri" pitchFamily="34" charset="-120"/>
              </a:defRPr>
            </a:lvl1pPr>
          </a:lstStyle>
          <a:p>
            <a:pPr algn="l"/>
            <a:r>
              <a:rPr lang="en-US"/>
              <a:t>Trần Nhựt Đông Khởi – 52300121</a:t>
            </a:r>
          </a:p>
          <a:p>
            <a:pPr algn="l"/>
            <a:r>
              <a:rPr lang="en-US"/>
              <a:t>Nguyễn Quốc Bảo – 52300094</a:t>
            </a:r>
          </a:p>
          <a:p>
            <a:pPr algn="l"/>
            <a:r>
              <a:rPr lang="en-US"/>
              <a:t>Huỳnh Thị Mỹ Ngọc - 52300134</a:t>
            </a:r>
          </a:p>
        </p:txBody>
      </p:sp>
      <p:sp>
        <p:nvSpPr>
          <p:cNvPr id="20" name="TextBox 19">
            <a:extLst>
              <a:ext uri="{FF2B5EF4-FFF2-40B4-BE49-F238E27FC236}">
                <a16:creationId xmlns:a16="http://schemas.microsoft.com/office/drawing/2014/main" id="{D5401A41-AAB9-18EE-4C8D-3309CECFC037}"/>
              </a:ext>
            </a:extLst>
          </p:cNvPr>
          <p:cNvSpPr txBox="1"/>
          <p:nvPr/>
        </p:nvSpPr>
        <p:spPr>
          <a:xfrm>
            <a:off x="3481647" y="3200400"/>
            <a:ext cx="2272145" cy="923330"/>
          </a:xfrm>
          <a:prstGeom prst="rect">
            <a:avLst/>
          </a:prstGeom>
          <a:noFill/>
          <a:ln/>
        </p:spPr>
        <p:txBody>
          <a:bodyPr wrap="square" rtlCol="0" anchor="ctr"/>
          <a:lstStyle>
            <a:lvl1pPr indent="0" algn="ctr">
              <a:buNone/>
              <a:defRPr i="1">
                <a:solidFill>
                  <a:srgbClr val="00B4D8"/>
                </a:solidFill>
                <a:latin typeface="Calibri" pitchFamily="34" charset="0"/>
                <a:ea typeface="Calibri" pitchFamily="34" charset="-122"/>
                <a:cs typeface="Calibri" pitchFamily="34" charset="-120"/>
              </a:defRPr>
            </a:lvl1pPr>
          </a:lstStyle>
          <a:p>
            <a:pPr algn="l"/>
            <a:r>
              <a:rPr lang="en-US"/>
              <a:t>GV: TS. Lê Anh Cường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411480" y="694944"/>
            <a:ext cx="8321040" cy="22860"/>
          </a:xfrm>
          <a:prstGeom prst="rect">
            <a:avLst/>
          </a:prstGeom>
          <a:solidFill>
            <a:srgbClr val="00B4D8"/>
          </a:solidFill>
          <a:ln w="12700">
            <a:solidFill>
              <a:srgbClr val="00B4D8"/>
            </a:solidFill>
            <a:prstDash val="solid"/>
          </a:ln>
        </p:spPr>
        <p:txBody>
          <a:bodyPr/>
          <a:lstStyle/>
          <a:p>
            <a:endParaRPr lang="en-US"/>
          </a:p>
        </p:txBody>
      </p:sp>
      <p:sp>
        <p:nvSpPr>
          <p:cNvPr id="3" name="Text 1"/>
          <p:cNvSpPr/>
          <p:nvPr/>
        </p:nvSpPr>
        <p:spPr>
          <a:xfrm>
            <a:off x="411480" y="256032"/>
            <a:ext cx="8321040" cy="502920"/>
          </a:xfrm>
          <a:prstGeom prst="rect">
            <a:avLst/>
          </a:prstGeom>
          <a:noFill/>
          <a:ln/>
        </p:spPr>
        <p:txBody>
          <a:bodyPr wrap="square" lIns="0" tIns="0" rIns="0" bIns="0" rtlCol="0" anchor="ctr"/>
          <a:lstStyle/>
          <a:p>
            <a:pPr marL="0" indent="0">
              <a:buNone/>
            </a:pPr>
            <a:r>
              <a:rPr lang="en-US" sz="2600" b="1" dirty="0">
                <a:solidFill>
                  <a:srgbClr val="00B4D8"/>
                </a:solidFill>
                <a:latin typeface="Calibri" pitchFamily="34" charset="0"/>
                <a:ea typeface="Calibri" pitchFamily="34" charset="-122"/>
                <a:cs typeface="Calibri" pitchFamily="34" charset="-120"/>
              </a:rPr>
              <a:t>1. Bài Toán</a:t>
            </a:r>
            <a:endParaRPr lang="en-US" sz="2600" dirty="0"/>
          </a:p>
        </p:txBody>
      </p:sp>
      <p:sp>
        <p:nvSpPr>
          <p:cNvPr id="4" name="Text 2"/>
          <p:cNvSpPr/>
          <p:nvPr/>
        </p:nvSpPr>
        <p:spPr>
          <a:xfrm>
            <a:off x="8046720" y="4846320"/>
            <a:ext cx="822960" cy="182880"/>
          </a:xfrm>
          <a:prstGeom prst="rect">
            <a:avLst/>
          </a:prstGeom>
          <a:noFill/>
          <a:ln/>
        </p:spPr>
        <p:txBody>
          <a:bodyPr wrap="square" lIns="0" tIns="0" rIns="0" bIns="0" rtlCol="0" anchor="ctr"/>
          <a:lstStyle/>
          <a:p>
            <a:pPr marL="0" indent="0" algn="r">
              <a:buNone/>
            </a:pPr>
            <a:r>
              <a:rPr lang="en-US" sz="900" dirty="0">
                <a:solidFill>
                  <a:srgbClr val="8DA0B3"/>
                </a:solidFill>
                <a:latin typeface="Calibri" pitchFamily="34" charset="0"/>
                <a:ea typeface="Calibri" pitchFamily="34" charset="-122"/>
                <a:cs typeface="Calibri" pitchFamily="34" charset="-120"/>
              </a:rPr>
              <a:t>1 / 15</a:t>
            </a:r>
            <a:endParaRPr lang="en-US" sz="900" dirty="0"/>
          </a:p>
        </p:txBody>
      </p:sp>
      <p:sp>
        <p:nvSpPr>
          <p:cNvPr id="5" name="Shape 3"/>
          <p:cNvSpPr/>
          <p:nvPr/>
        </p:nvSpPr>
        <p:spPr>
          <a:xfrm>
            <a:off x="411480" y="914400"/>
            <a:ext cx="3931920" cy="3291840"/>
          </a:xfrm>
          <a:prstGeom prst="rect">
            <a:avLst/>
          </a:prstGeom>
          <a:solidFill>
            <a:srgbClr val="132437"/>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6" name="Text 4"/>
          <p:cNvSpPr/>
          <p:nvPr/>
        </p:nvSpPr>
        <p:spPr>
          <a:xfrm>
            <a:off x="502920" y="987552"/>
            <a:ext cx="3749040" cy="347472"/>
          </a:xfrm>
          <a:prstGeom prst="rect">
            <a:avLst/>
          </a:prstGeom>
          <a:noFill/>
          <a:ln/>
        </p:spPr>
        <p:txBody>
          <a:bodyPr wrap="square" lIns="0" tIns="0" rIns="0" bIns="0"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  ĐẦU VÀO</a:t>
            </a:r>
            <a:endParaRPr lang="en-US" sz="1300" dirty="0"/>
          </a:p>
        </p:txBody>
      </p:sp>
      <p:sp>
        <p:nvSpPr>
          <p:cNvPr id="7" name="Shape 5"/>
          <p:cNvSpPr/>
          <p:nvPr/>
        </p:nvSpPr>
        <p:spPr>
          <a:xfrm>
            <a:off x="594360" y="1481328"/>
            <a:ext cx="109728" cy="109728"/>
          </a:xfrm>
          <a:prstGeom prst="ellipse">
            <a:avLst/>
          </a:prstGeom>
          <a:solidFill>
            <a:srgbClr val="00B4D8"/>
          </a:solidFill>
          <a:ln w="12700">
            <a:solidFill>
              <a:srgbClr val="00B4D8"/>
            </a:solidFill>
            <a:prstDash val="solid"/>
          </a:ln>
        </p:spPr>
        <p:txBody>
          <a:bodyPr/>
          <a:lstStyle/>
          <a:p>
            <a:endParaRPr lang="en-US"/>
          </a:p>
        </p:txBody>
      </p:sp>
      <p:sp>
        <p:nvSpPr>
          <p:cNvPr id="8" name="Text 6"/>
          <p:cNvSpPr/>
          <p:nvPr/>
        </p:nvSpPr>
        <p:spPr>
          <a:xfrm>
            <a:off x="777240" y="1435608"/>
            <a:ext cx="3474720" cy="347472"/>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Ảnh biển báo giao thông</a:t>
            </a:r>
            <a:endParaRPr lang="en-US" sz="1300" dirty="0"/>
          </a:p>
        </p:txBody>
      </p:sp>
      <p:sp>
        <p:nvSpPr>
          <p:cNvPr id="9" name="Shape 7"/>
          <p:cNvSpPr/>
          <p:nvPr/>
        </p:nvSpPr>
        <p:spPr>
          <a:xfrm>
            <a:off x="594360" y="1956816"/>
            <a:ext cx="109728" cy="109728"/>
          </a:xfrm>
          <a:prstGeom prst="ellipse">
            <a:avLst/>
          </a:prstGeom>
          <a:solidFill>
            <a:srgbClr val="00B4D8"/>
          </a:solidFill>
          <a:ln w="12700">
            <a:solidFill>
              <a:srgbClr val="00B4D8"/>
            </a:solidFill>
            <a:prstDash val="solid"/>
          </a:ln>
        </p:spPr>
        <p:txBody>
          <a:bodyPr/>
          <a:lstStyle/>
          <a:p>
            <a:endParaRPr lang="en-US"/>
          </a:p>
        </p:txBody>
      </p:sp>
      <p:sp>
        <p:nvSpPr>
          <p:cNvPr id="10" name="Text 8"/>
          <p:cNvSpPr/>
          <p:nvPr/>
        </p:nvSpPr>
        <p:spPr>
          <a:xfrm>
            <a:off x="777240" y="1911096"/>
            <a:ext cx="3474720" cy="347472"/>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Câu hỏi tiếng Việt</a:t>
            </a:r>
            <a:endParaRPr lang="en-US" sz="1300" dirty="0"/>
          </a:p>
        </p:txBody>
      </p:sp>
      <p:sp>
        <p:nvSpPr>
          <p:cNvPr id="11" name="Shape 9"/>
          <p:cNvSpPr/>
          <p:nvPr/>
        </p:nvSpPr>
        <p:spPr>
          <a:xfrm>
            <a:off x="4754880" y="914400"/>
            <a:ext cx="3931920" cy="3291840"/>
          </a:xfrm>
          <a:prstGeom prst="rect">
            <a:avLst/>
          </a:prstGeom>
          <a:solidFill>
            <a:srgbClr val="132437"/>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12" name="Text 10"/>
          <p:cNvSpPr/>
          <p:nvPr/>
        </p:nvSpPr>
        <p:spPr>
          <a:xfrm>
            <a:off x="4846320" y="987552"/>
            <a:ext cx="3749040" cy="347472"/>
          </a:xfrm>
          <a:prstGeom prst="rect">
            <a:avLst/>
          </a:prstGeom>
          <a:noFill/>
          <a:ln/>
        </p:spPr>
        <p:txBody>
          <a:bodyPr wrap="square" lIns="0" tIns="0" rIns="0" bIns="0" rtlCol="0" anchor="ctr"/>
          <a:lstStyle/>
          <a:p>
            <a:pPr marL="0" indent="0">
              <a:buNone/>
            </a:pPr>
            <a:r>
              <a:rPr lang="en-US" sz="1300" b="1" dirty="0">
                <a:solidFill>
                  <a:srgbClr val="06D6A0"/>
                </a:solidFill>
                <a:latin typeface="Calibri" pitchFamily="34" charset="0"/>
                <a:ea typeface="Calibri" pitchFamily="34" charset="-122"/>
                <a:cs typeface="Calibri" pitchFamily="34" charset="-120"/>
              </a:rPr>
              <a:t>📤  ĐẦU RA</a:t>
            </a:r>
            <a:endParaRPr lang="en-US" sz="1300" dirty="0"/>
          </a:p>
        </p:txBody>
      </p:sp>
      <p:sp>
        <p:nvSpPr>
          <p:cNvPr id="13" name="Shape 11"/>
          <p:cNvSpPr/>
          <p:nvPr/>
        </p:nvSpPr>
        <p:spPr>
          <a:xfrm>
            <a:off x="4937760" y="1481328"/>
            <a:ext cx="109728" cy="109728"/>
          </a:xfrm>
          <a:prstGeom prst="ellipse">
            <a:avLst/>
          </a:prstGeom>
          <a:solidFill>
            <a:srgbClr val="06D6A0"/>
          </a:solidFill>
          <a:ln w="12700">
            <a:solidFill>
              <a:srgbClr val="06D6A0"/>
            </a:solidFill>
            <a:prstDash val="solid"/>
          </a:ln>
        </p:spPr>
        <p:txBody>
          <a:bodyPr/>
          <a:lstStyle/>
          <a:p>
            <a:endParaRPr lang="en-US"/>
          </a:p>
        </p:txBody>
      </p:sp>
      <p:sp>
        <p:nvSpPr>
          <p:cNvPr id="14" name="Text 12"/>
          <p:cNvSpPr/>
          <p:nvPr/>
        </p:nvSpPr>
        <p:spPr>
          <a:xfrm>
            <a:off x="5120640" y="1435608"/>
            <a:ext cx="3429000" cy="34747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Câu trả lời ngắn tiếng Việt</a:t>
            </a:r>
            <a:endParaRPr lang="en-US" sz="1200" dirty="0"/>
          </a:p>
        </p:txBody>
      </p:sp>
      <p:sp>
        <p:nvSpPr>
          <p:cNvPr id="15" name="Shape 13"/>
          <p:cNvSpPr/>
          <p:nvPr/>
        </p:nvSpPr>
        <p:spPr>
          <a:xfrm>
            <a:off x="4937760" y="1956816"/>
            <a:ext cx="109728" cy="109728"/>
          </a:xfrm>
          <a:prstGeom prst="ellipse">
            <a:avLst/>
          </a:prstGeom>
          <a:solidFill>
            <a:srgbClr val="06D6A0"/>
          </a:solidFill>
          <a:ln w="12700">
            <a:solidFill>
              <a:srgbClr val="06D6A0"/>
            </a:solidFill>
            <a:prstDash val="solid"/>
          </a:ln>
        </p:spPr>
        <p:txBody>
          <a:bodyPr/>
          <a:lstStyle/>
          <a:p>
            <a:endParaRPr lang="en-US"/>
          </a:p>
        </p:txBody>
      </p:sp>
      <p:sp>
        <p:nvSpPr>
          <p:cNvPr id="16" name="Text 14"/>
          <p:cNvSpPr/>
          <p:nvPr/>
        </p:nvSpPr>
        <p:spPr>
          <a:xfrm>
            <a:off x="5120640" y="1911096"/>
            <a:ext cx="3429000" cy="34747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Giải thích (Bài 2)</a:t>
            </a:r>
            <a:endParaRPr lang="en-US" sz="1200" dirty="0"/>
          </a:p>
        </p:txBody>
      </p:sp>
      <p:sp>
        <p:nvSpPr>
          <p:cNvPr id="17" name="Shape 15"/>
          <p:cNvSpPr/>
          <p:nvPr/>
        </p:nvSpPr>
        <p:spPr>
          <a:xfrm>
            <a:off x="4937760" y="2432304"/>
            <a:ext cx="109728" cy="109728"/>
          </a:xfrm>
          <a:prstGeom prst="ellipse">
            <a:avLst/>
          </a:prstGeom>
          <a:solidFill>
            <a:srgbClr val="06D6A0"/>
          </a:solidFill>
          <a:ln w="12700">
            <a:solidFill>
              <a:srgbClr val="06D6A0"/>
            </a:solidFill>
            <a:prstDash val="solid"/>
          </a:ln>
        </p:spPr>
        <p:txBody>
          <a:bodyPr/>
          <a:lstStyle/>
          <a:p>
            <a:endParaRPr lang="en-US"/>
          </a:p>
        </p:txBody>
      </p:sp>
      <p:sp>
        <p:nvSpPr>
          <p:cNvPr id="18" name="Text 16"/>
          <p:cNvSpPr/>
          <p:nvPr/>
        </p:nvSpPr>
        <p:spPr>
          <a:xfrm>
            <a:off x="5120640" y="2386584"/>
            <a:ext cx="3429000" cy="34747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Khuyến nghị hành động (Bài 2)</a:t>
            </a:r>
            <a:endParaRPr lang="en-US" sz="1200" dirty="0"/>
          </a:p>
        </p:txBody>
      </p:sp>
      <p:sp>
        <p:nvSpPr>
          <p:cNvPr id="19" name="Shape 17"/>
          <p:cNvSpPr/>
          <p:nvPr/>
        </p:nvSpPr>
        <p:spPr>
          <a:xfrm>
            <a:off x="4937760" y="2907792"/>
            <a:ext cx="109728" cy="109728"/>
          </a:xfrm>
          <a:prstGeom prst="ellipse">
            <a:avLst/>
          </a:prstGeom>
          <a:solidFill>
            <a:srgbClr val="06D6A0"/>
          </a:solidFill>
          <a:ln w="12700">
            <a:solidFill>
              <a:srgbClr val="06D6A0"/>
            </a:solidFill>
            <a:prstDash val="solid"/>
          </a:ln>
        </p:spPr>
        <p:txBody>
          <a:bodyPr/>
          <a:lstStyle/>
          <a:p>
            <a:endParaRPr lang="en-US"/>
          </a:p>
        </p:txBody>
      </p:sp>
      <p:sp>
        <p:nvSpPr>
          <p:cNvPr id="20" name="Text 18"/>
          <p:cNvSpPr/>
          <p:nvPr/>
        </p:nvSpPr>
        <p:spPr>
          <a:xfrm>
            <a:off x="5120640" y="2862072"/>
            <a:ext cx="3429000" cy="34747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Confidence score (Bài 2)</a:t>
            </a:r>
            <a:endParaRPr lang="en-US" sz="1200" dirty="0"/>
          </a:p>
        </p:txBody>
      </p:sp>
      <p:sp>
        <p:nvSpPr>
          <p:cNvPr id="21" name="Shape 19"/>
          <p:cNvSpPr/>
          <p:nvPr/>
        </p:nvSpPr>
        <p:spPr>
          <a:xfrm>
            <a:off x="4352544" y="2377440"/>
            <a:ext cx="393192" cy="27432"/>
          </a:xfrm>
          <a:prstGeom prst="rect">
            <a:avLst/>
          </a:prstGeom>
          <a:solidFill>
            <a:srgbClr val="00B4D8"/>
          </a:solidFill>
          <a:ln w="12700">
            <a:solidFill>
              <a:srgbClr val="00B4D8"/>
            </a:solidFill>
            <a:prstDash val="solid"/>
          </a:ln>
        </p:spPr>
        <p:txBody>
          <a:bodyPr/>
          <a:lstStyle/>
          <a:p>
            <a:endParaRPr lang="en-US"/>
          </a:p>
        </p:txBody>
      </p:sp>
      <p:sp>
        <p:nvSpPr>
          <p:cNvPr id="22" name="Text 20"/>
          <p:cNvSpPr/>
          <p:nvPr/>
        </p:nvSpPr>
        <p:spPr>
          <a:xfrm>
            <a:off x="4457700" y="2224278"/>
            <a:ext cx="457200" cy="347472"/>
          </a:xfrm>
          <a:prstGeom prst="rect">
            <a:avLst/>
          </a:prstGeom>
          <a:noFill/>
          <a:ln/>
        </p:spPr>
        <p:txBody>
          <a:bodyPr wrap="square" lIns="0" tIns="0" rIns="0" bIns="0" rtlCol="0" anchor="ctr"/>
          <a:lstStyle/>
          <a:p>
            <a:pPr marL="0" indent="0" algn="ctr">
              <a:buNone/>
            </a:pPr>
            <a:r>
              <a:rPr lang="en-US" sz="1800" dirty="0">
                <a:solidFill>
                  <a:srgbClr val="00B4D8"/>
                </a:solidFill>
              </a:rPr>
              <a:t>▶</a:t>
            </a:r>
            <a:endParaRPr lang="en-US" sz="1800" dirty="0"/>
          </a:p>
        </p:txBody>
      </p:sp>
      <p:sp>
        <p:nvSpPr>
          <p:cNvPr id="23" name="Shape 21"/>
          <p:cNvSpPr/>
          <p:nvPr/>
        </p:nvSpPr>
        <p:spPr>
          <a:xfrm>
            <a:off x="411480" y="4251960"/>
            <a:ext cx="8321040" cy="594360"/>
          </a:xfrm>
          <a:prstGeom prst="rect">
            <a:avLst/>
          </a:prstGeom>
          <a:solidFill>
            <a:srgbClr val="0A1929"/>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24" name="Text 22"/>
          <p:cNvSpPr/>
          <p:nvPr/>
        </p:nvSpPr>
        <p:spPr>
          <a:xfrm>
            <a:off x="548640" y="4315968"/>
            <a:ext cx="8046720" cy="457200"/>
          </a:xfrm>
          <a:prstGeom prst="rect">
            <a:avLst/>
          </a:prstGeom>
          <a:noFill/>
          <a:ln/>
        </p:spPr>
        <p:txBody>
          <a:bodyPr wrap="square" lIns="0" tIns="0" rIns="0" bIns="0" rtlCol="0" anchor="ctr"/>
          <a:lstStyle/>
          <a:p>
            <a:pPr marL="0" indent="0">
              <a:buNone/>
            </a:pPr>
            <a:r>
              <a:rPr lang="en-US" sz="1200" i="1" dirty="0">
                <a:solidFill>
                  <a:srgbClr val="48CAE4"/>
                </a:solidFill>
                <a:latin typeface="Calibri" pitchFamily="34" charset="0"/>
                <a:ea typeface="Calibri" pitchFamily="34" charset="-122"/>
                <a:cs typeface="Calibri" pitchFamily="34" charset="-120"/>
              </a:rPr>
              <a:t>Ví dụ:  Ảnh + "Biển báo này có ý nghĩa gì?"  →  "Cấm rẽ trái."</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411480" y="694944"/>
            <a:ext cx="8321040" cy="22860"/>
          </a:xfrm>
          <a:prstGeom prst="rect">
            <a:avLst/>
          </a:prstGeom>
          <a:solidFill>
            <a:srgbClr val="00B4D8"/>
          </a:solidFill>
          <a:ln w="12700">
            <a:solidFill>
              <a:srgbClr val="00B4D8"/>
            </a:solidFill>
            <a:prstDash val="solid"/>
          </a:ln>
        </p:spPr>
        <p:txBody>
          <a:bodyPr/>
          <a:lstStyle/>
          <a:p>
            <a:endParaRPr lang="en-US"/>
          </a:p>
        </p:txBody>
      </p:sp>
      <p:sp>
        <p:nvSpPr>
          <p:cNvPr id="3" name="Text 1"/>
          <p:cNvSpPr/>
          <p:nvPr/>
        </p:nvSpPr>
        <p:spPr>
          <a:xfrm>
            <a:off x="411480" y="256032"/>
            <a:ext cx="8321040" cy="502920"/>
          </a:xfrm>
          <a:prstGeom prst="rect">
            <a:avLst/>
          </a:prstGeom>
          <a:noFill/>
          <a:ln/>
        </p:spPr>
        <p:txBody>
          <a:bodyPr wrap="square" lIns="0" tIns="0" rIns="0" bIns="0" rtlCol="0" anchor="ctr"/>
          <a:lstStyle/>
          <a:p>
            <a:pPr marL="0" indent="0">
              <a:buNone/>
            </a:pPr>
            <a:r>
              <a:rPr lang="en-US" sz="2600" b="1" dirty="0">
                <a:solidFill>
                  <a:srgbClr val="00B4D8"/>
                </a:solidFill>
                <a:latin typeface="Calibri" pitchFamily="34" charset="0"/>
                <a:ea typeface="Calibri" pitchFamily="34" charset="-122"/>
                <a:cs typeface="Calibri" pitchFamily="34" charset="-120"/>
              </a:rPr>
              <a:t>2. Lý Do Chọn Đề Tài</a:t>
            </a:r>
            <a:endParaRPr lang="en-US" sz="2600" dirty="0"/>
          </a:p>
        </p:txBody>
      </p:sp>
      <p:sp>
        <p:nvSpPr>
          <p:cNvPr id="4" name="Text 2"/>
          <p:cNvSpPr/>
          <p:nvPr/>
        </p:nvSpPr>
        <p:spPr>
          <a:xfrm>
            <a:off x="8046720" y="4846320"/>
            <a:ext cx="822960" cy="182880"/>
          </a:xfrm>
          <a:prstGeom prst="rect">
            <a:avLst/>
          </a:prstGeom>
          <a:noFill/>
          <a:ln/>
        </p:spPr>
        <p:txBody>
          <a:bodyPr wrap="square" lIns="0" tIns="0" rIns="0" bIns="0" rtlCol="0" anchor="ctr"/>
          <a:lstStyle/>
          <a:p>
            <a:pPr marL="0" indent="0" algn="r">
              <a:buNone/>
            </a:pPr>
            <a:r>
              <a:rPr lang="en-US" sz="900" dirty="0">
                <a:solidFill>
                  <a:srgbClr val="8DA0B3"/>
                </a:solidFill>
                <a:latin typeface="Calibri" pitchFamily="34" charset="0"/>
                <a:ea typeface="Calibri" pitchFamily="34" charset="-122"/>
                <a:cs typeface="Calibri" pitchFamily="34" charset="-120"/>
              </a:rPr>
              <a:t>2 / 15</a:t>
            </a:r>
            <a:endParaRPr lang="en-US" sz="900" dirty="0"/>
          </a:p>
        </p:txBody>
      </p:sp>
      <p:sp>
        <p:nvSpPr>
          <p:cNvPr id="5" name="Shape 3"/>
          <p:cNvSpPr/>
          <p:nvPr/>
        </p:nvSpPr>
        <p:spPr>
          <a:xfrm>
            <a:off x="411480" y="1005840"/>
            <a:ext cx="4114800" cy="1691640"/>
          </a:xfrm>
          <a:prstGeom prst="rect">
            <a:avLst/>
          </a:prstGeom>
          <a:solidFill>
            <a:srgbClr val="132437"/>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6" name="Text 4"/>
          <p:cNvSpPr/>
          <p:nvPr/>
        </p:nvSpPr>
        <p:spPr>
          <a:xfrm>
            <a:off x="548640" y="1115568"/>
            <a:ext cx="640080" cy="54864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7" name="Text 5"/>
          <p:cNvSpPr/>
          <p:nvPr/>
        </p:nvSpPr>
        <p:spPr>
          <a:xfrm>
            <a:off x="1234440" y="1115568"/>
            <a:ext cx="3154680" cy="384048"/>
          </a:xfrm>
          <a:prstGeom prst="rect">
            <a:avLst/>
          </a:prstGeom>
          <a:noFill/>
          <a:ln/>
        </p:spPr>
        <p:txBody>
          <a:bodyPr wrap="square" lIns="0" tIns="0" rIns="0" bIns="0"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Miền chuyên biệt</a:t>
            </a:r>
            <a:endParaRPr lang="en-US" sz="1300" dirty="0"/>
          </a:p>
        </p:txBody>
      </p:sp>
      <p:sp>
        <p:nvSpPr>
          <p:cNvPr id="8" name="Text 6"/>
          <p:cNvSpPr/>
          <p:nvPr/>
        </p:nvSpPr>
        <p:spPr>
          <a:xfrm>
            <a:off x="1234440" y="1508760"/>
            <a:ext cx="3154680" cy="1005840"/>
          </a:xfrm>
          <a:prstGeom prst="rect">
            <a:avLst/>
          </a:prstGeom>
          <a:noFill/>
          <a:ln/>
        </p:spPr>
        <p:txBody>
          <a:bodyPr wrap="square" lIns="0" tIns="0" rIns="0" bIns="0" rtlCol="0" anchor="ctr"/>
          <a:lstStyle/>
          <a:p>
            <a:pPr marL="0" indent="0">
              <a:buNone/>
            </a:pPr>
            <a:r>
              <a:rPr lang="en-US" sz="1100" dirty="0">
                <a:solidFill>
                  <a:srgbClr val="E8F4FD"/>
                </a:solidFill>
                <a:latin typeface="Calibri" pitchFamily="34" charset="0"/>
                <a:ea typeface="Calibri" pitchFamily="34" charset="-122"/>
                <a:cs typeface="Calibri" pitchFamily="34" charset="-120"/>
              </a:rPr>
              <a:t>Biển báo giao thông có ý nghĩa ứng dụng thực tế cao trong an toàn giao thông.</a:t>
            </a:r>
            <a:endParaRPr lang="en-US" sz="1100" dirty="0"/>
          </a:p>
        </p:txBody>
      </p:sp>
      <p:sp>
        <p:nvSpPr>
          <p:cNvPr id="9" name="Shape 7"/>
          <p:cNvSpPr/>
          <p:nvPr/>
        </p:nvSpPr>
        <p:spPr>
          <a:xfrm>
            <a:off x="4800600" y="1005840"/>
            <a:ext cx="4114800" cy="1691640"/>
          </a:xfrm>
          <a:prstGeom prst="rect">
            <a:avLst/>
          </a:prstGeom>
          <a:solidFill>
            <a:srgbClr val="132437"/>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10" name="Text 8"/>
          <p:cNvSpPr/>
          <p:nvPr/>
        </p:nvSpPr>
        <p:spPr>
          <a:xfrm>
            <a:off x="4937760" y="1115568"/>
            <a:ext cx="640080" cy="54864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11" name="Text 9"/>
          <p:cNvSpPr/>
          <p:nvPr/>
        </p:nvSpPr>
        <p:spPr>
          <a:xfrm>
            <a:off x="5623560" y="1115568"/>
            <a:ext cx="3154680" cy="384048"/>
          </a:xfrm>
          <a:prstGeom prst="rect">
            <a:avLst/>
          </a:prstGeom>
          <a:noFill/>
          <a:ln/>
        </p:spPr>
        <p:txBody>
          <a:bodyPr wrap="square" lIns="0" tIns="0" rIns="0" bIns="0"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Đa thuộc tính trực quan</a:t>
            </a:r>
            <a:endParaRPr lang="en-US" sz="1300" dirty="0"/>
          </a:p>
        </p:txBody>
      </p:sp>
      <p:sp>
        <p:nvSpPr>
          <p:cNvPr id="12" name="Text 10"/>
          <p:cNvSpPr/>
          <p:nvPr/>
        </p:nvSpPr>
        <p:spPr>
          <a:xfrm>
            <a:off x="5623560" y="1508760"/>
            <a:ext cx="3154680" cy="1005840"/>
          </a:xfrm>
          <a:prstGeom prst="rect">
            <a:avLst/>
          </a:prstGeom>
          <a:noFill/>
          <a:ln/>
        </p:spPr>
        <p:txBody>
          <a:bodyPr wrap="square" lIns="0" tIns="0" rIns="0" bIns="0" rtlCol="0" anchor="ctr"/>
          <a:lstStyle/>
          <a:p>
            <a:pPr marL="0" indent="0">
              <a:buNone/>
            </a:pPr>
            <a:r>
              <a:rPr lang="en-US" sz="1100" dirty="0">
                <a:solidFill>
                  <a:srgbClr val="E8F4FD"/>
                </a:solidFill>
                <a:latin typeface="Calibri" pitchFamily="34" charset="0"/>
                <a:ea typeface="Calibri" pitchFamily="34" charset="-122"/>
                <a:cs typeface="Calibri" pitchFamily="34" charset="-120"/>
              </a:rPr>
              <a:t>Màu sắc, hình dạng, biểu tượng, chữ viết — phong phú về đặc trưng ảnh.</a:t>
            </a:r>
            <a:endParaRPr lang="en-US" sz="1100" dirty="0"/>
          </a:p>
        </p:txBody>
      </p:sp>
      <p:sp>
        <p:nvSpPr>
          <p:cNvPr id="13" name="Shape 11"/>
          <p:cNvSpPr/>
          <p:nvPr/>
        </p:nvSpPr>
        <p:spPr>
          <a:xfrm>
            <a:off x="411480" y="2926080"/>
            <a:ext cx="4114800" cy="1691640"/>
          </a:xfrm>
          <a:prstGeom prst="rect">
            <a:avLst/>
          </a:prstGeom>
          <a:solidFill>
            <a:srgbClr val="132437"/>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14" name="Text 12"/>
          <p:cNvSpPr/>
          <p:nvPr/>
        </p:nvSpPr>
        <p:spPr>
          <a:xfrm>
            <a:off x="548640" y="3035808"/>
            <a:ext cx="640080" cy="54864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15" name="Text 13"/>
          <p:cNvSpPr/>
          <p:nvPr/>
        </p:nvSpPr>
        <p:spPr>
          <a:xfrm>
            <a:off x="1234440" y="3035808"/>
            <a:ext cx="3154680" cy="384048"/>
          </a:xfrm>
          <a:prstGeom prst="rect">
            <a:avLst/>
          </a:prstGeom>
          <a:noFill/>
          <a:ln/>
        </p:spPr>
        <p:txBody>
          <a:bodyPr wrap="square" lIns="0" tIns="0" rIns="0" bIns="0"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Câu hỏi đa dạng</a:t>
            </a:r>
            <a:endParaRPr lang="en-US" sz="1300" dirty="0"/>
          </a:p>
        </p:txBody>
      </p:sp>
      <p:sp>
        <p:nvSpPr>
          <p:cNvPr id="16" name="Text 14"/>
          <p:cNvSpPr/>
          <p:nvPr/>
        </p:nvSpPr>
        <p:spPr>
          <a:xfrm>
            <a:off x="1234440" y="3429000"/>
            <a:ext cx="3154680" cy="1005840"/>
          </a:xfrm>
          <a:prstGeom prst="rect">
            <a:avLst/>
          </a:prstGeom>
          <a:noFill/>
          <a:ln/>
        </p:spPr>
        <p:txBody>
          <a:bodyPr wrap="square" lIns="0" tIns="0" rIns="0" bIns="0" rtlCol="0" anchor="ctr"/>
          <a:lstStyle/>
          <a:p>
            <a:pPr marL="0" indent="0">
              <a:buNone/>
            </a:pPr>
            <a:r>
              <a:rPr lang="en-US" sz="1100" dirty="0">
                <a:solidFill>
                  <a:srgbClr val="E8F4FD"/>
                </a:solidFill>
                <a:latin typeface="Calibri" pitchFamily="34" charset="0"/>
                <a:ea typeface="Calibri" pitchFamily="34" charset="-122"/>
                <a:cs typeface="Calibri" pitchFamily="34" charset="-120"/>
              </a:rPr>
              <a:t>Yes/No, nhận dạng, màu sắc, số lượng, hành động — nhiều loại task.</a:t>
            </a:r>
            <a:endParaRPr lang="en-US" sz="1100" dirty="0"/>
          </a:p>
        </p:txBody>
      </p:sp>
      <p:sp>
        <p:nvSpPr>
          <p:cNvPr id="17" name="Shape 15"/>
          <p:cNvSpPr/>
          <p:nvPr/>
        </p:nvSpPr>
        <p:spPr>
          <a:xfrm>
            <a:off x="4800600" y="2926080"/>
            <a:ext cx="4114800" cy="1691640"/>
          </a:xfrm>
          <a:prstGeom prst="rect">
            <a:avLst/>
          </a:prstGeom>
          <a:solidFill>
            <a:srgbClr val="132437"/>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18" name="Text 16"/>
          <p:cNvSpPr/>
          <p:nvPr/>
        </p:nvSpPr>
        <p:spPr>
          <a:xfrm>
            <a:off x="4937760" y="3035808"/>
            <a:ext cx="640080" cy="548640"/>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19" name="Text 17"/>
          <p:cNvSpPr/>
          <p:nvPr/>
        </p:nvSpPr>
        <p:spPr>
          <a:xfrm>
            <a:off x="5623560" y="3035808"/>
            <a:ext cx="3154680" cy="384048"/>
          </a:xfrm>
          <a:prstGeom prst="rect">
            <a:avLst/>
          </a:prstGeom>
          <a:noFill/>
          <a:ln/>
        </p:spPr>
        <p:txBody>
          <a:bodyPr wrap="square" lIns="0" tIns="0" rIns="0" bIns="0"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So sánh kiến trúc</a:t>
            </a:r>
            <a:endParaRPr lang="en-US" sz="1300" dirty="0"/>
          </a:p>
        </p:txBody>
      </p:sp>
      <p:sp>
        <p:nvSpPr>
          <p:cNvPr id="20" name="Text 18"/>
          <p:cNvSpPr/>
          <p:nvPr/>
        </p:nvSpPr>
        <p:spPr>
          <a:xfrm>
            <a:off x="5623560" y="3429000"/>
            <a:ext cx="3154680" cy="1005840"/>
          </a:xfrm>
          <a:prstGeom prst="rect">
            <a:avLst/>
          </a:prstGeom>
          <a:noFill/>
          <a:ln/>
        </p:spPr>
        <p:txBody>
          <a:bodyPr wrap="square" lIns="0" tIns="0" rIns="0" bIns="0" rtlCol="0" anchor="ctr"/>
          <a:lstStyle/>
          <a:p>
            <a:pPr marL="0" indent="0">
              <a:buNone/>
            </a:pPr>
            <a:r>
              <a:rPr lang="en-US" sz="1100" dirty="0">
                <a:solidFill>
                  <a:srgbClr val="E8F4FD"/>
                </a:solidFill>
                <a:latin typeface="Calibri" pitchFamily="34" charset="0"/>
                <a:ea typeface="Calibri" pitchFamily="34" charset="-122"/>
                <a:cs typeface="Calibri" pitchFamily="34" charset="-120"/>
              </a:rPr>
              <a:t>Phù hợp để đánh giá kiến trúc rời vs. mô hình multimodal pretrained.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411480" y="694944"/>
            <a:ext cx="8321040" cy="22860"/>
          </a:xfrm>
          <a:prstGeom prst="rect">
            <a:avLst/>
          </a:prstGeom>
          <a:solidFill>
            <a:srgbClr val="00B4D8"/>
          </a:solidFill>
          <a:ln w="12700">
            <a:solidFill>
              <a:srgbClr val="00B4D8"/>
            </a:solidFill>
            <a:prstDash val="solid"/>
          </a:ln>
        </p:spPr>
        <p:txBody>
          <a:bodyPr/>
          <a:lstStyle/>
          <a:p>
            <a:endParaRPr lang="en-US"/>
          </a:p>
        </p:txBody>
      </p:sp>
      <p:sp>
        <p:nvSpPr>
          <p:cNvPr id="3" name="Text 1"/>
          <p:cNvSpPr/>
          <p:nvPr/>
        </p:nvSpPr>
        <p:spPr>
          <a:xfrm>
            <a:off x="411480" y="256032"/>
            <a:ext cx="8321040" cy="502920"/>
          </a:xfrm>
          <a:prstGeom prst="rect">
            <a:avLst/>
          </a:prstGeom>
          <a:noFill/>
          <a:ln/>
        </p:spPr>
        <p:txBody>
          <a:bodyPr wrap="square" lIns="0" tIns="0" rIns="0" bIns="0" rtlCol="0" anchor="ctr"/>
          <a:lstStyle/>
          <a:p>
            <a:pPr marL="0" indent="0">
              <a:buNone/>
            </a:pPr>
            <a:r>
              <a:rPr lang="en-US" sz="2600" b="1" dirty="0">
                <a:solidFill>
                  <a:srgbClr val="00B4D8"/>
                </a:solidFill>
                <a:latin typeface="Calibri" pitchFamily="34" charset="0"/>
                <a:ea typeface="Calibri" pitchFamily="34" charset="-122"/>
                <a:cs typeface="Calibri" pitchFamily="34" charset="-120"/>
              </a:rPr>
              <a:t>3. Dataset</a:t>
            </a:r>
            <a:endParaRPr lang="en-US" sz="2600" dirty="0"/>
          </a:p>
        </p:txBody>
      </p:sp>
      <p:sp>
        <p:nvSpPr>
          <p:cNvPr id="4" name="Text 2"/>
          <p:cNvSpPr/>
          <p:nvPr/>
        </p:nvSpPr>
        <p:spPr>
          <a:xfrm>
            <a:off x="8046720" y="4846320"/>
            <a:ext cx="822960" cy="182880"/>
          </a:xfrm>
          <a:prstGeom prst="rect">
            <a:avLst/>
          </a:prstGeom>
          <a:noFill/>
          <a:ln/>
        </p:spPr>
        <p:txBody>
          <a:bodyPr wrap="square" lIns="0" tIns="0" rIns="0" bIns="0" rtlCol="0" anchor="ctr"/>
          <a:lstStyle/>
          <a:p>
            <a:pPr marL="0" indent="0" algn="r">
              <a:buNone/>
            </a:pPr>
            <a:r>
              <a:rPr lang="en-US" sz="900" dirty="0">
                <a:solidFill>
                  <a:srgbClr val="8DA0B3"/>
                </a:solidFill>
                <a:latin typeface="Calibri" pitchFamily="34" charset="0"/>
                <a:ea typeface="Calibri" pitchFamily="34" charset="-122"/>
                <a:cs typeface="Calibri" pitchFamily="34" charset="-120"/>
              </a:rPr>
              <a:t>3 / 15</a:t>
            </a:r>
            <a:endParaRPr lang="en-US" sz="900" dirty="0"/>
          </a:p>
        </p:txBody>
      </p:sp>
      <p:sp>
        <p:nvSpPr>
          <p:cNvPr id="5" name="Shape 3"/>
          <p:cNvSpPr/>
          <p:nvPr/>
        </p:nvSpPr>
        <p:spPr>
          <a:xfrm>
            <a:off x="411480" y="914400"/>
            <a:ext cx="2606040" cy="1280160"/>
          </a:xfrm>
          <a:prstGeom prst="rect">
            <a:avLst/>
          </a:prstGeom>
          <a:solidFill>
            <a:srgbClr val="132437"/>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6" name="Text 4"/>
          <p:cNvSpPr/>
          <p:nvPr/>
        </p:nvSpPr>
        <p:spPr>
          <a:xfrm>
            <a:off x="411480" y="1005840"/>
            <a:ext cx="2606040" cy="640080"/>
          </a:xfrm>
          <a:prstGeom prst="rect">
            <a:avLst/>
          </a:prstGeom>
          <a:noFill/>
          <a:ln/>
        </p:spPr>
        <p:txBody>
          <a:bodyPr wrap="square" lIns="0" tIns="0" rIns="0" bIns="0" rtlCol="0" anchor="ctr"/>
          <a:lstStyle/>
          <a:p>
            <a:pPr marL="0" indent="0" algn="ctr">
              <a:buNone/>
            </a:pPr>
            <a:r>
              <a:rPr lang="en-US" sz="3600" b="1" dirty="0">
                <a:solidFill>
                  <a:srgbClr val="00B4D8"/>
                </a:solidFill>
                <a:latin typeface="Calibri" pitchFamily="34" charset="0"/>
                <a:ea typeface="Calibri" pitchFamily="34" charset="-122"/>
                <a:cs typeface="Calibri" pitchFamily="34" charset="-120"/>
              </a:rPr>
              <a:t>258</a:t>
            </a:r>
            <a:endParaRPr lang="en-US" sz="3600" dirty="0"/>
          </a:p>
        </p:txBody>
      </p:sp>
      <p:sp>
        <p:nvSpPr>
          <p:cNvPr id="7" name="Text 5"/>
          <p:cNvSpPr/>
          <p:nvPr/>
        </p:nvSpPr>
        <p:spPr>
          <a:xfrm>
            <a:off x="411480" y="1645920"/>
            <a:ext cx="2606040" cy="320040"/>
          </a:xfrm>
          <a:prstGeom prst="rect">
            <a:avLst/>
          </a:prstGeom>
          <a:noFill/>
          <a:ln/>
        </p:spPr>
        <p:txBody>
          <a:bodyPr wrap="square" lIns="0" tIns="0" rIns="0" bIns="0" rtlCol="0" anchor="ctr"/>
          <a:lstStyle/>
          <a:p>
            <a:pPr marL="0" indent="0" algn="ctr">
              <a:buNone/>
            </a:pPr>
            <a:r>
              <a:rPr lang="en-US" sz="1100" dirty="0">
                <a:solidFill>
                  <a:srgbClr val="E8F4FD"/>
                </a:solidFill>
                <a:latin typeface="Calibri" pitchFamily="34" charset="0"/>
                <a:ea typeface="Calibri" pitchFamily="34" charset="-122"/>
                <a:cs typeface="Calibri" pitchFamily="34" charset="-120"/>
              </a:rPr>
              <a:t>Ảnh biển báo</a:t>
            </a:r>
            <a:endParaRPr lang="en-US" sz="1100" dirty="0"/>
          </a:p>
        </p:txBody>
      </p:sp>
      <p:sp>
        <p:nvSpPr>
          <p:cNvPr id="8" name="Shape 6"/>
          <p:cNvSpPr/>
          <p:nvPr/>
        </p:nvSpPr>
        <p:spPr>
          <a:xfrm>
            <a:off x="3246120" y="914400"/>
            <a:ext cx="2606040" cy="1280160"/>
          </a:xfrm>
          <a:prstGeom prst="rect">
            <a:avLst/>
          </a:prstGeom>
          <a:solidFill>
            <a:srgbClr val="132437"/>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9" name="Text 7"/>
          <p:cNvSpPr/>
          <p:nvPr/>
        </p:nvSpPr>
        <p:spPr>
          <a:xfrm>
            <a:off x="3246120" y="1005840"/>
            <a:ext cx="2606040" cy="640080"/>
          </a:xfrm>
          <a:prstGeom prst="rect">
            <a:avLst/>
          </a:prstGeom>
          <a:noFill/>
          <a:ln/>
        </p:spPr>
        <p:txBody>
          <a:bodyPr wrap="square" lIns="0" tIns="0" rIns="0" bIns="0" rtlCol="0" anchor="ctr"/>
          <a:lstStyle/>
          <a:p>
            <a:pPr marL="0" indent="0" algn="ctr">
              <a:buNone/>
            </a:pPr>
            <a:r>
              <a:rPr lang="en-US" sz="3600" b="1" dirty="0">
                <a:solidFill>
                  <a:srgbClr val="06D6A0"/>
                </a:solidFill>
                <a:latin typeface="Calibri" pitchFamily="34" charset="0"/>
                <a:ea typeface="Calibri" pitchFamily="34" charset="-122"/>
                <a:cs typeface="Calibri" pitchFamily="34" charset="-120"/>
              </a:rPr>
              <a:t>2,580</a:t>
            </a:r>
            <a:endParaRPr lang="en-US" sz="3600" dirty="0"/>
          </a:p>
        </p:txBody>
      </p:sp>
      <p:sp>
        <p:nvSpPr>
          <p:cNvPr id="10" name="Text 8"/>
          <p:cNvSpPr/>
          <p:nvPr/>
        </p:nvSpPr>
        <p:spPr>
          <a:xfrm>
            <a:off x="3246120" y="1645920"/>
            <a:ext cx="2606040" cy="320040"/>
          </a:xfrm>
          <a:prstGeom prst="rect">
            <a:avLst/>
          </a:prstGeom>
          <a:noFill/>
          <a:ln/>
        </p:spPr>
        <p:txBody>
          <a:bodyPr wrap="square" lIns="0" tIns="0" rIns="0" bIns="0" rtlCol="0" anchor="ctr"/>
          <a:lstStyle/>
          <a:p>
            <a:pPr marL="0" indent="0" algn="ctr">
              <a:buNone/>
            </a:pPr>
            <a:r>
              <a:rPr lang="en-US" sz="1100" dirty="0">
                <a:solidFill>
                  <a:srgbClr val="E8F4FD"/>
                </a:solidFill>
                <a:latin typeface="Calibri" pitchFamily="34" charset="0"/>
                <a:ea typeface="Calibri" pitchFamily="34" charset="-122"/>
                <a:cs typeface="Calibri" pitchFamily="34" charset="-120"/>
              </a:rPr>
              <a:t>Cặp QA</a:t>
            </a:r>
            <a:endParaRPr lang="en-US" sz="1100" dirty="0"/>
          </a:p>
        </p:txBody>
      </p:sp>
      <p:sp>
        <p:nvSpPr>
          <p:cNvPr id="11" name="Shape 9"/>
          <p:cNvSpPr/>
          <p:nvPr/>
        </p:nvSpPr>
        <p:spPr>
          <a:xfrm>
            <a:off x="6080760" y="914400"/>
            <a:ext cx="2606040" cy="1280160"/>
          </a:xfrm>
          <a:prstGeom prst="rect">
            <a:avLst/>
          </a:prstGeom>
          <a:solidFill>
            <a:srgbClr val="132437"/>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12" name="Text 10"/>
          <p:cNvSpPr/>
          <p:nvPr/>
        </p:nvSpPr>
        <p:spPr>
          <a:xfrm>
            <a:off x="6080760" y="1005840"/>
            <a:ext cx="2606040" cy="640080"/>
          </a:xfrm>
          <a:prstGeom prst="rect">
            <a:avLst/>
          </a:prstGeom>
          <a:noFill/>
          <a:ln/>
        </p:spPr>
        <p:txBody>
          <a:bodyPr wrap="square" lIns="0" tIns="0" rIns="0" bIns="0" rtlCol="0" anchor="ctr"/>
          <a:lstStyle/>
          <a:p>
            <a:pPr marL="0" indent="0" algn="ctr">
              <a:buNone/>
            </a:pPr>
            <a:r>
              <a:rPr lang="en-US" sz="3600" b="1" dirty="0">
                <a:solidFill>
                  <a:srgbClr val="FFB703"/>
                </a:solidFill>
                <a:latin typeface="Calibri" pitchFamily="34" charset="0"/>
                <a:ea typeface="Calibri" pitchFamily="34" charset="-122"/>
                <a:cs typeface="Calibri" pitchFamily="34" charset="-120"/>
              </a:rPr>
              <a:t>10</a:t>
            </a:r>
            <a:endParaRPr lang="en-US" sz="3600" dirty="0"/>
          </a:p>
        </p:txBody>
      </p:sp>
      <p:sp>
        <p:nvSpPr>
          <p:cNvPr id="13" name="Text 11"/>
          <p:cNvSpPr/>
          <p:nvPr/>
        </p:nvSpPr>
        <p:spPr>
          <a:xfrm>
            <a:off x="6080760" y="1645920"/>
            <a:ext cx="2606040" cy="320040"/>
          </a:xfrm>
          <a:prstGeom prst="rect">
            <a:avLst/>
          </a:prstGeom>
          <a:noFill/>
          <a:ln/>
        </p:spPr>
        <p:txBody>
          <a:bodyPr wrap="square" lIns="0" tIns="0" rIns="0" bIns="0" rtlCol="0" anchor="ctr"/>
          <a:lstStyle/>
          <a:p>
            <a:pPr marL="0" indent="0" algn="ctr">
              <a:buNone/>
            </a:pPr>
            <a:r>
              <a:rPr lang="en-US" sz="1100" dirty="0">
                <a:solidFill>
                  <a:srgbClr val="E8F4FD"/>
                </a:solidFill>
                <a:latin typeface="Calibri" pitchFamily="34" charset="0"/>
                <a:ea typeface="Calibri" pitchFamily="34" charset="-122"/>
                <a:cs typeface="Calibri" pitchFamily="34" charset="-120"/>
              </a:rPr>
              <a:t>QA / ảnh</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11480" y="2331720"/>
          <a:ext cx="8321040" cy="2011680"/>
        </p:xfrm>
        <a:graphic>
          <a:graphicData uri="http://schemas.openxmlformats.org/drawingml/2006/table">
            <a:tbl>
              <a:tblPr/>
              <a:tblGrid>
                <a:gridCol w="320040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402336">
                <a:tc>
                  <a:txBody>
                    <a:bodyPr/>
                    <a:lstStyle/>
                    <a:p>
                      <a:pPr marL="0" indent="0" algn="ctr">
                        <a:buNone/>
                      </a:pPr>
                      <a:r>
                        <a:rPr lang="en-US" sz="1200" b="1" dirty="0">
                          <a:solidFill>
                            <a:srgbClr val="FFFFFF"/>
                          </a:solidFill>
                        </a:rPr>
                        <a:t>Split</a:t>
                      </a:r>
                      <a:endParaRPr lang="en-US" sz="1200" dirty="0"/>
                    </a:p>
                  </a:txBody>
                  <a:tcPr>
                    <a:lnL w="6350" cap="flat" cmpd="sng" algn="ctr">
                      <a:solidFill>
                        <a:srgbClr val="0077B6"/>
                      </a:solidFill>
                      <a:prstDash val="solid"/>
                      <a:round/>
                      <a:headEnd type="none" w="med" len="med"/>
                      <a:tailEnd type="none" w="med" len="med"/>
                    </a:lnL>
                    <a:lnR w="6350" cap="flat" cmpd="sng" algn="ctr">
                      <a:solidFill>
                        <a:srgbClr val="0077B6"/>
                      </a:solidFill>
                      <a:prstDash val="solid"/>
                      <a:round/>
                      <a:headEnd type="none" w="med" len="med"/>
                      <a:tailEnd type="none" w="med" len="med"/>
                    </a:lnR>
                    <a:lnT w="6350" cap="flat" cmpd="sng" algn="ctr">
                      <a:solidFill>
                        <a:srgbClr val="0077B6"/>
                      </a:solidFill>
                      <a:prstDash val="solid"/>
                      <a:round/>
                      <a:headEnd type="none" w="med" len="med"/>
                      <a:tailEnd type="none" w="med" len="med"/>
                    </a:lnT>
                    <a:lnB w="6350" cap="flat" cmpd="sng" algn="ctr">
                      <a:solidFill>
                        <a:srgbClr val="0077B6"/>
                      </a:solidFill>
                      <a:prstDash val="solid"/>
                      <a:round/>
                      <a:headEnd type="none" w="med" len="med"/>
                      <a:tailEnd type="none" w="med" len="med"/>
                    </a:lnB>
                    <a:solidFill>
                      <a:srgbClr val="0077B6"/>
                    </a:solidFill>
                  </a:tcPr>
                </a:tc>
                <a:tc>
                  <a:txBody>
                    <a:bodyPr/>
                    <a:lstStyle/>
                    <a:p>
                      <a:pPr marL="0" indent="0" algn="ctr">
                        <a:buNone/>
                      </a:pPr>
                      <a:r>
                        <a:rPr lang="en-US" sz="1200" b="1" dirty="0">
                          <a:solidFill>
                            <a:srgbClr val="FFFFFF"/>
                          </a:solidFill>
                        </a:rPr>
                        <a:t>Số ảnh</a:t>
                      </a:r>
                      <a:endParaRPr lang="en-US" sz="1200" dirty="0"/>
                    </a:p>
                  </a:txBody>
                  <a:tcPr>
                    <a:lnL w="6350" cap="flat" cmpd="sng" algn="ctr">
                      <a:solidFill>
                        <a:srgbClr val="0077B6"/>
                      </a:solidFill>
                      <a:prstDash val="solid"/>
                      <a:round/>
                      <a:headEnd type="none" w="med" len="med"/>
                      <a:tailEnd type="none" w="med" len="med"/>
                    </a:lnL>
                    <a:lnR w="6350" cap="flat" cmpd="sng" algn="ctr">
                      <a:solidFill>
                        <a:srgbClr val="0077B6"/>
                      </a:solidFill>
                      <a:prstDash val="solid"/>
                      <a:round/>
                      <a:headEnd type="none" w="med" len="med"/>
                      <a:tailEnd type="none" w="med" len="med"/>
                    </a:lnR>
                    <a:lnT w="6350" cap="flat" cmpd="sng" algn="ctr">
                      <a:solidFill>
                        <a:srgbClr val="0077B6"/>
                      </a:solidFill>
                      <a:prstDash val="solid"/>
                      <a:round/>
                      <a:headEnd type="none" w="med" len="med"/>
                      <a:tailEnd type="none" w="med" len="med"/>
                    </a:lnT>
                    <a:lnB w="6350" cap="flat" cmpd="sng" algn="ctr">
                      <a:solidFill>
                        <a:srgbClr val="0077B6"/>
                      </a:solidFill>
                      <a:prstDash val="solid"/>
                      <a:round/>
                      <a:headEnd type="none" w="med" len="med"/>
                      <a:tailEnd type="none" w="med" len="med"/>
                    </a:lnB>
                    <a:solidFill>
                      <a:srgbClr val="0077B6"/>
                    </a:solidFill>
                  </a:tcPr>
                </a:tc>
                <a:tc>
                  <a:txBody>
                    <a:bodyPr/>
                    <a:lstStyle/>
                    <a:p>
                      <a:pPr marL="0" indent="0" algn="ctr">
                        <a:buNone/>
                      </a:pPr>
                      <a:r>
                        <a:rPr lang="en-US" sz="1200" b="1" dirty="0">
                          <a:solidFill>
                            <a:srgbClr val="FFFFFF"/>
                          </a:solidFill>
                        </a:rPr>
                        <a:t>Số QA</a:t>
                      </a:r>
                      <a:endParaRPr lang="en-US" sz="1200" dirty="0"/>
                    </a:p>
                  </a:txBody>
                  <a:tcPr>
                    <a:lnL w="6350" cap="flat" cmpd="sng" algn="ctr">
                      <a:solidFill>
                        <a:srgbClr val="0077B6"/>
                      </a:solidFill>
                      <a:prstDash val="solid"/>
                      <a:round/>
                      <a:headEnd type="none" w="med" len="med"/>
                      <a:tailEnd type="none" w="med" len="med"/>
                    </a:lnL>
                    <a:lnR w="6350" cap="flat" cmpd="sng" algn="ctr">
                      <a:solidFill>
                        <a:srgbClr val="0077B6"/>
                      </a:solidFill>
                      <a:prstDash val="solid"/>
                      <a:round/>
                      <a:headEnd type="none" w="med" len="med"/>
                      <a:tailEnd type="none" w="med" len="med"/>
                    </a:lnR>
                    <a:lnT w="6350" cap="flat" cmpd="sng" algn="ctr">
                      <a:solidFill>
                        <a:srgbClr val="0077B6"/>
                      </a:solidFill>
                      <a:prstDash val="solid"/>
                      <a:round/>
                      <a:headEnd type="none" w="med" len="med"/>
                      <a:tailEnd type="none" w="med" len="med"/>
                    </a:lnT>
                    <a:lnB w="6350" cap="flat" cmpd="sng" algn="ctr">
                      <a:solidFill>
                        <a:srgbClr val="0077B6"/>
                      </a:solidFill>
                      <a:prstDash val="solid"/>
                      <a:round/>
                      <a:headEnd type="none" w="med" len="med"/>
                      <a:tailEnd type="none" w="med" len="med"/>
                    </a:lnB>
                    <a:solidFill>
                      <a:srgbClr val="0077B6"/>
                    </a:solidFill>
                  </a:tcPr>
                </a:tc>
                <a:extLst>
                  <a:ext uri="{0D108BD9-81ED-4DB2-BD59-A6C34878D82A}">
                    <a16:rowId xmlns:a16="http://schemas.microsoft.com/office/drawing/2014/main" val="10000"/>
                  </a:ext>
                </a:extLst>
              </a:tr>
              <a:tr h="402336">
                <a:tc>
                  <a:txBody>
                    <a:bodyPr/>
                    <a:lstStyle/>
                    <a:p>
                      <a:pPr marL="0" indent="0" algn="l">
                        <a:buNone/>
                      </a:pPr>
                      <a:r>
                        <a:rPr lang="en-US" sz="1200" dirty="0">
                          <a:solidFill>
                            <a:srgbClr val="E8F4FD"/>
                          </a:solidFill>
                        </a:rPr>
                        <a:t>Train</a:t>
                      </a:r>
                      <a:endParaRPr lang="en-US" sz="1200" dirty="0"/>
                    </a:p>
                  </a:txBody>
                  <a:tcPr>
                    <a:lnL w="6350" cap="flat" cmpd="sng" algn="ctr">
                      <a:solidFill>
                        <a:srgbClr val="0077B6"/>
                      </a:solidFill>
                      <a:prstDash val="solid"/>
                      <a:round/>
                      <a:headEnd type="none" w="med" len="med"/>
                      <a:tailEnd type="none" w="med" len="med"/>
                    </a:lnL>
                    <a:lnR w="6350" cap="flat" cmpd="sng" algn="ctr">
                      <a:solidFill>
                        <a:srgbClr val="0077B6"/>
                      </a:solidFill>
                      <a:prstDash val="solid"/>
                      <a:round/>
                      <a:headEnd type="none" w="med" len="med"/>
                      <a:tailEnd type="none" w="med" len="med"/>
                    </a:lnR>
                    <a:lnT w="6350" cap="flat" cmpd="sng" algn="ctr">
                      <a:solidFill>
                        <a:srgbClr val="0077B6"/>
                      </a:solidFill>
                      <a:prstDash val="solid"/>
                      <a:round/>
                      <a:headEnd type="none" w="med" len="med"/>
                      <a:tailEnd type="none" w="med" len="med"/>
                    </a:lnT>
                    <a:lnB w="6350" cap="flat" cmpd="sng" algn="ctr">
                      <a:solidFill>
                        <a:srgbClr val="0077B6"/>
                      </a:solidFill>
                      <a:prstDash val="solid"/>
                      <a:round/>
                      <a:headEnd type="none" w="med" len="med"/>
                      <a:tailEnd type="none" w="med" len="med"/>
                    </a:lnB>
                    <a:solidFill>
                      <a:srgbClr val="132437"/>
                    </a:solidFill>
                  </a:tcPr>
                </a:tc>
                <a:tc>
                  <a:txBody>
                    <a:bodyPr/>
                    <a:lstStyle/>
                    <a:p>
                      <a:pPr marL="0" indent="0" algn="ctr">
                        <a:buNone/>
                      </a:pPr>
                      <a:r>
                        <a:rPr lang="en-US" sz="1200" dirty="0">
                          <a:solidFill>
                            <a:srgbClr val="D4E5F2"/>
                          </a:solidFill>
                        </a:rPr>
                        <a:t>206</a:t>
                      </a:r>
                      <a:endParaRPr lang="en-US" sz="1200" dirty="0"/>
                    </a:p>
                  </a:txBody>
                  <a:tcPr>
                    <a:lnL w="6350" cap="flat" cmpd="sng" algn="ctr">
                      <a:solidFill>
                        <a:srgbClr val="0077B6"/>
                      </a:solidFill>
                      <a:prstDash val="solid"/>
                      <a:round/>
                      <a:headEnd type="none" w="med" len="med"/>
                      <a:tailEnd type="none" w="med" len="med"/>
                    </a:lnL>
                    <a:lnR w="6350" cap="flat" cmpd="sng" algn="ctr">
                      <a:solidFill>
                        <a:srgbClr val="0077B6"/>
                      </a:solidFill>
                      <a:prstDash val="solid"/>
                      <a:round/>
                      <a:headEnd type="none" w="med" len="med"/>
                      <a:tailEnd type="none" w="med" len="med"/>
                    </a:lnR>
                    <a:lnT w="6350" cap="flat" cmpd="sng" algn="ctr">
                      <a:solidFill>
                        <a:srgbClr val="0077B6"/>
                      </a:solidFill>
                      <a:prstDash val="solid"/>
                      <a:round/>
                      <a:headEnd type="none" w="med" len="med"/>
                      <a:tailEnd type="none" w="med" len="med"/>
                    </a:lnT>
                    <a:lnB w="6350" cap="flat" cmpd="sng" algn="ctr">
                      <a:solidFill>
                        <a:srgbClr val="0077B6"/>
                      </a:solidFill>
                      <a:prstDash val="solid"/>
                      <a:round/>
                      <a:headEnd type="none" w="med" len="med"/>
                      <a:tailEnd type="none" w="med" len="med"/>
                    </a:lnB>
                    <a:solidFill>
                      <a:srgbClr val="132437"/>
                    </a:solidFill>
                  </a:tcPr>
                </a:tc>
                <a:tc>
                  <a:txBody>
                    <a:bodyPr/>
                    <a:lstStyle/>
                    <a:p>
                      <a:pPr marL="0" indent="0" algn="ctr">
                        <a:buNone/>
                      </a:pPr>
                      <a:r>
                        <a:rPr lang="en-US" sz="1200" dirty="0">
                          <a:solidFill>
                            <a:srgbClr val="D4E5F2"/>
                          </a:solidFill>
                        </a:rPr>
                        <a:t>2,060</a:t>
                      </a:r>
                      <a:endParaRPr lang="en-US" sz="1200" dirty="0"/>
                    </a:p>
                  </a:txBody>
                  <a:tcPr>
                    <a:lnL w="6350" cap="flat" cmpd="sng" algn="ctr">
                      <a:solidFill>
                        <a:srgbClr val="0077B6"/>
                      </a:solidFill>
                      <a:prstDash val="solid"/>
                      <a:round/>
                      <a:headEnd type="none" w="med" len="med"/>
                      <a:tailEnd type="none" w="med" len="med"/>
                    </a:lnL>
                    <a:lnR w="6350" cap="flat" cmpd="sng" algn="ctr">
                      <a:solidFill>
                        <a:srgbClr val="0077B6"/>
                      </a:solidFill>
                      <a:prstDash val="solid"/>
                      <a:round/>
                      <a:headEnd type="none" w="med" len="med"/>
                      <a:tailEnd type="none" w="med" len="med"/>
                    </a:lnR>
                    <a:lnT w="6350" cap="flat" cmpd="sng" algn="ctr">
                      <a:solidFill>
                        <a:srgbClr val="0077B6"/>
                      </a:solidFill>
                      <a:prstDash val="solid"/>
                      <a:round/>
                      <a:headEnd type="none" w="med" len="med"/>
                      <a:tailEnd type="none" w="med" len="med"/>
                    </a:lnT>
                    <a:lnB w="6350" cap="flat" cmpd="sng" algn="ctr">
                      <a:solidFill>
                        <a:srgbClr val="0077B6"/>
                      </a:solidFill>
                      <a:prstDash val="solid"/>
                      <a:round/>
                      <a:headEnd type="none" w="med" len="med"/>
                      <a:tailEnd type="none" w="med" len="med"/>
                    </a:lnB>
                    <a:solidFill>
                      <a:srgbClr val="132437"/>
                    </a:solidFill>
                  </a:tcPr>
                </a:tc>
                <a:extLst>
                  <a:ext uri="{0D108BD9-81ED-4DB2-BD59-A6C34878D82A}">
                    <a16:rowId xmlns:a16="http://schemas.microsoft.com/office/drawing/2014/main" val="10001"/>
                  </a:ext>
                </a:extLst>
              </a:tr>
              <a:tr h="402336">
                <a:tc>
                  <a:txBody>
                    <a:bodyPr/>
                    <a:lstStyle/>
                    <a:p>
                      <a:pPr marL="0" indent="0" algn="l">
                        <a:buNone/>
                      </a:pPr>
                      <a:r>
                        <a:rPr lang="en-US" sz="1200" dirty="0">
                          <a:solidFill>
                            <a:srgbClr val="E8F4FD"/>
                          </a:solidFill>
                        </a:rPr>
                        <a:t>Validation</a:t>
                      </a:r>
                      <a:endParaRPr lang="en-US" sz="1200" dirty="0"/>
                    </a:p>
                  </a:txBody>
                  <a:tcPr>
                    <a:lnL w="6350" cap="flat" cmpd="sng" algn="ctr">
                      <a:solidFill>
                        <a:srgbClr val="0077B6"/>
                      </a:solidFill>
                      <a:prstDash val="solid"/>
                      <a:round/>
                      <a:headEnd type="none" w="med" len="med"/>
                      <a:tailEnd type="none" w="med" len="med"/>
                    </a:lnL>
                    <a:lnR w="6350" cap="flat" cmpd="sng" algn="ctr">
                      <a:solidFill>
                        <a:srgbClr val="0077B6"/>
                      </a:solidFill>
                      <a:prstDash val="solid"/>
                      <a:round/>
                      <a:headEnd type="none" w="med" len="med"/>
                      <a:tailEnd type="none" w="med" len="med"/>
                    </a:lnR>
                    <a:lnT w="6350" cap="flat" cmpd="sng" algn="ctr">
                      <a:solidFill>
                        <a:srgbClr val="0077B6"/>
                      </a:solidFill>
                      <a:prstDash val="solid"/>
                      <a:round/>
                      <a:headEnd type="none" w="med" len="med"/>
                      <a:tailEnd type="none" w="med" len="med"/>
                    </a:lnT>
                    <a:lnB w="6350" cap="flat" cmpd="sng" algn="ctr">
                      <a:solidFill>
                        <a:srgbClr val="0077B6"/>
                      </a:solidFill>
                      <a:prstDash val="solid"/>
                      <a:round/>
                      <a:headEnd type="none" w="med" len="med"/>
                      <a:tailEnd type="none" w="med" len="med"/>
                    </a:lnB>
                    <a:solidFill>
                      <a:srgbClr val="1B2A3D"/>
                    </a:solidFill>
                  </a:tcPr>
                </a:tc>
                <a:tc>
                  <a:txBody>
                    <a:bodyPr/>
                    <a:lstStyle/>
                    <a:p>
                      <a:pPr marL="0" indent="0" algn="ctr">
                        <a:buNone/>
                      </a:pPr>
                      <a:r>
                        <a:rPr lang="en-US" sz="1200" dirty="0">
                          <a:solidFill>
                            <a:srgbClr val="D4E5F2"/>
                          </a:solidFill>
                        </a:rPr>
                        <a:t>25</a:t>
                      </a:r>
                      <a:endParaRPr lang="en-US" sz="1200" dirty="0"/>
                    </a:p>
                  </a:txBody>
                  <a:tcPr>
                    <a:lnL w="6350" cap="flat" cmpd="sng" algn="ctr">
                      <a:solidFill>
                        <a:srgbClr val="0077B6"/>
                      </a:solidFill>
                      <a:prstDash val="solid"/>
                      <a:round/>
                      <a:headEnd type="none" w="med" len="med"/>
                      <a:tailEnd type="none" w="med" len="med"/>
                    </a:lnL>
                    <a:lnR w="6350" cap="flat" cmpd="sng" algn="ctr">
                      <a:solidFill>
                        <a:srgbClr val="0077B6"/>
                      </a:solidFill>
                      <a:prstDash val="solid"/>
                      <a:round/>
                      <a:headEnd type="none" w="med" len="med"/>
                      <a:tailEnd type="none" w="med" len="med"/>
                    </a:lnR>
                    <a:lnT w="6350" cap="flat" cmpd="sng" algn="ctr">
                      <a:solidFill>
                        <a:srgbClr val="0077B6"/>
                      </a:solidFill>
                      <a:prstDash val="solid"/>
                      <a:round/>
                      <a:headEnd type="none" w="med" len="med"/>
                      <a:tailEnd type="none" w="med" len="med"/>
                    </a:lnT>
                    <a:lnB w="6350" cap="flat" cmpd="sng" algn="ctr">
                      <a:solidFill>
                        <a:srgbClr val="0077B6"/>
                      </a:solidFill>
                      <a:prstDash val="solid"/>
                      <a:round/>
                      <a:headEnd type="none" w="med" len="med"/>
                      <a:tailEnd type="none" w="med" len="med"/>
                    </a:lnB>
                    <a:solidFill>
                      <a:srgbClr val="1B2A3D"/>
                    </a:solidFill>
                  </a:tcPr>
                </a:tc>
                <a:tc>
                  <a:txBody>
                    <a:bodyPr/>
                    <a:lstStyle/>
                    <a:p>
                      <a:pPr marL="0" indent="0" algn="ctr">
                        <a:buNone/>
                      </a:pPr>
                      <a:r>
                        <a:rPr lang="en-US" sz="1200" dirty="0">
                          <a:solidFill>
                            <a:srgbClr val="D4E5F2"/>
                          </a:solidFill>
                        </a:rPr>
                        <a:t>250</a:t>
                      </a:r>
                      <a:endParaRPr lang="en-US" sz="1200" dirty="0"/>
                    </a:p>
                  </a:txBody>
                  <a:tcPr>
                    <a:lnL w="6350" cap="flat" cmpd="sng" algn="ctr">
                      <a:solidFill>
                        <a:srgbClr val="0077B6"/>
                      </a:solidFill>
                      <a:prstDash val="solid"/>
                      <a:round/>
                      <a:headEnd type="none" w="med" len="med"/>
                      <a:tailEnd type="none" w="med" len="med"/>
                    </a:lnL>
                    <a:lnR w="6350" cap="flat" cmpd="sng" algn="ctr">
                      <a:solidFill>
                        <a:srgbClr val="0077B6"/>
                      </a:solidFill>
                      <a:prstDash val="solid"/>
                      <a:round/>
                      <a:headEnd type="none" w="med" len="med"/>
                      <a:tailEnd type="none" w="med" len="med"/>
                    </a:lnR>
                    <a:lnT w="6350" cap="flat" cmpd="sng" algn="ctr">
                      <a:solidFill>
                        <a:srgbClr val="0077B6"/>
                      </a:solidFill>
                      <a:prstDash val="solid"/>
                      <a:round/>
                      <a:headEnd type="none" w="med" len="med"/>
                      <a:tailEnd type="none" w="med" len="med"/>
                    </a:lnT>
                    <a:lnB w="6350" cap="flat" cmpd="sng" algn="ctr">
                      <a:solidFill>
                        <a:srgbClr val="0077B6"/>
                      </a:solidFill>
                      <a:prstDash val="solid"/>
                      <a:round/>
                      <a:headEnd type="none" w="med" len="med"/>
                      <a:tailEnd type="none" w="med" len="med"/>
                    </a:lnB>
                    <a:solidFill>
                      <a:srgbClr val="1B2A3D"/>
                    </a:solidFill>
                  </a:tcPr>
                </a:tc>
                <a:extLst>
                  <a:ext uri="{0D108BD9-81ED-4DB2-BD59-A6C34878D82A}">
                    <a16:rowId xmlns:a16="http://schemas.microsoft.com/office/drawing/2014/main" val="10002"/>
                  </a:ext>
                </a:extLst>
              </a:tr>
              <a:tr h="402336">
                <a:tc>
                  <a:txBody>
                    <a:bodyPr/>
                    <a:lstStyle/>
                    <a:p>
                      <a:pPr marL="0" indent="0" algn="l">
                        <a:buNone/>
                      </a:pPr>
                      <a:r>
                        <a:rPr lang="en-US" sz="1200" dirty="0">
                          <a:solidFill>
                            <a:srgbClr val="E8F4FD"/>
                          </a:solidFill>
                        </a:rPr>
                        <a:t>Test</a:t>
                      </a:r>
                      <a:endParaRPr lang="en-US" sz="1200" dirty="0"/>
                    </a:p>
                  </a:txBody>
                  <a:tcPr>
                    <a:lnL w="6350" cap="flat" cmpd="sng" algn="ctr">
                      <a:solidFill>
                        <a:srgbClr val="0077B6"/>
                      </a:solidFill>
                      <a:prstDash val="solid"/>
                      <a:round/>
                      <a:headEnd type="none" w="med" len="med"/>
                      <a:tailEnd type="none" w="med" len="med"/>
                    </a:lnL>
                    <a:lnR w="6350" cap="flat" cmpd="sng" algn="ctr">
                      <a:solidFill>
                        <a:srgbClr val="0077B6"/>
                      </a:solidFill>
                      <a:prstDash val="solid"/>
                      <a:round/>
                      <a:headEnd type="none" w="med" len="med"/>
                      <a:tailEnd type="none" w="med" len="med"/>
                    </a:lnR>
                    <a:lnT w="6350" cap="flat" cmpd="sng" algn="ctr">
                      <a:solidFill>
                        <a:srgbClr val="0077B6"/>
                      </a:solidFill>
                      <a:prstDash val="solid"/>
                      <a:round/>
                      <a:headEnd type="none" w="med" len="med"/>
                      <a:tailEnd type="none" w="med" len="med"/>
                    </a:lnT>
                    <a:lnB w="6350" cap="flat" cmpd="sng" algn="ctr">
                      <a:solidFill>
                        <a:srgbClr val="0077B6"/>
                      </a:solidFill>
                      <a:prstDash val="solid"/>
                      <a:round/>
                      <a:headEnd type="none" w="med" len="med"/>
                      <a:tailEnd type="none" w="med" len="med"/>
                    </a:lnB>
                    <a:solidFill>
                      <a:srgbClr val="132437"/>
                    </a:solidFill>
                  </a:tcPr>
                </a:tc>
                <a:tc>
                  <a:txBody>
                    <a:bodyPr/>
                    <a:lstStyle/>
                    <a:p>
                      <a:pPr marL="0" indent="0" algn="ctr">
                        <a:buNone/>
                      </a:pPr>
                      <a:r>
                        <a:rPr lang="en-US" sz="1200" dirty="0">
                          <a:solidFill>
                            <a:srgbClr val="D4E5F2"/>
                          </a:solidFill>
                        </a:rPr>
                        <a:t>27</a:t>
                      </a:r>
                      <a:endParaRPr lang="en-US" sz="1200" dirty="0"/>
                    </a:p>
                  </a:txBody>
                  <a:tcPr>
                    <a:lnL w="6350" cap="flat" cmpd="sng" algn="ctr">
                      <a:solidFill>
                        <a:srgbClr val="0077B6"/>
                      </a:solidFill>
                      <a:prstDash val="solid"/>
                      <a:round/>
                      <a:headEnd type="none" w="med" len="med"/>
                      <a:tailEnd type="none" w="med" len="med"/>
                    </a:lnL>
                    <a:lnR w="6350" cap="flat" cmpd="sng" algn="ctr">
                      <a:solidFill>
                        <a:srgbClr val="0077B6"/>
                      </a:solidFill>
                      <a:prstDash val="solid"/>
                      <a:round/>
                      <a:headEnd type="none" w="med" len="med"/>
                      <a:tailEnd type="none" w="med" len="med"/>
                    </a:lnR>
                    <a:lnT w="6350" cap="flat" cmpd="sng" algn="ctr">
                      <a:solidFill>
                        <a:srgbClr val="0077B6"/>
                      </a:solidFill>
                      <a:prstDash val="solid"/>
                      <a:round/>
                      <a:headEnd type="none" w="med" len="med"/>
                      <a:tailEnd type="none" w="med" len="med"/>
                    </a:lnT>
                    <a:lnB w="6350" cap="flat" cmpd="sng" algn="ctr">
                      <a:solidFill>
                        <a:srgbClr val="0077B6"/>
                      </a:solidFill>
                      <a:prstDash val="solid"/>
                      <a:round/>
                      <a:headEnd type="none" w="med" len="med"/>
                      <a:tailEnd type="none" w="med" len="med"/>
                    </a:lnB>
                    <a:solidFill>
                      <a:srgbClr val="132437"/>
                    </a:solidFill>
                  </a:tcPr>
                </a:tc>
                <a:tc>
                  <a:txBody>
                    <a:bodyPr/>
                    <a:lstStyle/>
                    <a:p>
                      <a:pPr marL="0" indent="0" algn="ctr">
                        <a:buNone/>
                      </a:pPr>
                      <a:r>
                        <a:rPr lang="en-US" sz="1200" dirty="0">
                          <a:solidFill>
                            <a:srgbClr val="D4E5F2"/>
                          </a:solidFill>
                        </a:rPr>
                        <a:t>270</a:t>
                      </a:r>
                      <a:endParaRPr lang="en-US" sz="1200" dirty="0"/>
                    </a:p>
                  </a:txBody>
                  <a:tcPr>
                    <a:lnL w="6350" cap="flat" cmpd="sng" algn="ctr">
                      <a:solidFill>
                        <a:srgbClr val="0077B6"/>
                      </a:solidFill>
                      <a:prstDash val="solid"/>
                      <a:round/>
                      <a:headEnd type="none" w="med" len="med"/>
                      <a:tailEnd type="none" w="med" len="med"/>
                    </a:lnL>
                    <a:lnR w="6350" cap="flat" cmpd="sng" algn="ctr">
                      <a:solidFill>
                        <a:srgbClr val="0077B6"/>
                      </a:solidFill>
                      <a:prstDash val="solid"/>
                      <a:round/>
                      <a:headEnd type="none" w="med" len="med"/>
                      <a:tailEnd type="none" w="med" len="med"/>
                    </a:lnR>
                    <a:lnT w="6350" cap="flat" cmpd="sng" algn="ctr">
                      <a:solidFill>
                        <a:srgbClr val="0077B6"/>
                      </a:solidFill>
                      <a:prstDash val="solid"/>
                      <a:round/>
                      <a:headEnd type="none" w="med" len="med"/>
                      <a:tailEnd type="none" w="med" len="med"/>
                    </a:lnT>
                    <a:lnB w="6350" cap="flat" cmpd="sng" algn="ctr">
                      <a:solidFill>
                        <a:srgbClr val="0077B6"/>
                      </a:solidFill>
                      <a:prstDash val="solid"/>
                      <a:round/>
                      <a:headEnd type="none" w="med" len="med"/>
                      <a:tailEnd type="none" w="med" len="med"/>
                    </a:lnB>
                    <a:solidFill>
                      <a:srgbClr val="132437"/>
                    </a:solidFill>
                  </a:tcPr>
                </a:tc>
                <a:extLst>
                  <a:ext uri="{0D108BD9-81ED-4DB2-BD59-A6C34878D82A}">
                    <a16:rowId xmlns:a16="http://schemas.microsoft.com/office/drawing/2014/main" val="10003"/>
                  </a:ext>
                </a:extLst>
              </a:tr>
              <a:tr h="402336">
                <a:tc>
                  <a:txBody>
                    <a:bodyPr/>
                    <a:lstStyle/>
                    <a:p>
                      <a:pPr marL="0" indent="0" algn="l">
                        <a:buNone/>
                      </a:pPr>
                      <a:r>
                        <a:rPr lang="en-US" sz="1200" b="1" dirty="0">
                          <a:solidFill>
                            <a:srgbClr val="00B4D8"/>
                          </a:solidFill>
                        </a:rPr>
                        <a:t>Tổng</a:t>
                      </a:r>
                      <a:endParaRPr lang="en-US" sz="1200" dirty="0"/>
                    </a:p>
                  </a:txBody>
                  <a:tcPr>
                    <a:lnL w="6350" cap="flat" cmpd="sng" algn="ctr">
                      <a:solidFill>
                        <a:srgbClr val="0077B6"/>
                      </a:solidFill>
                      <a:prstDash val="solid"/>
                      <a:round/>
                      <a:headEnd type="none" w="med" len="med"/>
                      <a:tailEnd type="none" w="med" len="med"/>
                    </a:lnL>
                    <a:lnR w="6350" cap="flat" cmpd="sng" algn="ctr">
                      <a:solidFill>
                        <a:srgbClr val="0077B6"/>
                      </a:solidFill>
                      <a:prstDash val="solid"/>
                      <a:round/>
                      <a:headEnd type="none" w="med" len="med"/>
                      <a:tailEnd type="none" w="med" len="med"/>
                    </a:lnR>
                    <a:lnT w="6350" cap="flat" cmpd="sng" algn="ctr">
                      <a:solidFill>
                        <a:srgbClr val="0077B6"/>
                      </a:solidFill>
                      <a:prstDash val="solid"/>
                      <a:round/>
                      <a:headEnd type="none" w="med" len="med"/>
                      <a:tailEnd type="none" w="med" len="med"/>
                    </a:lnT>
                    <a:lnB w="6350" cap="flat" cmpd="sng" algn="ctr">
                      <a:solidFill>
                        <a:srgbClr val="0077B6"/>
                      </a:solidFill>
                      <a:prstDash val="solid"/>
                      <a:round/>
                      <a:headEnd type="none" w="med" len="med"/>
                      <a:tailEnd type="none" w="med" len="med"/>
                    </a:lnB>
                    <a:solidFill>
                      <a:srgbClr val="0D2237"/>
                    </a:solidFill>
                  </a:tcPr>
                </a:tc>
                <a:tc>
                  <a:txBody>
                    <a:bodyPr/>
                    <a:lstStyle/>
                    <a:p>
                      <a:pPr marL="0" indent="0" algn="ctr">
                        <a:buNone/>
                      </a:pPr>
                      <a:r>
                        <a:rPr lang="en-US" sz="1200" b="1" dirty="0">
                          <a:solidFill>
                            <a:srgbClr val="00B4D8"/>
                          </a:solidFill>
                        </a:rPr>
                        <a:t>258</a:t>
                      </a:r>
                      <a:endParaRPr lang="en-US" sz="1200" dirty="0"/>
                    </a:p>
                  </a:txBody>
                  <a:tcPr>
                    <a:lnL w="6350" cap="flat" cmpd="sng" algn="ctr">
                      <a:solidFill>
                        <a:srgbClr val="0077B6"/>
                      </a:solidFill>
                      <a:prstDash val="solid"/>
                      <a:round/>
                      <a:headEnd type="none" w="med" len="med"/>
                      <a:tailEnd type="none" w="med" len="med"/>
                    </a:lnL>
                    <a:lnR w="6350" cap="flat" cmpd="sng" algn="ctr">
                      <a:solidFill>
                        <a:srgbClr val="0077B6"/>
                      </a:solidFill>
                      <a:prstDash val="solid"/>
                      <a:round/>
                      <a:headEnd type="none" w="med" len="med"/>
                      <a:tailEnd type="none" w="med" len="med"/>
                    </a:lnR>
                    <a:lnT w="6350" cap="flat" cmpd="sng" algn="ctr">
                      <a:solidFill>
                        <a:srgbClr val="0077B6"/>
                      </a:solidFill>
                      <a:prstDash val="solid"/>
                      <a:round/>
                      <a:headEnd type="none" w="med" len="med"/>
                      <a:tailEnd type="none" w="med" len="med"/>
                    </a:lnT>
                    <a:lnB w="6350" cap="flat" cmpd="sng" algn="ctr">
                      <a:solidFill>
                        <a:srgbClr val="0077B6"/>
                      </a:solidFill>
                      <a:prstDash val="solid"/>
                      <a:round/>
                      <a:headEnd type="none" w="med" len="med"/>
                      <a:tailEnd type="none" w="med" len="med"/>
                    </a:lnB>
                    <a:solidFill>
                      <a:srgbClr val="0D2237"/>
                    </a:solidFill>
                  </a:tcPr>
                </a:tc>
                <a:tc>
                  <a:txBody>
                    <a:bodyPr/>
                    <a:lstStyle/>
                    <a:p>
                      <a:pPr marL="0" indent="0" algn="ctr">
                        <a:buNone/>
                      </a:pPr>
                      <a:r>
                        <a:rPr lang="en-US" sz="1200" b="1" dirty="0">
                          <a:solidFill>
                            <a:srgbClr val="00B4D8"/>
                          </a:solidFill>
                        </a:rPr>
                        <a:t>2,580</a:t>
                      </a:r>
                      <a:endParaRPr lang="en-US" sz="1200" dirty="0"/>
                    </a:p>
                  </a:txBody>
                  <a:tcPr>
                    <a:lnL w="6350" cap="flat" cmpd="sng" algn="ctr">
                      <a:solidFill>
                        <a:srgbClr val="0077B6"/>
                      </a:solidFill>
                      <a:prstDash val="solid"/>
                      <a:round/>
                      <a:headEnd type="none" w="med" len="med"/>
                      <a:tailEnd type="none" w="med" len="med"/>
                    </a:lnL>
                    <a:lnR w="6350" cap="flat" cmpd="sng" algn="ctr">
                      <a:solidFill>
                        <a:srgbClr val="0077B6"/>
                      </a:solidFill>
                      <a:prstDash val="solid"/>
                      <a:round/>
                      <a:headEnd type="none" w="med" len="med"/>
                      <a:tailEnd type="none" w="med" len="med"/>
                    </a:lnR>
                    <a:lnT w="6350" cap="flat" cmpd="sng" algn="ctr">
                      <a:solidFill>
                        <a:srgbClr val="0077B6"/>
                      </a:solidFill>
                      <a:prstDash val="solid"/>
                      <a:round/>
                      <a:headEnd type="none" w="med" len="med"/>
                      <a:tailEnd type="none" w="med" len="med"/>
                    </a:lnT>
                    <a:lnB w="6350" cap="flat" cmpd="sng" algn="ctr">
                      <a:solidFill>
                        <a:srgbClr val="0077B6"/>
                      </a:solidFill>
                      <a:prstDash val="solid"/>
                      <a:round/>
                      <a:headEnd type="none" w="med" len="med"/>
                      <a:tailEnd type="none" w="med" len="med"/>
                    </a:lnB>
                    <a:solidFill>
                      <a:srgbClr val="0D2237"/>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411480" y="694944"/>
            <a:ext cx="8321040" cy="22860"/>
          </a:xfrm>
          <a:prstGeom prst="rect">
            <a:avLst/>
          </a:prstGeom>
          <a:solidFill>
            <a:srgbClr val="00B4D8"/>
          </a:solidFill>
          <a:ln w="12700">
            <a:solidFill>
              <a:srgbClr val="00B4D8"/>
            </a:solidFill>
            <a:prstDash val="solid"/>
          </a:ln>
        </p:spPr>
        <p:txBody>
          <a:bodyPr/>
          <a:lstStyle/>
          <a:p>
            <a:endParaRPr lang="en-US"/>
          </a:p>
        </p:txBody>
      </p:sp>
      <p:sp>
        <p:nvSpPr>
          <p:cNvPr id="3" name="Text 1"/>
          <p:cNvSpPr/>
          <p:nvPr/>
        </p:nvSpPr>
        <p:spPr>
          <a:xfrm>
            <a:off x="411480" y="256032"/>
            <a:ext cx="8321040" cy="502920"/>
          </a:xfrm>
          <a:prstGeom prst="rect">
            <a:avLst/>
          </a:prstGeom>
          <a:noFill/>
          <a:ln/>
        </p:spPr>
        <p:txBody>
          <a:bodyPr wrap="square" lIns="0" tIns="0" rIns="0" bIns="0" rtlCol="0" anchor="ctr"/>
          <a:lstStyle/>
          <a:p>
            <a:pPr marL="0" indent="0">
              <a:buNone/>
            </a:pPr>
            <a:r>
              <a:rPr lang="en-US" sz="2600" b="1" dirty="0">
                <a:solidFill>
                  <a:srgbClr val="00B4D8"/>
                </a:solidFill>
                <a:latin typeface="Calibri" pitchFamily="34" charset="0"/>
                <a:ea typeface="Calibri" pitchFamily="34" charset="-122"/>
                <a:cs typeface="Calibri" pitchFamily="34" charset="-120"/>
              </a:rPr>
              <a:t>4. Tiền Xử Lý Ảnh</a:t>
            </a:r>
            <a:endParaRPr lang="en-US" sz="2600" dirty="0"/>
          </a:p>
        </p:txBody>
      </p:sp>
      <p:sp>
        <p:nvSpPr>
          <p:cNvPr id="4" name="Text 2"/>
          <p:cNvSpPr/>
          <p:nvPr/>
        </p:nvSpPr>
        <p:spPr>
          <a:xfrm>
            <a:off x="8046720" y="4846320"/>
            <a:ext cx="822960" cy="182880"/>
          </a:xfrm>
          <a:prstGeom prst="rect">
            <a:avLst/>
          </a:prstGeom>
          <a:noFill/>
          <a:ln/>
        </p:spPr>
        <p:txBody>
          <a:bodyPr wrap="square" lIns="0" tIns="0" rIns="0" bIns="0" rtlCol="0" anchor="ctr"/>
          <a:lstStyle/>
          <a:p>
            <a:pPr marL="0" indent="0" algn="r">
              <a:buNone/>
            </a:pPr>
            <a:r>
              <a:rPr lang="en-US" sz="900" dirty="0">
                <a:solidFill>
                  <a:srgbClr val="8DA0B3"/>
                </a:solidFill>
                <a:latin typeface="Calibri" pitchFamily="34" charset="0"/>
                <a:ea typeface="Calibri" pitchFamily="34" charset="-122"/>
                <a:cs typeface="Calibri" pitchFamily="34" charset="-120"/>
              </a:rPr>
              <a:t>4 / 15</a:t>
            </a:r>
            <a:endParaRPr lang="en-US" sz="900" dirty="0"/>
          </a:p>
        </p:txBody>
      </p:sp>
      <p:sp>
        <p:nvSpPr>
          <p:cNvPr id="5" name="Shape 3"/>
          <p:cNvSpPr/>
          <p:nvPr/>
        </p:nvSpPr>
        <p:spPr>
          <a:xfrm>
            <a:off x="457200" y="1005840"/>
            <a:ext cx="1737360" cy="822960"/>
          </a:xfrm>
          <a:prstGeom prst="rect">
            <a:avLst/>
          </a:prstGeom>
          <a:solidFill>
            <a:srgbClr val="0077B6"/>
          </a:solidFill>
          <a:ln w="12700">
            <a:solidFill>
              <a:srgbClr val="0077B6"/>
            </a:solidFill>
            <a:prstDash val="solid"/>
          </a:ln>
        </p:spPr>
        <p:txBody>
          <a:bodyPr/>
          <a:lstStyle/>
          <a:p>
            <a:endParaRPr lang="en-US"/>
          </a:p>
        </p:txBody>
      </p:sp>
      <p:sp>
        <p:nvSpPr>
          <p:cNvPr id="6" name="Text 4"/>
          <p:cNvSpPr/>
          <p:nvPr/>
        </p:nvSpPr>
        <p:spPr>
          <a:xfrm>
            <a:off x="457200" y="1005840"/>
            <a:ext cx="1737360" cy="8229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SquarePad</a:t>
            </a:r>
            <a:endParaRPr lang="en-US" sz="1200" dirty="0"/>
          </a:p>
        </p:txBody>
      </p:sp>
      <p:sp>
        <p:nvSpPr>
          <p:cNvPr id="7" name="Text 5"/>
          <p:cNvSpPr/>
          <p:nvPr/>
        </p:nvSpPr>
        <p:spPr>
          <a:xfrm>
            <a:off x="2194560" y="1115568"/>
            <a:ext cx="320040" cy="548640"/>
          </a:xfrm>
          <a:prstGeom prst="rect">
            <a:avLst/>
          </a:prstGeom>
          <a:noFill/>
          <a:ln/>
        </p:spPr>
        <p:txBody>
          <a:bodyPr wrap="square" lIns="0" tIns="0" rIns="0" bIns="0" rtlCol="0" anchor="ctr"/>
          <a:lstStyle/>
          <a:p>
            <a:pPr marL="0" indent="0" algn="ctr">
              <a:buNone/>
            </a:pPr>
            <a:r>
              <a:rPr lang="en-US" sz="1800" dirty="0">
                <a:solidFill>
                  <a:srgbClr val="8DA0B3"/>
                </a:solidFill>
              </a:rPr>
              <a:t>→</a:t>
            </a:r>
            <a:endParaRPr lang="en-US" sz="1800" dirty="0"/>
          </a:p>
        </p:txBody>
      </p:sp>
      <p:sp>
        <p:nvSpPr>
          <p:cNvPr id="8" name="Shape 6"/>
          <p:cNvSpPr/>
          <p:nvPr/>
        </p:nvSpPr>
        <p:spPr>
          <a:xfrm>
            <a:off x="2514600" y="1005840"/>
            <a:ext cx="1737360" cy="822960"/>
          </a:xfrm>
          <a:prstGeom prst="rect">
            <a:avLst/>
          </a:prstGeom>
          <a:solidFill>
            <a:srgbClr val="00B4D8"/>
          </a:solidFill>
          <a:ln w="12700">
            <a:solidFill>
              <a:srgbClr val="00B4D8"/>
            </a:solidFill>
            <a:prstDash val="solid"/>
          </a:ln>
        </p:spPr>
        <p:txBody>
          <a:bodyPr/>
          <a:lstStyle/>
          <a:p>
            <a:endParaRPr lang="en-US"/>
          </a:p>
        </p:txBody>
      </p:sp>
      <p:sp>
        <p:nvSpPr>
          <p:cNvPr id="9" name="Text 7"/>
          <p:cNvSpPr/>
          <p:nvPr/>
        </p:nvSpPr>
        <p:spPr>
          <a:xfrm>
            <a:off x="2514600" y="1005840"/>
            <a:ext cx="1737360" cy="8229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Resize</a:t>
            </a:r>
            <a:endParaRPr lang="en-US" sz="1200" dirty="0"/>
          </a:p>
          <a:p>
            <a:pPr marL="0" indent="0" algn="ctr">
              <a:buNone/>
            </a:pPr>
            <a:r>
              <a:rPr lang="en-US" sz="1200" b="1" dirty="0">
                <a:solidFill>
                  <a:srgbClr val="FFFFFF"/>
                </a:solidFill>
                <a:latin typeface="Calibri" pitchFamily="34" charset="0"/>
                <a:ea typeface="Calibri" pitchFamily="34" charset="-122"/>
                <a:cs typeface="Calibri" pitchFamily="34" charset="-120"/>
              </a:rPr>
              <a:t>224×224</a:t>
            </a:r>
            <a:endParaRPr lang="en-US" sz="1200" dirty="0"/>
          </a:p>
        </p:txBody>
      </p:sp>
      <p:sp>
        <p:nvSpPr>
          <p:cNvPr id="10" name="Text 8"/>
          <p:cNvSpPr/>
          <p:nvPr/>
        </p:nvSpPr>
        <p:spPr>
          <a:xfrm>
            <a:off x="4251960" y="1115568"/>
            <a:ext cx="320040" cy="548640"/>
          </a:xfrm>
          <a:prstGeom prst="rect">
            <a:avLst/>
          </a:prstGeom>
          <a:noFill/>
          <a:ln/>
        </p:spPr>
        <p:txBody>
          <a:bodyPr wrap="square" lIns="0" tIns="0" rIns="0" bIns="0" rtlCol="0" anchor="ctr"/>
          <a:lstStyle/>
          <a:p>
            <a:pPr marL="0" indent="0" algn="ctr">
              <a:buNone/>
            </a:pPr>
            <a:r>
              <a:rPr lang="en-US" sz="1800" dirty="0">
                <a:solidFill>
                  <a:srgbClr val="8DA0B3"/>
                </a:solidFill>
              </a:rPr>
              <a:t>→</a:t>
            </a:r>
            <a:endParaRPr lang="en-US" sz="1800" dirty="0"/>
          </a:p>
        </p:txBody>
      </p:sp>
      <p:sp>
        <p:nvSpPr>
          <p:cNvPr id="11" name="Shape 9"/>
          <p:cNvSpPr/>
          <p:nvPr/>
        </p:nvSpPr>
        <p:spPr>
          <a:xfrm>
            <a:off x="4572000" y="1005840"/>
            <a:ext cx="1737360" cy="822960"/>
          </a:xfrm>
          <a:prstGeom prst="rect">
            <a:avLst/>
          </a:prstGeom>
          <a:solidFill>
            <a:srgbClr val="48CAE4"/>
          </a:solidFill>
          <a:ln w="12700">
            <a:solidFill>
              <a:srgbClr val="48CAE4"/>
            </a:solidFill>
            <a:prstDash val="solid"/>
          </a:ln>
        </p:spPr>
        <p:txBody>
          <a:bodyPr/>
          <a:lstStyle/>
          <a:p>
            <a:endParaRPr lang="en-US"/>
          </a:p>
        </p:txBody>
      </p:sp>
      <p:sp>
        <p:nvSpPr>
          <p:cNvPr id="12" name="Text 10"/>
          <p:cNvSpPr/>
          <p:nvPr/>
        </p:nvSpPr>
        <p:spPr>
          <a:xfrm>
            <a:off x="4572000" y="1005840"/>
            <a:ext cx="1737360" cy="8229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ToTensor</a:t>
            </a:r>
            <a:endParaRPr lang="en-US" sz="1200" dirty="0"/>
          </a:p>
        </p:txBody>
      </p:sp>
      <p:sp>
        <p:nvSpPr>
          <p:cNvPr id="13" name="Text 11"/>
          <p:cNvSpPr/>
          <p:nvPr/>
        </p:nvSpPr>
        <p:spPr>
          <a:xfrm>
            <a:off x="6309360" y="1115568"/>
            <a:ext cx="320040" cy="548640"/>
          </a:xfrm>
          <a:prstGeom prst="rect">
            <a:avLst/>
          </a:prstGeom>
          <a:noFill/>
          <a:ln/>
        </p:spPr>
        <p:txBody>
          <a:bodyPr wrap="square" lIns="0" tIns="0" rIns="0" bIns="0" rtlCol="0" anchor="ctr"/>
          <a:lstStyle/>
          <a:p>
            <a:pPr marL="0" indent="0" algn="ctr">
              <a:buNone/>
            </a:pPr>
            <a:r>
              <a:rPr lang="en-US" sz="1800" dirty="0">
                <a:solidFill>
                  <a:srgbClr val="8DA0B3"/>
                </a:solidFill>
              </a:rPr>
              <a:t>→</a:t>
            </a:r>
            <a:endParaRPr lang="en-US" sz="1800" dirty="0"/>
          </a:p>
        </p:txBody>
      </p:sp>
      <p:sp>
        <p:nvSpPr>
          <p:cNvPr id="14" name="Shape 12"/>
          <p:cNvSpPr/>
          <p:nvPr/>
        </p:nvSpPr>
        <p:spPr>
          <a:xfrm>
            <a:off x="6629400" y="1005840"/>
            <a:ext cx="1737360" cy="822960"/>
          </a:xfrm>
          <a:prstGeom prst="rect">
            <a:avLst/>
          </a:prstGeom>
          <a:solidFill>
            <a:srgbClr val="06D6A0"/>
          </a:solidFill>
          <a:ln w="12700">
            <a:solidFill>
              <a:srgbClr val="06D6A0"/>
            </a:solidFill>
            <a:prstDash val="solid"/>
          </a:ln>
        </p:spPr>
        <p:txBody>
          <a:bodyPr/>
          <a:lstStyle/>
          <a:p>
            <a:endParaRPr lang="en-US"/>
          </a:p>
        </p:txBody>
      </p:sp>
      <p:sp>
        <p:nvSpPr>
          <p:cNvPr id="15" name="Text 13"/>
          <p:cNvSpPr/>
          <p:nvPr/>
        </p:nvSpPr>
        <p:spPr>
          <a:xfrm>
            <a:off x="6629400" y="1005840"/>
            <a:ext cx="1737360" cy="8229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Normalize</a:t>
            </a:r>
            <a:endParaRPr lang="en-US" sz="1200" dirty="0"/>
          </a:p>
        </p:txBody>
      </p:sp>
      <p:sp>
        <p:nvSpPr>
          <p:cNvPr id="16" name="Text 14"/>
          <p:cNvSpPr/>
          <p:nvPr/>
        </p:nvSpPr>
        <p:spPr>
          <a:xfrm>
            <a:off x="411480" y="2103120"/>
            <a:ext cx="8321040" cy="365760"/>
          </a:xfrm>
          <a:prstGeom prst="rect">
            <a:avLst/>
          </a:prstGeom>
          <a:noFill/>
          <a:ln/>
        </p:spPr>
        <p:txBody>
          <a:bodyPr wrap="square" lIns="0" tIns="0" rIns="0" bIns="0" rtlCol="0" anchor="ctr"/>
          <a:lstStyle/>
          <a:p>
            <a:pPr marL="0" indent="0">
              <a:buNone/>
            </a:pPr>
            <a:r>
              <a:rPr lang="en-US" sz="1400" b="1" dirty="0">
                <a:solidFill>
                  <a:srgbClr val="00B4D8"/>
                </a:solidFill>
                <a:latin typeface="Calibri" pitchFamily="34" charset="0"/>
                <a:ea typeface="Calibri" pitchFamily="34" charset="-122"/>
                <a:cs typeface="Calibri" pitchFamily="34" charset="-120"/>
              </a:rPr>
              <a:t>Tại sao dùng SquarePad?</a:t>
            </a:r>
            <a:endParaRPr lang="en-US" sz="1400" dirty="0"/>
          </a:p>
        </p:txBody>
      </p:sp>
      <p:sp>
        <p:nvSpPr>
          <p:cNvPr id="17" name="Shape 15"/>
          <p:cNvSpPr/>
          <p:nvPr/>
        </p:nvSpPr>
        <p:spPr>
          <a:xfrm>
            <a:off x="411480" y="2606040"/>
            <a:ext cx="8321040" cy="566928"/>
          </a:xfrm>
          <a:prstGeom prst="rect">
            <a:avLst/>
          </a:prstGeom>
          <a:solidFill>
            <a:srgbClr val="132437"/>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18" name="Text 16"/>
          <p:cNvSpPr/>
          <p:nvPr/>
        </p:nvSpPr>
        <p:spPr>
          <a:xfrm>
            <a:off x="548640" y="2633472"/>
            <a:ext cx="365760" cy="457200"/>
          </a:xfrm>
          <a:prstGeom prst="rect">
            <a:avLst/>
          </a:prstGeom>
          <a:noFill/>
          <a:ln/>
        </p:spPr>
        <p:txBody>
          <a:bodyPr wrap="square" lIns="0" tIns="0" rIns="0" bIns="0" rtlCol="0" anchor="ctr"/>
          <a:lstStyle/>
          <a:p>
            <a:pPr marL="0" indent="0" algn="ctr">
              <a:buNone/>
            </a:pPr>
            <a:r>
              <a:rPr lang="en-US" sz="1600" b="1" dirty="0">
                <a:solidFill>
                  <a:srgbClr val="EF476F"/>
                </a:solidFill>
              </a:rPr>
              <a:t>✗</a:t>
            </a:r>
            <a:endParaRPr lang="en-US" sz="1600" dirty="0"/>
          </a:p>
        </p:txBody>
      </p:sp>
      <p:sp>
        <p:nvSpPr>
          <p:cNvPr id="19" name="Text 17"/>
          <p:cNvSpPr/>
          <p:nvPr/>
        </p:nvSpPr>
        <p:spPr>
          <a:xfrm>
            <a:off x="1005840" y="2651760"/>
            <a:ext cx="7498080" cy="41148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Resize trực tiếp → méo biển báo (hình tròn thành ellipse)</a:t>
            </a:r>
            <a:endParaRPr lang="en-US" sz="1200" dirty="0"/>
          </a:p>
        </p:txBody>
      </p:sp>
      <p:sp>
        <p:nvSpPr>
          <p:cNvPr id="20" name="Shape 18"/>
          <p:cNvSpPr/>
          <p:nvPr/>
        </p:nvSpPr>
        <p:spPr>
          <a:xfrm>
            <a:off x="411480" y="3264408"/>
            <a:ext cx="8321040" cy="566928"/>
          </a:xfrm>
          <a:prstGeom prst="rect">
            <a:avLst/>
          </a:prstGeom>
          <a:solidFill>
            <a:srgbClr val="132437"/>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21" name="Text 19"/>
          <p:cNvSpPr/>
          <p:nvPr/>
        </p:nvSpPr>
        <p:spPr>
          <a:xfrm>
            <a:off x="548640" y="3291840"/>
            <a:ext cx="365760" cy="457200"/>
          </a:xfrm>
          <a:prstGeom prst="rect">
            <a:avLst/>
          </a:prstGeom>
          <a:noFill/>
          <a:ln/>
        </p:spPr>
        <p:txBody>
          <a:bodyPr wrap="square" lIns="0" tIns="0" rIns="0" bIns="0" rtlCol="0" anchor="ctr"/>
          <a:lstStyle/>
          <a:p>
            <a:pPr marL="0" indent="0" algn="ctr">
              <a:buNone/>
            </a:pPr>
            <a:r>
              <a:rPr lang="en-US" sz="1600" b="1" dirty="0">
                <a:solidFill>
                  <a:srgbClr val="06D6A0"/>
                </a:solidFill>
              </a:rPr>
              <a:t>✓</a:t>
            </a:r>
            <a:endParaRPr lang="en-US" sz="1600" dirty="0"/>
          </a:p>
        </p:txBody>
      </p:sp>
      <p:sp>
        <p:nvSpPr>
          <p:cNvPr id="22" name="Text 20"/>
          <p:cNvSpPr/>
          <p:nvPr/>
        </p:nvSpPr>
        <p:spPr>
          <a:xfrm>
            <a:off x="1005840" y="3310128"/>
            <a:ext cx="7498080" cy="41148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SquarePad giữ nguyên tỷ lệ: hình tròn, tam giác, chữ nhật</a:t>
            </a:r>
            <a:endParaRPr lang="en-US" sz="1200" dirty="0"/>
          </a:p>
        </p:txBody>
      </p:sp>
      <p:sp>
        <p:nvSpPr>
          <p:cNvPr id="23" name="Shape 21"/>
          <p:cNvSpPr/>
          <p:nvPr/>
        </p:nvSpPr>
        <p:spPr>
          <a:xfrm>
            <a:off x="411480" y="3922776"/>
            <a:ext cx="8321040" cy="566928"/>
          </a:xfrm>
          <a:prstGeom prst="rect">
            <a:avLst/>
          </a:prstGeom>
          <a:solidFill>
            <a:srgbClr val="132437"/>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24" name="Text 22"/>
          <p:cNvSpPr/>
          <p:nvPr/>
        </p:nvSpPr>
        <p:spPr>
          <a:xfrm>
            <a:off x="548640" y="3950208"/>
            <a:ext cx="365760" cy="457200"/>
          </a:xfrm>
          <a:prstGeom prst="rect">
            <a:avLst/>
          </a:prstGeom>
          <a:noFill/>
          <a:ln/>
        </p:spPr>
        <p:txBody>
          <a:bodyPr wrap="square" lIns="0" tIns="0" rIns="0" bIns="0" rtlCol="0" anchor="ctr"/>
          <a:lstStyle/>
          <a:p>
            <a:pPr marL="0" indent="0" algn="ctr">
              <a:buNone/>
            </a:pPr>
            <a:r>
              <a:rPr lang="en-US" sz="1600" b="1" dirty="0">
                <a:solidFill>
                  <a:srgbClr val="06D6A0"/>
                </a:solidFill>
              </a:rPr>
              <a:t>✓</a:t>
            </a:r>
            <a:endParaRPr lang="en-US" sz="1600" dirty="0"/>
          </a:p>
        </p:txBody>
      </p:sp>
      <p:sp>
        <p:nvSpPr>
          <p:cNvPr id="25" name="Text 23"/>
          <p:cNvSpPr/>
          <p:nvPr/>
        </p:nvSpPr>
        <p:spPr>
          <a:xfrm>
            <a:off x="1005840" y="3968496"/>
            <a:ext cx="7498080" cy="41148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Train và demo dùng cùng một preprocessing pipeline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411480" y="694944"/>
            <a:ext cx="8321040" cy="22860"/>
          </a:xfrm>
          <a:prstGeom prst="rect">
            <a:avLst/>
          </a:prstGeom>
          <a:solidFill>
            <a:srgbClr val="00B4D8"/>
          </a:solidFill>
          <a:ln w="12700">
            <a:solidFill>
              <a:srgbClr val="00B4D8"/>
            </a:solidFill>
            <a:prstDash val="solid"/>
          </a:ln>
        </p:spPr>
        <p:txBody>
          <a:bodyPr/>
          <a:lstStyle/>
          <a:p>
            <a:endParaRPr lang="en-US"/>
          </a:p>
        </p:txBody>
      </p:sp>
      <p:sp>
        <p:nvSpPr>
          <p:cNvPr id="3" name="Text 1"/>
          <p:cNvSpPr/>
          <p:nvPr/>
        </p:nvSpPr>
        <p:spPr>
          <a:xfrm>
            <a:off x="411480" y="256032"/>
            <a:ext cx="8321040" cy="502920"/>
          </a:xfrm>
          <a:prstGeom prst="rect">
            <a:avLst/>
          </a:prstGeom>
          <a:noFill/>
          <a:ln/>
        </p:spPr>
        <p:txBody>
          <a:bodyPr wrap="square" lIns="0" tIns="0" rIns="0" bIns="0" rtlCol="0" anchor="ctr"/>
          <a:lstStyle/>
          <a:p>
            <a:pPr marL="0" indent="0">
              <a:buNone/>
            </a:pPr>
            <a:r>
              <a:rPr lang="en-US" sz="2600" b="1" dirty="0">
                <a:solidFill>
                  <a:srgbClr val="00B4D8"/>
                </a:solidFill>
                <a:latin typeface="Calibri" pitchFamily="34" charset="0"/>
                <a:ea typeface="Calibri" pitchFamily="34" charset="-122"/>
                <a:cs typeface="Calibri" pitchFamily="34" charset="-120"/>
              </a:rPr>
              <a:t>5. Hướng A — Kiến Trúc Rời</a:t>
            </a:r>
            <a:endParaRPr lang="en-US" sz="2600" dirty="0"/>
          </a:p>
        </p:txBody>
      </p:sp>
      <p:sp>
        <p:nvSpPr>
          <p:cNvPr id="4" name="Text 2"/>
          <p:cNvSpPr/>
          <p:nvPr/>
        </p:nvSpPr>
        <p:spPr>
          <a:xfrm>
            <a:off x="8046720" y="4846320"/>
            <a:ext cx="822960" cy="182880"/>
          </a:xfrm>
          <a:prstGeom prst="rect">
            <a:avLst/>
          </a:prstGeom>
          <a:noFill/>
          <a:ln/>
        </p:spPr>
        <p:txBody>
          <a:bodyPr wrap="square" lIns="0" tIns="0" rIns="0" bIns="0" rtlCol="0" anchor="ctr"/>
          <a:lstStyle/>
          <a:p>
            <a:pPr marL="0" indent="0" algn="r">
              <a:buNone/>
            </a:pPr>
            <a:r>
              <a:rPr lang="en-US" sz="900" dirty="0">
                <a:solidFill>
                  <a:srgbClr val="8DA0B3"/>
                </a:solidFill>
                <a:latin typeface="Calibri" pitchFamily="34" charset="0"/>
                <a:ea typeface="Calibri" pitchFamily="34" charset="-122"/>
                <a:cs typeface="Calibri" pitchFamily="34" charset="-120"/>
              </a:rPr>
              <a:t>5 / 15</a:t>
            </a:r>
            <a:endParaRPr lang="en-US" sz="900" dirty="0"/>
          </a:p>
        </p:txBody>
      </p:sp>
      <p:sp>
        <p:nvSpPr>
          <p:cNvPr id="5" name="Shape 3"/>
          <p:cNvSpPr/>
          <p:nvPr/>
        </p:nvSpPr>
        <p:spPr>
          <a:xfrm>
            <a:off x="274320" y="960120"/>
            <a:ext cx="1920240" cy="914400"/>
          </a:xfrm>
          <a:prstGeom prst="rect">
            <a:avLst/>
          </a:prstGeom>
          <a:solidFill>
            <a:srgbClr val="0077B6"/>
          </a:solidFill>
          <a:ln w="12700">
            <a:solidFill>
              <a:srgbClr val="00B4D8"/>
            </a:solidFill>
            <a:prstDash val="solid"/>
          </a:ln>
        </p:spPr>
        <p:txBody>
          <a:bodyPr/>
          <a:lstStyle/>
          <a:p>
            <a:endParaRPr lang="en-US"/>
          </a:p>
        </p:txBody>
      </p:sp>
      <p:sp>
        <p:nvSpPr>
          <p:cNvPr id="6" name="Text 4"/>
          <p:cNvSpPr/>
          <p:nvPr/>
        </p:nvSpPr>
        <p:spPr>
          <a:xfrm>
            <a:off x="274320" y="960120"/>
            <a:ext cx="1920240" cy="914400"/>
          </a:xfrm>
          <a:prstGeom prst="rect">
            <a:avLst/>
          </a:prstGeom>
          <a:noFill/>
          <a:ln/>
        </p:spPr>
        <p:txBody>
          <a:bodyPr wrap="square" lIns="50800" tIns="50800" rIns="50800" bIns="5080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Image Encoder</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CNN pretrained</a:t>
            </a:r>
            <a:endParaRPr lang="en-US" sz="1100" dirty="0"/>
          </a:p>
        </p:txBody>
      </p:sp>
      <p:sp>
        <p:nvSpPr>
          <p:cNvPr id="7" name="Text 5"/>
          <p:cNvSpPr/>
          <p:nvPr/>
        </p:nvSpPr>
        <p:spPr>
          <a:xfrm>
            <a:off x="2194560" y="1170432"/>
            <a:ext cx="228600" cy="457200"/>
          </a:xfrm>
          <a:prstGeom prst="rect">
            <a:avLst/>
          </a:prstGeom>
          <a:noFill/>
          <a:ln/>
        </p:spPr>
        <p:txBody>
          <a:bodyPr wrap="square" lIns="0" tIns="0" rIns="0" bIns="0" rtlCol="0" anchor="ctr"/>
          <a:lstStyle/>
          <a:p>
            <a:pPr marL="0" indent="0" algn="ctr">
              <a:buNone/>
            </a:pPr>
            <a:r>
              <a:rPr lang="en-US" sz="1400" dirty="0">
                <a:solidFill>
                  <a:srgbClr val="00B4D8"/>
                </a:solidFill>
              </a:rPr>
              <a:t>→</a:t>
            </a:r>
            <a:endParaRPr lang="en-US" sz="1400" dirty="0"/>
          </a:p>
        </p:txBody>
      </p:sp>
      <p:sp>
        <p:nvSpPr>
          <p:cNvPr id="8" name="Shape 6"/>
          <p:cNvSpPr/>
          <p:nvPr/>
        </p:nvSpPr>
        <p:spPr>
          <a:xfrm>
            <a:off x="2423160" y="960120"/>
            <a:ext cx="1920240" cy="914400"/>
          </a:xfrm>
          <a:prstGeom prst="rect">
            <a:avLst/>
          </a:prstGeom>
          <a:solidFill>
            <a:srgbClr val="1D4E89"/>
          </a:solidFill>
          <a:ln w="12700">
            <a:solidFill>
              <a:srgbClr val="00B4D8"/>
            </a:solidFill>
            <a:prstDash val="solid"/>
          </a:ln>
        </p:spPr>
        <p:txBody>
          <a:bodyPr/>
          <a:lstStyle/>
          <a:p>
            <a:endParaRPr lang="en-US"/>
          </a:p>
        </p:txBody>
      </p:sp>
      <p:sp>
        <p:nvSpPr>
          <p:cNvPr id="9" name="Text 7"/>
          <p:cNvSpPr/>
          <p:nvPr/>
        </p:nvSpPr>
        <p:spPr>
          <a:xfrm>
            <a:off x="2423160" y="960120"/>
            <a:ext cx="1920240" cy="914400"/>
          </a:xfrm>
          <a:prstGeom prst="rect">
            <a:avLst/>
          </a:prstGeom>
          <a:noFill/>
          <a:ln/>
        </p:spPr>
        <p:txBody>
          <a:bodyPr wrap="square" lIns="50800" tIns="50800" rIns="50800" bIns="5080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Text Encoder</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LSTM/BiLSTM</a:t>
            </a:r>
            <a:endParaRPr lang="en-US" sz="1100" dirty="0"/>
          </a:p>
        </p:txBody>
      </p:sp>
      <p:sp>
        <p:nvSpPr>
          <p:cNvPr id="10" name="Text 8"/>
          <p:cNvSpPr/>
          <p:nvPr/>
        </p:nvSpPr>
        <p:spPr>
          <a:xfrm>
            <a:off x="4343400" y="1170432"/>
            <a:ext cx="228600" cy="457200"/>
          </a:xfrm>
          <a:prstGeom prst="rect">
            <a:avLst/>
          </a:prstGeom>
          <a:noFill/>
          <a:ln/>
        </p:spPr>
        <p:txBody>
          <a:bodyPr wrap="square" lIns="0" tIns="0" rIns="0" bIns="0" rtlCol="0" anchor="ctr"/>
          <a:lstStyle/>
          <a:p>
            <a:pPr marL="0" indent="0" algn="ctr">
              <a:buNone/>
            </a:pPr>
            <a:r>
              <a:rPr lang="en-US" sz="1400" dirty="0">
                <a:solidFill>
                  <a:srgbClr val="00B4D8"/>
                </a:solidFill>
              </a:rPr>
              <a:t>→</a:t>
            </a:r>
            <a:endParaRPr lang="en-US" sz="1400" dirty="0"/>
          </a:p>
        </p:txBody>
      </p:sp>
      <p:sp>
        <p:nvSpPr>
          <p:cNvPr id="11" name="Shape 9"/>
          <p:cNvSpPr/>
          <p:nvPr/>
        </p:nvSpPr>
        <p:spPr>
          <a:xfrm>
            <a:off x="4572000" y="960120"/>
            <a:ext cx="1920240" cy="914400"/>
          </a:xfrm>
          <a:prstGeom prst="rect">
            <a:avLst/>
          </a:prstGeom>
          <a:solidFill>
            <a:srgbClr val="0E6BA8"/>
          </a:solidFill>
          <a:ln w="12700">
            <a:solidFill>
              <a:srgbClr val="00B4D8"/>
            </a:solidFill>
            <a:prstDash val="solid"/>
          </a:ln>
        </p:spPr>
        <p:txBody>
          <a:bodyPr/>
          <a:lstStyle/>
          <a:p>
            <a:endParaRPr lang="en-US"/>
          </a:p>
        </p:txBody>
      </p:sp>
      <p:sp>
        <p:nvSpPr>
          <p:cNvPr id="12" name="Text 10"/>
          <p:cNvSpPr/>
          <p:nvPr/>
        </p:nvSpPr>
        <p:spPr>
          <a:xfrm>
            <a:off x="4572000" y="960120"/>
            <a:ext cx="1920240" cy="914400"/>
          </a:xfrm>
          <a:prstGeom prst="rect">
            <a:avLst/>
          </a:prstGeom>
          <a:noFill/>
          <a:ln/>
        </p:spPr>
        <p:txBody>
          <a:bodyPr wrap="square" lIns="50800" tIns="50800" rIns="50800" bIns="5080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Fusion</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ảnh + câu hỏi</a:t>
            </a:r>
            <a:endParaRPr lang="en-US" sz="1100" dirty="0"/>
          </a:p>
        </p:txBody>
      </p:sp>
      <p:sp>
        <p:nvSpPr>
          <p:cNvPr id="13" name="Text 11"/>
          <p:cNvSpPr/>
          <p:nvPr/>
        </p:nvSpPr>
        <p:spPr>
          <a:xfrm>
            <a:off x="6492240" y="1170432"/>
            <a:ext cx="228600" cy="457200"/>
          </a:xfrm>
          <a:prstGeom prst="rect">
            <a:avLst/>
          </a:prstGeom>
          <a:noFill/>
          <a:ln/>
        </p:spPr>
        <p:txBody>
          <a:bodyPr wrap="square" lIns="0" tIns="0" rIns="0" bIns="0" rtlCol="0" anchor="ctr"/>
          <a:lstStyle/>
          <a:p>
            <a:pPr marL="0" indent="0" algn="ctr">
              <a:buNone/>
            </a:pPr>
            <a:r>
              <a:rPr lang="en-US" sz="1400" dirty="0">
                <a:solidFill>
                  <a:srgbClr val="00B4D8"/>
                </a:solidFill>
              </a:rPr>
              <a:t>→</a:t>
            </a:r>
            <a:endParaRPr lang="en-US" sz="1400" dirty="0"/>
          </a:p>
        </p:txBody>
      </p:sp>
      <p:sp>
        <p:nvSpPr>
          <p:cNvPr id="14" name="Shape 12"/>
          <p:cNvSpPr/>
          <p:nvPr/>
        </p:nvSpPr>
        <p:spPr>
          <a:xfrm>
            <a:off x="6720840" y="960120"/>
            <a:ext cx="1920240" cy="914400"/>
          </a:xfrm>
          <a:prstGeom prst="rect">
            <a:avLst/>
          </a:prstGeom>
          <a:solidFill>
            <a:srgbClr val="0A2342"/>
          </a:solidFill>
          <a:ln w="12700">
            <a:solidFill>
              <a:srgbClr val="00B4D8"/>
            </a:solidFill>
            <a:prstDash val="solid"/>
          </a:ln>
        </p:spPr>
        <p:txBody>
          <a:bodyPr/>
          <a:lstStyle/>
          <a:p>
            <a:endParaRPr lang="en-US"/>
          </a:p>
        </p:txBody>
      </p:sp>
      <p:sp>
        <p:nvSpPr>
          <p:cNvPr id="15" name="Text 13"/>
          <p:cNvSpPr/>
          <p:nvPr/>
        </p:nvSpPr>
        <p:spPr>
          <a:xfrm>
            <a:off x="6720840" y="960120"/>
            <a:ext cx="1920240" cy="914400"/>
          </a:xfrm>
          <a:prstGeom prst="rect">
            <a:avLst/>
          </a:prstGeom>
          <a:noFill/>
          <a:ln/>
        </p:spPr>
        <p:txBody>
          <a:bodyPr wrap="square" lIns="50800" tIns="50800" rIns="50800" bIns="5080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Answer Decoder</a:t>
            </a:r>
            <a:endParaRPr lang="en-US" sz="1100" dirty="0"/>
          </a:p>
          <a:p>
            <a:pPr marL="0" indent="0" algn="ctr">
              <a:buNone/>
            </a:pPr>
            <a:r>
              <a:rPr lang="en-US" sz="1100" dirty="0">
                <a:solidFill>
                  <a:srgbClr val="FFFFFF"/>
                </a:solidFill>
                <a:latin typeface="Calibri" pitchFamily="34" charset="0"/>
                <a:ea typeface="Calibri" pitchFamily="34" charset="-122"/>
                <a:cs typeface="Calibri" pitchFamily="34" charset="-120"/>
              </a:rPr>
              <a:t>sinh câu trả lời</a:t>
            </a:r>
            <a:endParaRPr lang="en-US" sz="1100" dirty="0"/>
          </a:p>
        </p:txBody>
      </p:sp>
      <p:sp>
        <p:nvSpPr>
          <p:cNvPr id="16" name="Shape 14"/>
          <p:cNvSpPr/>
          <p:nvPr/>
        </p:nvSpPr>
        <p:spPr>
          <a:xfrm>
            <a:off x="411480" y="2103120"/>
            <a:ext cx="4114800" cy="2606040"/>
          </a:xfrm>
          <a:prstGeom prst="rect">
            <a:avLst/>
          </a:prstGeom>
          <a:solidFill>
            <a:srgbClr val="132437"/>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17" name="Shape 15"/>
          <p:cNvSpPr/>
          <p:nvPr/>
        </p:nvSpPr>
        <p:spPr>
          <a:xfrm>
            <a:off x="411480" y="2103120"/>
            <a:ext cx="640080" cy="411480"/>
          </a:xfrm>
          <a:prstGeom prst="rect">
            <a:avLst/>
          </a:prstGeom>
          <a:solidFill>
            <a:srgbClr val="FFB703"/>
          </a:solidFill>
          <a:ln w="12700">
            <a:solidFill>
              <a:srgbClr val="FFB703"/>
            </a:solidFill>
            <a:prstDash val="solid"/>
          </a:ln>
        </p:spPr>
        <p:txBody>
          <a:bodyPr/>
          <a:lstStyle/>
          <a:p>
            <a:endParaRPr lang="en-US"/>
          </a:p>
        </p:txBody>
      </p:sp>
      <p:sp>
        <p:nvSpPr>
          <p:cNvPr id="18" name="Text 16"/>
          <p:cNvSpPr/>
          <p:nvPr/>
        </p:nvSpPr>
        <p:spPr>
          <a:xfrm>
            <a:off x="411480" y="2103120"/>
            <a:ext cx="6400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A1</a:t>
            </a:r>
            <a:endParaRPr lang="en-US" sz="1400" dirty="0"/>
          </a:p>
        </p:txBody>
      </p:sp>
      <p:sp>
        <p:nvSpPr>
          <p:cNvPr id="19" name="Text 17"/>
          <p:cNvSpPr/>
          <p:nvPr/>
        </p:nvSpPr>
        <p:spPr>
          <a:xfrm>
            <a:off x="1143000" y="2148840"/>
            <a:ext cx="320040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LSTM Decoder</a:t>
            </a:r>
            <a:endParaRPr lang="en-US" sz="1300" dirty="0"/>
          </a:p>
        </p:txBody>
      </p:sp>
      <p:sp>
        <p:nvSpPr>
          <p:cNvPr id="20" name="Text 18"/>
          <p:cNvSpPr/>
          <p:nvPr/>
        </p:nvSpPr>
        <p:spPr>
          <a:xfrm>
            <a:off x="548640" y="2633472"/>
            <a:ext cx="3840480" cy="1005840"/>
          </a:xfrm>
          <a:prstGeom prst="rect">
            <a:avLst/>
          </a:prstGeom>
          <a:noFill/>
          <a:ln/>
        </p:spPr>
        <p:txBody>
          <a:bodyPr wrap="square" lIns="0" tIns="0" rIns="0" bIns="0" rtlCol="0" anchor="ctr"/>
          <a:lstStyle/>
          <a:p>
            <a:pPr marL="0" indent="0">
              <a:buNone/>
            </a:pPr>
            <a:r>
              <a:rPr lang="en-US" sz="1100" dirty="0">
                <a:solidFill>
                  <a:srgbClr val="E8F4FD"/>
                </a:solidFill>
                <a:latin typeface="Calibri" pitchFamily="34" charset="0"/>
                <a:ea typeface="Calibri" pitchFamily="34" charset="-122"/>
                <a:cs typeface="Calibri" pitchFamily="34" charset="-120"/>
              </a:rPr>
              <a:t>Decoder dạng sequence-to-sequence với LSTM. Sinh từng token tuần tự.</a:t>
            </a:r>
            <a:endParaRPr lang="en-US" sz="1100" dirty="0"/>
          </a:p>
        </p:txBody>
      </p:sp>
      <p:sp>
        <p:nvSpPr>
          <p:cNvPr id="21" name="Shape 19"/>
          <p:cNvSpPr/>
          <p:nvPr/>
        </p:nvSpPr>
        <p:spPr>
          <a:xfrm>
            <a:off x="411480" y="3730752"/>
            <a:ext cx="4114800" cy="64008"/>
          </a:xfrm>
          <a:prstGeom prst="rect">
            <a:avLst/>
          </a:prstGeom>
          <a:solidFill>
            <a:srgbClr val="FFB703"/>
          </a:solidFill>
          <a:ln w="12700">
            <a:solidFill>
              <a:srgbClr val="FFB703"/>
            </a:solidFill>
            <a:prstDash val="solid"/>
          </a:ln>
        </p:spPr>
        <p:txBody>
          <a:bodyPr/>
          <a:lstStyle/>
          <a:p>
            <a:endParaRPr lang="en-US"/>
          </a:p>
        </p:txBody>
      </p:sp>
      <p:sp>
        <p:nvSpPr>
          <p:cNvPr id="22" name="Text 20"/>
          <p:cNvSpPr/>
          <p:nvPr/>
        </p:nvSpPr>
        <p:spPr>
          <a:xfrm>
            <a:off x="411480" y="3822192"/>
            <a:ext cx="4114800" cy="731520"/>
          </a:xfrm>
          <a:prstGeom prst="rect">
            <a:avLst/>
          </a:prstGeom>
          <a:noFill/>
          <a:ln/>
        </p:spPr>
        <p:txBody>
          <a:bodyPr wrap="square" lIns="0" tIns="0" rIns="0" bIns="0" rtlCol="0" anchor="ctr"/>
          <a:lstStyle/>
          <a:p>
            <a:pPr marL="0" indent="0" algn="ctr">
              <a:buNone/>
            </a:pPr>
            <a:r>
              <a:rPr lang="en-US" sz="1600" b="1" dirty="0">
                <a:solidFill>
                  <a:srgbClr val="FFB703"/>
                </a:solidFill>
                <a:latin typeface="Calibri" pitchFamily="34" charset="0"/>
                <a:ea typeface="Calibri" pitchFamily="34" charset="-122"/>
                <a:cs typeface="Calibri" pitchFamily="34" charset="-120"/>
              </a:rPr>
              <a:t>Val Acc: 66.78%</a:t>
            </a:r>
            <a:endParaRPr lang="en-US" sz="1600" dirty="0"/>
          </a:p>
        </p:txBody>
      </p:sp>
      <p:sp>
        <p:nvSpPr>
          <p:cNvPr id="23" name="Shape 21"/>
          <p:cNvSpPr/>
          <p:nvPr/>
        </p:nvSpPr>
        <p:spPr>
          <a:xfrm>
            <a:off x="4800600" y="2103120"/>
            <a:ext cx="4114800" cy="2606040"/>
          </a:xfrm>
          <a:prstGeom prst="rect">
            <a:avLst/>
          </a:prstGeom>
          <a:solidFill>
            <a:srgbClr val="132437"/>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24" name="Shape 22"/>
          <p:cNvSpPr/>
          <p:nvPr/>
        </p:nvSpPr>
        <p:spPr>
          <a:xfrm>
            <a:off x="4800600" y="2103120"/>
            <a:ext cx="640080" cy="411480"/>
          </a:xfrm>
          <a:prstGeom prst="rect">
            <a:avLst/>
          </a:prstGeom>
          <a:solidFill>
            <a:srgbClr val="06D6A0"/>
          </a:solidFill>
          <a:ln w="12700">
            <a:solidFill>
              <a:srgbClr val="06D6A0"/>
            </a:solidFill>
            <a:prstDash val="solid"/>
          </a:ln>
        </p:spPr>
        <p:txBody>
          <a:bodyPr/>
          <a:lstStyle/>
          <a:p>
            <a:endParaRPr lang="en-US"/>
          </a:p>
        </p:txBody>
      </p:sp>
      <p:sp>
        <p:nvSpPr>
          <p:cNvPr id="25" name="Text 23"/>
          <p:cNvSpPr/>
          <p:nvPr/>
        </p:nvSpPr>
        <p:spPr>
          <a:xfrm>
            <a:off x="4800600" y="2103120"/>
            <a:ext cx="6400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A2</a:t>
            </a:r>
            <a:endParaRPr lang="en-US" sz="1400" dirty="0"/>
          </a:p>
        </p:txBody>
      </p:sp>
      <p:sp>
        <p:nvSpPr>
          <p:cNvPr id="26" name="Text 24"/>
          <p:cNvSpPr/>
          <p:nvPr/>
        </p:nvSpPr>
        <p:spPr>
          <a:xfrm>
            <a:off x="5532120" y="2148840"/>
            <a:ext cx="320040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Transformer Decoder</a:t>
            </a:r>
            <a:endParaRPr lang="en-US" sz="1300" dirty="0"/>
          </a:p>
        </p:txBody>
      </p:sp>
      <p:sp>
        <p:nvSpPr>
          <p:cNvPr id="27" name="Text 25"/>
          <p:cNvSpPr/>
          <p:nvPr/>
        </p:nvSpPr>
        <p:spPr>
          <a:xfrm>
            <a:off x="4937760" y="2633472"/>
            <a:ext cx="3840480" cy="1005840"/>
          </a:xfrm>
          <a:prstGeom prst="rect">
            <a:avLst/>
          </a:prstGeom>
          <a:noFill/>
          <a:ln/>
        </p:spPr>
        <p:txBody>
          <a:bodyPr wrap="square" lIns="0" tIns="0" rIns="0" bIns="0" rtlCol="0" anchor="ctr"/>
          <a:lstStyle/>
          <a:p>
            <a:pPr marL="0" indent="0">
              <a:buNone/>
            </a:pPr>
            <a:r>
              <a:rPr lang="en-US" sz="1100" dirty="0">
                <a:solidFill>
                  <a:srgbClr val="E8F4FD"/>
                </a:solidFill>
                <a:latin typeface="Calibri" pitchFamily="34" charset="0"/>
                <a:ea typeface="Calibri" pitchFamily="34" charset="-122"/>
                <a:cs typeface="Calibri" pitchFamily="34" charset="-120"/>
              </a:rPr>
              <a:t>Decoder dùng self-attention và cross-attention. Hiệu quả hơn với ngữ cảnh dài.</a:t>
            </a:r>
            <a:endParaRPr lang="en-US" sz="1100" dirty="0"/>
          </a:p>
        </p:txBody>
      </p:sp>
      <p:sp>
        <p:nvSpPr>
          <p:cNvPr id="28" name="Shape 26"/>
          <p:cNvSpPr/>
          <p:nvPr/>
        </p:nvSpPr>
        <p:spPr>
          <a:xfrm>
            <a:off x="4800600" y="3730752"/>
            <a:ext cx="4114800" cy="64008"/>
          </a:xfrm>
          <a:prstGeom prst="rect">
            <a:avLst/>
          </a:prstGeom>
          <a:solidFill>
            <a:srgbClr val="06D6A0"/>
          </a:solidFill>
          <a:ln w="12700">
            <a:solidFill>
              <a:srgbClr val="06D6A0"/>
            </a:solidFill>
            <a:prstDash val="solid"/>
          </a:ln>
        </p:spPr>
        <p:txBody>
          <a:bodyPr/>
          <a:lstStyle/>
          <a:p>
            <a:endParaRPr lang="en-US"/>
          </a:p>
        </p:txBody>
      </p:sp>
      <p:sp>
        <p:nvSpPr>
          <p:cNvPr id="29" name="Text 27"/>
          <p:cNvSpPr/>
          <p:nvPr/>
        </p:nvSpPr>
        <p:spPr>
          <a:xfrm>
            <a:off x="4800600" y="3822192"/>
            <a:ext cx="4114800" cy="731520"/>
          </a:xfrm>
          <a:prstGeom prst="rect">
            <a:avLst/>
          </a:prstGeom>
          <a:noFill/>
          <a:ln/>
        </p:spPr>
        <p:txBody>
          <a:bodyPr wrap="square" lIns="0" tIns="0" rIns="0" bIns="0" rtlCol="0" anchor="ctr"/>
          <a:lstStyle/>
          <a:p>
            <a:pPr marL="0" indent="0" algn="ctr">
              <a:buNone/>
            </a:pPr>
            <a:r>
              <a:rPr lang="en-US" sz="1600" b="1" dirty="0">
                <a:solidFill>
                  <a:srgbClr val="06D6A0"/>
                </a:solidFill>
                <a:latin typeface="Calibri" pitchFamily="34" charset="0"/>
                <a:ea typeface="Calibri" pitchFamily="34" charset="-122"/>
                <a:cs typeface="Calibri" pitchFamily="34" charset="-120"/>
              </a:rPr>
              <a:t>Val Acc: 74.97%</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411480" y="694944"/>
            <a:ext cx="8321040" cy="22860"/>
          </a:xfrm>
          <a:prstGeom prst="rect">
            <a:avLst/>
          </a:prstGeom>
          <a:solidFill>
            <a:srgbClr val="00B4D8"/>
          </a:solidFill>
          <a:ln w="12700">
            <a:solidFill>
              <a:srgbClr val="00B4D8"/>
            </a:solidFill>
            <a:prstDash val="solid"/>
          </a:ln>
        </p:spPr>
        <p:txBody>
          <a:bodyPr/>
          <a:lstStyle/>
          <a:p>
            <a:endParaRPr lang="en-US"/>
          </a:p>
        </p:txBody>
      </p:sp>
      <p:sp>
        <p:nvSpPr>
          <p:cNvPr id="3" name="Text 1"/>
          <p:cNvSpPr/>
          <p:nvPr/>
        </p:nvSpPr>
        <p:spPr>
          <a:xfrm>
            <a:off x="411480" y="256032"/>
            <a:ext cx="8321040" cy="502920"/>
          </a:xfrm>
          <a:prstGeom prst="rect">
            <a:avLst/>
          </a:prstGeom>
          <a:noFill/>
          <a:ln/>
        </p:spPr>
        <p:txBody>
          <a:bodyPr wrap="square" lIns="0" tIns="0" rIns="0" bIns="0" rtlCol="0" anchor="ctr"/>
          <a:lstStyle/>
          <a:p>
            <a:pPr marL="0" indent="0">
              <a:buNone/>
            </a:pPr>
            <a:r>
              <a:rPr lang="en-US" sz="2600" b="1" dirty="0">
                <a:solidFill>
                  <a:srgbClr val="00B4D8"/>
                </a:solidFill>
                <a:latin typeface="Calibri" pitchFamily="34" charset="0"/>
                <a:ea typeface="Calibri" pitchFamily="34" charset="-122"/>
                <a:cs typeface="Calibri" pitchFamily="34" charset="-120"/>
              </a:rPr>
              <a:t>6. Hướng B — Multimodal Pretrained</a:t>
            </a:r>
            <a:endParaRPr lang="en-US" sz="2600" dirty="0"/>
          </a:p>
        </p:txBody>
      </p:sp>
      <p:sp>
        <p:nvSpPr>
          <p:cNvPr id="4" name="Text 2"/>
          <p:cNvSpPr/>
          <p:nvPr/>
        </p:nvSpPr>
        <p:spPr>
          <a:xfrm>
            <a:off x="8046720" y="4846320"/>
            <a:ext cx="822960" cy="182880"/>
          </a:xfrm>
          <a:prstGeom prst="rect">
            <a:avLst/>
          </a:prstGeom>
          <a:noFill/>
          <a:ln/>
        </p:spPr>
        <p:txBody>
          <a:bodyPr wrap="square" lIns="0" tIns="0" rIns="0" bIns="0" rtlCol="0" anchor="ctr"/>
          <a:lstStyle/>
          <a:p>
            <a:pPr marL="0" indent="0" algn="r">
              <a:buNone/>
            </a:pPr>
            <a:r>
              <a:rPr lang="en-US" sz="900" dirty="0">
                <a:solidFill>
                  <a:srgbClr val="8DA0B3"/>
                </a:solidFill>
                <a:latin typeface="Calibri" pitchFamily="34" charset="0"/>
                <a:ea typeface="Calibri" pitchFamily="34" charset="-122"/>
                <a:cs typeface="Calibri" pitchFamily="34" charset="-120"/>
              </a:rPr>
              <a:t>6 / 15</a:t>
            </a:r>
            <a:endParaRPr lang="en-US" sz="900" dirty="0"/>
          </a:p>
        </p:txBody>
      </p:sp>
      <p:sp>
        <p:nvSpPr>
          <p:cNvPr id="5" name="Shape 3"/>
          <p:cNvSpPr/>
          <p:nvPr/>
        </p:nvSpPr>
        <p:spPr>
          <a:xfrm>
            <a:off x="411480" y="960120"/>
            <a:ext cx="8321040" cy="777240"/>
          </a:xfrm>
          <a:prstGeom prst="rect">
            <a:avLst/>
          </a:prstGeom>
          <a:solidFill>
            <a:srgbClr val="091826"/>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6" name="Text 4"/>
          <p:cNvSpPr/>
          <p:nvPr/>
        </p:nvSpPr>
        <p:spPr>
          <a:xfrm>
            <a:off x="548640" y="1005840"/>
            <a:ext cx="640080" cy="658368"/>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7" name="Text 5"/>
          <p:cNvSpPr/>
          <p:nvPr/>
        </p:nvSpPr>
        <p:spPr>
          <a:xfrm>
            <a:off x="1280160" y="1078992"/>
            <a:ext cx="5029200" cy="457200"/>
          </a:xfrm>
          <a:prstGeom prst="rect">
            <a:avLst/>
          </a:prstGeom>
          <a:noFill/>
          <a:ln/>
        </p:spPr>
        <p:txBody>
          <a:bodyPr wrap="square" lIns="0" tIns="0" rIns="0" bIns="0" rtlCol="0" anchor="ctr"/>
          <a:lstStyle/>
          <a:p>
            <a:pPr marL="0" indent="0">
              <a:buNone/>
            </a:pPr>
            <a:r>
              <a:rPr lang="en-US" sz="1600" b="1" dirty="0">
                <a:solidFill>
                  <a:srgbClr val="00B4D8"/>
                </a:solidFill>
                <a:latin typeface="Calibri" pitchFamily="34" charset="0"/>
                <a:ea typeface="Calibri" pitchFamily="34" charset="-122"/>
                <a:cs typeface="Calibri" pitchFamily="34" charset="-120"/>
              </a:rPr>
              <a:t>Qwen/Qwen2-VL-2B-Instruct</a:t>
            </a:r>
            <a:endParaRPr lang="en-US" sz="1600" dirty="0"/>
          </a:p>
        </p:txBody>
      </p:sp>
      <p:sp>
        <p:nvSpPr>
          <p:cNvPr id="8" name="Text 6"/>
          <p:cNvSpPr/>
          <p:nvPr/>
        </p:nvSpPr>
        <p:spPr>
          <a:xfrm>
            <a:off x="1280160" y="1417320"/>
            <a:ext cx="5029200" cy="274320"/>
          </a:xfrm>
          <a:prstGeom prst="rect">
            <a:avLst/>
          </a:prstGeom>
          <a:noFill/>
          <a:ln/>
        </p:spPr>
        <p:txBody>
          <a:bodyPr wrap="square" lIns="0" tIns="0" rIns="0" bIns="0" rtlCol="0" anchor="ctr"/>
          <a:lstStyle/>
          <a:p>
            <a:pPr marL="0" indent="0">
              <a:buNone/>
            </a:pPr>
            <a:r>
              <a:rPr lang="en-US" sz="1100" dirty="0">
                <a:solidFill>
                  <a:srgbClr val="8DA0B3"/>
                </a:solidFill>
                <a:latin typeface="Calibri" pitchFamily="34" charset="0"/>
                <a:ea typeface="Calibri" pitchFamily="34" charset="-122"/>
                <a:cs typeface="Calibri" pitchFamily="34" charset="-120"/>
              </a:rPr>
              <a:t>Multimodal Vision-Language Model</a:t>
            </a:r>
            <a:endParaRPr lang="en-US" sz="1100" dirty="0"/>
          </a:p>
        </p:txBody>
      </p:sp>
      <p:sp>
        <p:nvSpPr>
          <p:cNvPr id="9" name="Shape 7"/>
          <p:cNvSpPr/>
          <p:nvPr/>
        </p:nvSpPr>
        <p:spPr>
          <a:xfrm>
            <a:off x="411480" y="1920240"/>
            <a:ext cx="4114800" cy="2560320"/>
          </a:xfrm>
          <a:prstGeom prst="rect">
            <a:avLst/>
          </a:prstGeom>
          <a:solidFill>
            <a:srgbClr val="132437"/>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10" name="Shape 8"/>
          <p:cNvSpPr/>
          <p:nvPr/>
        </p:nvSpPr>
        <p:spPr>
          <a:xfrm>
            <a:off x="411480" y="1920240"/>
            <a:ext cx="640080" cy="411480"/>
          </a:xfrm>
          <a:prstGeom prst="rect">
            <a:avLst/>
          </a:prstGeom>
          <a:solidFill>
            <a:srgbClr val="FFB703"/>
          </a:solidFill>
          <a:ln w="12700">
            <a:solidFill>
              <a:srgbClr val="FFB703"/>
            </a:solidFill>
            <a:prstDash val="solid"/>
          </a:ln>
        </p:spPr>
        <p:txBody>
          <a:bodyPr/>
          <a:lstStyle/>
          <a:p>
            <a:endParaRPr lang="en-US"/>
          </a:p>
        </p:txBody>
      </p:sp>
      <p:sp>
        <p:nvSpPr>
          <p:cNvPr id="11" name="Text 9"/>
          <p:cNvSpPr/>
          <p:nvPr/>
        </p:nvSpPr>
        <p:spPr>
          <a:xfrm>
            <a:off x="411480" y="1920240"/>
            <a:ext cx="6400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B1</a:t>
            </a:r>
            <a:endParaRPr lang="en-US" sz="1400" dirty="0"/>
          </a:p>
        </p:txBody>
      </p:sp>
      <p:sp>
        <p:nvSpPr>
          <p:cNvPr id="12" name="Text 10"/>
          <p:cNvSpPr/>
          <p:nvPr/>
        </p:nvSpPr>
        <p:spPr>
          <a:xfrm>
            <a:off x="1143000" y="1965960"/>
            <a:ext cx="320040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Zero-shot</a:t>
            </a:r>
            <a:endParaRPr lang="en-US" sz="1300" dirty="0"/>
          </a:p>
        </p:txBody>
      </p:sp>
      <p:sp>
        <p:nvSpPr>
          <p:cNvPr id="13" name="Text 11"/>
          <p:cNvSpPr/>
          <p:nvPr/>
        </p:nvSpPr>
        <p:spPr>
          <a:xfrm>
            <a:off x="548640" y="2450592"/>
            <a:ext cx="3840480" cy="914400"/>
          </a:xfrm>
          <a:prstGeom prst="rect">
            <a:avLst/>
          </a:prstGeom>
          <a:noFill/>
          <a:ln/>
        </p:spPr>
        <p:txBody>
          <a:bodyPr wrap="square" lIns="50800" tIns="50800" rIns="50800" bIns="50800" rtlCol="0" anchor="ctr"/>
          <a:lstStyle/>
          <a:p>
            <a:pPr marL="0" indent="0">
              <a:buNone/>
            </a:pPr>
            <a:r>
              <a:rPr lang="en-US" sz="1100" dirty="0">
                <a:solidFill>
                  <a:srgbClr val="E8F4FD"/>
                </a:solidFill>
                <a:latin typeface="Calibri" pitchFamily="34" charset="0"/>
                <a:ea typeface="Calibri" pitchFamily="34" charset="-122"/>
                <a:cs typeface="Calibri" pitchFamily="34" charset="-120"/>
              </a:rPr>
              <a:t>Không fine-tune.</a:t>
            </a:r>
            <a:endParaRPr lang="en-US" sz="1100" dirty="0"/>
          </a:p>
          <a:p>
            <a:pPr marL="0" indent="0">
              <a:buNone/>
            </a:pPr>
            <a:r>
              <a:rPr lang="en-US" sz="1100" dirty="0">
                <a:solidFill>
                  <a:srgbClr val="E8F4FD"/>
                </a:solidFill>
                <a:latin typeface="Calibri" pitchFamily="34" charset="0"/>
                <a:ea typeface="Calibri" pitchFamily="34" charset="-122"/>
                <a:cs typeface="Calibri" pitchFamily="34" charset="-120"/>
              </a:rPr>
              <a:t>Dùng base model trực tiếp với prompt tiếng Việt.</a:t>
            </a:r>
            <a:endParaRPr lang="en-US" sz="1100" dirty="0"/>
          </a:p>
        </p:txBody>
      </p:sp>
      <p:sp>
        <p:nvSpPr>
          <p:cNvPr id="14" name="Shape 12"/>
          <p:cNvSpPr/>
          <p:nvPr/>
        </p:nvSpPr>
        <p:spPr>
          <a:xfrm>
            <a:off x="411480" y="3456432"/>
            <a:ext cx="4114800" cy="64008"/>
          </a:xfrm>
          <a:prstGeom prst="rect">
            <a:avLst/>
          </a:prstGeom>
          <a:solidFill>
            <a:srgbClr val="FFB703"/>
          </a:solidFill>
          <a:ln w="12700">
            <a:solidFill>
              <a:srgbClr val="FFB703"/>
            </a:solidFill>
            <a:prstDash val="solid"/>
          </a:ln>
        </p:spPr>
        <p:txBody>
          <a:bodyPr/>
          <a:lstStyle/>
          <a:p>
            <a:endParaRPr lang="en-US"/>
          </a:p>
        </p:txBody>
      </p:sp>
      <p:sp>
        <p:nvSpPr>
          <p:cNvPr id="15" name="Text 13"/>
          <p:cNvSpPr/>
          <p:nvPr/>
        </p:nvSpPr>
        <p:spPr>
          <a:xfrm>
            <a:off x="411480" y="3547872"/>
            <a:ext cx="4114800" cy="640080"/>
          </a:xfrm>
          <a:prstGeom prst="rect">
            <a:avLst/>
          </a:prstGeom>
          <a:noFill/>
          <a:ln/>
        </p:spPr>
        <p:txBody>
          <a:bodyPr wrap="square" lIns="0" tIns="0" rIns="0" bIns="0" rtlCol="0" anchor="ctr"/>
          <a:lstStyle/>
          <a:p>
            <a:pPr marL="0" indent="0" algn="ctr">
              <a:buNone/>
            </a:pPr>
            <a:r>
              <a:rPr lang="en-US" sz="1600" b="1" dirty="0">
                <a:solidFill>
                  <a:srgbClr val="FFB703"/>
                </a:solidFill>
                <a:latin typeface="Calibri" pitchFamily="34" charset="0"/>
                <a:ea typeface="Calibri" pitchFamily="34" charset="-122"/>
                <a:cs typeface="Calibri" pitchFamily="34" charset="-120"/>
              </a:rPr>
              <a:t>Exact Match: 2.96%</a:t>
            </a:r>
            <a:endParaRPr lang="en-US" sz="1600" dirty="0"/>
          </a:p>
        </p:txBody>
      </p:sp>
      <p:sp>
        <p:nvSpPr>
          <p:cNvPr id="16" name="Shape 14"/>
          <p:cNvSpPr/>
          <p:nvPr/>
        </p:nvSpPr>
        <p:spPr>
          <a:xfrm>
            <a:off x="4800600" y="1920240"/>
            <a:ext cx="4114800" cy="2560320"/>
          </a:xfrm>
          <a:prstGeom prst="rect">
            <a:avLst/>
          </a:prstGeom>
          <a:solidFill>
            <a:srgbClr val="132437"/>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17" name="Shape 15"/>
          <p:cNvSpPr/>
          <p:nvPr/>
        </p:nvSpPr>
        <p:spPr>
          <a:xfrm>
            <a:off x="4800600" y="1920240"/>
            <a:ext cx="640080" cy="411480"/>
          </a:xfrm>
          <a:prstGeom prst="rect">
            <a:avLst/>
          </a:prstGeom>
          <a:solidFill>
            <a:srgbClr val="06D6A0"/>
          </a:solidFill>
          <a:ln w="12700">
            <a:solidFill>
              <a:srgbClr val="06D6A0"/>
            </a:solidFill>
            <a:prstDash val="solid"/>
          </a:ln>
        </p:spPr>
        <p:txBody>
          <a:bodyPr/>
          <a:lstStyle/>
          <a:p>
            <a:endParaRPr lang="en-US"/>
          </a:p>
        </p:txBody>
      </p:sp>
      <p:sp>
        <p:nvSpPr>
          <p:cNvPr id="18" name="Text 16"/>
          <p:cNvSpPr/>
          <p:nvPr/>
        </p:nvSpPr>
        <p:spPr>
          <a:xfrm>
            <a:off x="4800600" y="1920240"/>
            <a:ext cx="6400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B2</a:t>
            </a:r>
            <a:endParaRPr lang="en-US" sz="1400" dirty="0"/>
          </a:p>
        </p:txBody>
      </p:sp>
      <p:sp>
        <p:nvSpPr>
          <p:cNvPr id="19" name="Text 17"/>
          <p:cNvSpPr/>
          <p:nvPr/>
        </p:nvSpPr>
        <p:spPr>
          <a:xfrm>
            <a:off x="5532120" y="1965960"/>
            <a:ext cx="320040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LoRA Fine-tuned</a:t>
            </a:r>
            <a:endParaRPr lang="en-US" sz="1300" dirty="0"/>
          </a:p>
        </p:txBody>
      </p:sp>
      <p:sp>
        <p:nvSpPr>
          <p:cNvPr id="20" name="Text 18"/>
          <p:cNvSpPr/>
          <p:nvPr/>
        </p:nvSpPr>
        <p:spPr>
          <a:xfrm>
            <a:off x="4937760" y="2450592"/>
            <a:ext cx="3840480" cy="914400"/>
          </a:xfrm>
          <a:prstGeom prst="rect">
            <a:avLst/>
          </a:prstGeom>
          <a:noFill/>
          <a:ln/>
        </p:spPr>
        <p:txBody>
          <a:bodyPr wrap="square" lIns="50800" tIns="50800" rIns="50800" bIns="50800" rtlCol="0" anchor="ctr"/>
          <a:lstStyle/>
          <a:p>
            <a:pPr marL="0" indent="0">
              <a:buNone/>
            </a:pPr>
            <a:r>
              <a:rPr lang="en-US" sz="1100" dirty="0">
                <a:solidFill>
                  <a:srgbClr val="E8F4FD"/>
                </a:solidFill>
                <a:latin typeface="Calibri" pitchFamily="34" charset="0"/>
                <a:ea typeface="Calibri" pitchFamily="34" charset="-122"/>
                <a:cs typeface="Calibri" pitchFamily="34" charset="-120"/>
              </a:rPr>
              <a:t>Fine-tune bằng LoRA/QLoRA trên Colab T4.</a:t>
            </a:r>
            <a:endParaRPr lang="en-US" sz="1100" dirty="0"/>
          </a:p>
          <a:p>
            <a:pPr marL="0" indent="0">
              <a:buNone/>
            </a:pPr>
            <a:r>
              <a:rPr lang="en-US" sz="1100" dirty="0">
                <a:solidFill>
                  <a:srgbClr val="E8F4FD"/>
                </a:solidFill>
                <a:latin typeface="Calibri" pitchFamily="34" charset="0"/>
                <a:ea typeface="Calibri" pitchFamily="34" charset="-122"/>
                <a:cs typeface="Calibri" pitchFamily="34" charset="-120"/>
              </a:rPr>
              <a:t>Adapter nhẹ (~vài chục MB).</a:t>
            </a:r>
            <a:endParaRPr lang="en-US" sz="1100" dirty="0"/>
          </a:p>
        </p:txBody>
      </p:sp>
      <p:sp>
        <p:nvSpPr>
          <p:cNvPr id="21" name="Shape 19"/>
          <p:cNvSpPr/>
          <p:nvPr/>
        </p:nvSpPr>
        <p:spPr>
          <a:xfrm>
            <a:off x="4800600" y="3456432"/>
            <a:ext cx="4114800" cy="64008"/>
          </a:xfrm>
          <a:prstGeom prst="rect">
            <a:avLst/>
          </a:prstGeom>
          <a:solidFill>
            <a:srgbClr val="06D6A0"/>
          </a:solidFill>
          <a:ln w="12700">
            <a:solidFill>
              <a:srgbClr val="06D6A0"/>
            </a:solidFill>
            <a:prstDash val="solid"/>
          </a:ln>
        </p:spPr>
        <p:txBody>
          <a:bodyPr/>
          <a:lstStyle/>
          <a:p>
            <a:endParaRPr lang="en-US"/>
          </a:p>
        </p:txBody>
      </p:sp>
      <p:sp>
        <p:nvSpPr>
          <p:cNvPr id="22" name="Text 20"/>
          <p:cNvSpPr/>
          <p:nvPr/>
        </p:nvSpPr>
        <p:spPr>
          <a:xfrm>
            <a:off x="4800600" y="3547872"/>
            <a:ext cx="4114800" cy="640080"/>
          </a:xfrm>
          <a:prstGeom prst="rect">
            <a:avLst/>
          </a:prstGeom>
          <a:noFill/>
          <a:ln/>
        </p:spPr>
        <p:txBody>
          <a:bodyPr wrap="square" lIns="0" tIns="0" rIns="0" bIns="0" rtlCol="0" anchor="ctr"/>
          <a:lstStyle/>
          <a:p>
            <a:pPr marL="0" indent="0" algn="ctr">
              <a:buNone/>
            </a:pPr>
            <a:r>
              <a:rPr lang="en-US" sz="1600" b="1" dirty="0">
                <a:solidFill>
                  <a:srgbClr val="06D6A0"/>
                </a:solidFill>
                <a:latin typeface="Calibri" pitchFamily="34" charset="0"/>
                <a:ea typeface="Calibri" pitchFamily="34" charset="-122"/>
                <a:cs typeface="Calibri" pitchFamily="34" charset="-120"/>
              </a:rPr>
              <a:t>Exact Match: 43.33%</a:t>
            </a:r>
            <a:endParaRPr lang="en-US" sz="1600" dirty="0"/>
          </a:p>
        </p:txBody>
      </p:sp>
      <p:sp>
        <p:nvSpPr>
          <p:cNvPr id="23" name="Shape 21"/>
          <p:cNvSpPr/>
          <p:nvPr/>
        </p:nvSpPr>
        <p:spPr>
          <a:xfrm>
            <a:off x="411480" y="4617720"/>
            <a:ext cx="8321040" cy="457200"/>
          </a:xfrm>
          <a:prstGeom prst="rect">
            <a:avLst/>
          </a:prstGeom>
          <a:solidFill>
            <a:srgbClr val="091826"/>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24" name="Text 22"/>
          <p:cNvSpPr/>
          <p:nvPr/>
        </p:nvSpPr>
        <p:spPr>
          <a:xfrm>
            <a:off x="548640" y="4663440"/>
            <a:ext cx="8046720" cy="347472"/>
          </a:xfrm>
          <a:prstGeom prst="rect">
            <a:avLst/>
          </a:prstGeom>
          <a:noFill/>
          <a:ln/>
        </p:spPr>
        <p:txBody>
          <a:bodyPr wrap="square" lIns="0" tIns="0" rIns="0" bIns="0" rtlCol="0" anchor="ctr"/>
          <a:lstStyle/>
          <a:p>
            <a:pPr marL="0" indent="0">
              <a:buNone/>
            </a:pPr>
            <a:r>
              <a:rPr lang="en-US" sz="1050" i="1" dirty="0">
                <a:solidFill>
                  <a:srgbClr val="48CAE4"/>
                </a:solidFill>
                <a:latin typeface="Calibri" pitchFamily="34" charset="0"/>
                <a:ea typeface="Calibri" pitchFamily="34" charset="-122"/>
                <a:cs typeface="Calibri" pitchFamily="34" charset="-120"/>
              </a:rPr>
              <a:t>🇻🇳  Chiến lược tiếng Việt: Dùng trực tiếp câu hỏi và prompt tiếng Việt — không dịch sang tiếng Anh để giữ đúng ngữ cảnh.</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411480" y="694944"/>
            <a:ext cx="8321040" cy="22860"/>
          </a:xfrm>
          <a:prstGeom prst="rect">
            <a:avLst/>
          </a:prstGeom>
          <a:solidFill>
            <a:srgbClr val="00B4D8"/>
          </a:solidFill>
          <a:ln w="12700">
            <a:solidFill>
              <a:srgbClr val="00B4D8"/>
            </a:solidFill>
            <a:prstDash val="solid"/>
          </a:ln>
        </p:spPr>
        <p:txBody>
          <a:bodyPr/>
          <a:lstStyle/>
          <a:p>
            <a:endParaRPr lang="en-US"/>
          </a:p>
        </p:txBody>
      </p:sp>
      <p:sp>
        <p:nvSpPr>
          <p:cNvPr id="3" name="Text 1"/>
          <p:cNvSpPr/>
          <p:nvPr/>
        </p:nvSpPr>
        <p:spPr>
          <a:xfrm>
            <a:off x="411480" y="256032"/>
            <a:ext cx="8321040" cy="502920"/>
          </a:xfrm>
          <a:prstGeom prst="rect">
            <a:avLst/>
          </a:prstGeom>
          <a:noFill/>
          <a:ln/>
        </p:spPr>
        <p:txBody>
          <a:bodyPr wrap="square" lIns="0" tIns="0" rIns="0" bIns="0" rtlCol="0" anchor="ctr"/>
          <a:lstStyle/>
          <a:p>
            <a:pPr marL="0" indent="0">
              <a:buNone/>
            </a:pPr>
            <a:r>
              <a:rPr lang="en-US" sz="2600" b="1" dirty="0">
                <a:solidFill>
                  <a:srgbClr val="00B4D8"/>
                </a:solidFill>
                <a:latin typeface="Calibri" pitchFamily="34" charset="0"/>
                <a:ea typeface="Calibri" pitchFamily="34" charset="-122"/>
                <a:cs typeface="Calibri" pitchFamily="34" charset="-120"/>
              </a:rPr>
              <a:t>7. Huấn Luyện</a:t>
            </a:r>
            <a:endParaRPr lang="en-US" sz="2600" dirty="0"/>
          </a:p>
        </p:txBody>
      </p:sp>
      <p:sp>
        <p:nvSpPr>
          <p:cNvPr id="4" name="Text 2"/>
          <p:cNvSpPr/>
          <p:nvPr/>
        </p:nvSpPr>
        <p:spPr>
          <a:xfrm>
            <a:off x="8046720" y="4846320"/>
            <a:ext cx="822960" cy="182880"/>
          </a:xfrm>
          <a:prstGeom prst="rect">
            <a:avLst/>
          </a:prstGeom>
          <a:noFill/>
          <a:ln/>
        </p:spPr>
        <p:txBody>
          <a:bodyPr wrap="square" lIns="0" tIns="0" rIns="0" bIns="0" rtlCol="0" anchor="ctr"/>
          <a:lstStyle/>
          <a:p>
            <a:pPr marL="0" indent="0" algn="r">
              <a:buNone/>
            </a:pPr>
            <a:r>
              <a:rPr lang="en-US" sz="900" dirty="0">
                <a:solidFill>
                  <a:srgbClr val="8DA0B3"/>
                </a:solidFill>
                <a:latin typeface="Calibri" pitchFamily="34" charset="0"/>
                <a:ea typeface="Calibri" pitchFamily="34" charset="-122"/>
                <a:cs typeface="Calibri" pitchFamily="34" charset="-120"/>
              </a:rPr>
              <a:t>7 / 15</a:t>
            </a:r>
            <a:endParaRPr lang="en-US" sz="900" dirty="0"/>
          </a:p>
        </p:txBody>
      </p:sp>
      <p:sp>
        <p:nvSpPr>
          <p:cNvPr id="5" name="Shape 3"/>
          <p:cNvSpPr/>
          <p:nvPr/>
        </p:nvSpPr>
        <p:spPr>
          <a:xfrm>
            <a:off x="411480" y="960120"/>
            <a:ext cx="3931920" cy="3794760"/>
          </a:xfrm>
          <a:prstGeom prst="rect">
            <a:avLst/>
          </a:prstGeom>
          <a:solidFill>
            <a:srgbClr val="132437"/>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6" name="Shape 4"/>
          <p:cNvSpPr/>
          <p:nvPr/>
        </p:nvSpPr>
        <p:spPr>
          <a:xfrm>
            <a:off x="411480" y="960120"/>
            <a:ext cx="3931920" cy="411480"/>
          </a:xfrm>
          <a:prstGeom prst="rect">
            <a:avLst/>
          </a:prstGeom>
          <a:solidFill>
            <a:srgbClr val="0077B6"/>
          </a:solidFill>
          <a:ln w="12700">
            <a:solidFill>
              <a:srgbClr val="0077B6"/>
            </a:solidFill>
            <a:prstDash val="solid"/>
          </a:ln>
        </p:spPr>
        <p:txBody>
          <a:bodyPr/>
          <a:lstStyle/>
          <a:p>
            <a:endParaRPr lang="en-US"/>
          </a:p>
        </p:txBody>
      </p:sp>
      <p:sp>
        <p:nvSpPr>
          <p:cNvPr id="7" name="Text 5"/>
          <p:cNvSpPr/>
          <p:nvPr/>
        </p:nvSpPr>
        <p:spPr>
          <a:xfrm>
            <a:off x="502920" y="1005840"/>
            <a:ext cx="374904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A1 / A2 — Kiến trúc rời</a:t>
            </a:r>
            <a:endParaRPr lang="en-US" sz="1200" dirty="0"/>
          </a:p>
        </p:txBody>
      </p:sp>
      <p:sp>
        <p:nvSpPr>
          <p:cNvPr id="8" name="Shape 6"/>
          <p:cNvSpPr/>
          <p:nvPr/>
        </p:nvSpPr>
        <p:spPr>
          <a:xfrm>
            <a:off x="594360" y="1536192"/>
            <a:ext cx="109728" cy="109728"/>
          </a:xfrm>
          <a:prstGeom prst="ellipse">
            <a:avLst/>
          </a:prstGeom>
          <a:solidFill>
            <a:srgbClr val="00B4D8"/>
          </a:solidFill>
          <a:ln w="12700">
            <a:solidFill>
              <a:srgbClr val="00B4D8"/>
            </a:solidFill>
            <a:prstDash val="solid"/>
          </a:ln>
        </p:spPr>
        <p:txBody>
          <a:bodyPr/>
          <a:lstStyle/>
          <a:p>
            <a:endParaRPr lang="en-US"/>
          </a:p>
        </p:txBody>
      </p:sp>
      <p:sp>
        <p:nvSpPr>
          <p:cNvPr id="9" name="Text 7"/>
          <p:cNvSpPr/>
          <p:nvPr/>
        </p:nvSpPr>
        <p:spPr>
          <a:xfrm>
            <a:off x="804672" y="1481328"/>
            <a:ext cx="3383280" cy="475488"/>
          </a:xfrm>
          <a:prstGeom prst="rect">
            <a:avLst/>
          </a:prstGeom>
          <a:noFill/>
          <a:ln/>
        </p:spPr>
        <p:txBody>
          <a:bodyPr wrap="square" lIns="0" tIns="0" rIns="0" bIns="0" rtlCol="0" anchor="ctr"/>
          <a:lstStyle/>
          <a:p>
            <a:pPr marL="0" indent="0">
              <a:buNone/>
            </a:pPr>
            <a:r>
              <a:rPr lang="en-US" sz="1150" dirty="0">
                <a:solidFill>
                  <a:srgbClr val="E8F4FD"/>
                </a:solidFill>
                <a:latin typeface="Calibri" pitchFamily="34" charset="0"/>
                <a:ea typeface="Calibri" pitchFamily="34" charset="-122"/>
                <a:cs typeface="Calibri" pitchFamily="34" charset="-120"/>
              </a:rPr>
              <a:t>Train trên train.json</a:t>
            </a:r>
            <a:endParaRPr lang="en-US" sz="1150" dirty="0"/>
          </a:p>
        </p:txBody>
      </p:sp>
      <p:sp>
        <p:nvSpPr>
          <p:cNvPr id="10" name="Shape 8"/>
          <p:cNvSpPr/>
          <p:nvPr/>
        </p:nvSpPr>
        <p:spPr>
          <a:xfrm>
            <a:off x="594360" y="2103120"/>
            <a:ext cx="109728" cy="109728"/>
          </a:xfrm>
          <a:prstGeom prst="ellipse">
            <a:avLst/>
          </a:prstGeom>
          <a:solidFill>
            <a:srgbClr val="00B4D8"/>
          </a:solidFill>
          <a:ln w="12700">
            <a:solidFill>
              <a:srgbClr val="00B4D8"/>
            </a:solidFill>
            <a:prstDash val="solid"/>
          </a:ln>
        </p:spPr>
        <p:txBody>
          <a:bodyPr/>
          <a:lstStyle/>
          <a:p>
            <a:endParaRPr lang="en-US"/>
          </a:p>
        </p:txBody>
      </p:sp>
      <p:sp>
        <p:nvSpPr>
          <p:cNvPr id="11" name="Text 9"/>
          <p:cNvSpPr/>
          <p:nvPr/>
        </p:nvSpPr>
        <p:spPr>
          <a:xfrm>
            <a:off x="804672" y="2048256"/>
            <a:ext cx="3383280" cy="475488"/>
          </a:xfrm>
          <a:prstGeom prst="rect">
            <a:avLst/>
          </a:prstGeom>
          <a:noFill/>
          <a:ln/>
        </p:spPr>
        <p:txBody>
          <a:bodyPr wrap="square" lIns="0" tIns="0" rIns="0" bIns="0" rtlCol="0" anchor="ctr"/>
          <a:lstStyle/>
          <a:p>
            <a:pPr marL="0" indent="0">
              <a:buNone/>
            </a:pPr>
            <a:r>
              <a:rPr lang="en-US" sz="1150" dirty="0">
                <a:solidFill>
                  <a:srgbClr val="E8F4FD"/>
                </a:solidFill>
                <a:latin typeface="Calibri" pitchFamily="34" charset="0"/>
                <a:ea typeface="Calibri" pitchFamily="34" charset="-122"/>
                <a:cs typeface="Calibri" pitchFamily="34" charset="-120"/>
              </a:rPr>
              <a:t>Theo dõi validation loss / accuracy</a:t>
            </a:r>
            <a:endParaRPr lang="en-US" sz="1150" dirty="0"/>
          </a:p>
        </p:txBody>
      </p:sp>
      <p:sp>
        <p:nvSpPr>
          <p:cNvPr id="12" name="Shape 10"/>
          <p:cNvSpPr/>
          <p:nvPr/>
        </p:nvSpPr>
        <p:spPr>
          <a:xfrm>
            <a:off x="594360" y="2670048"/>
            <a:ext cx="109728" cy="109728"/>
          </a:xfrm>
          <a:prstGeom prst="ellipse">
            <a:avLst/>
          </a:prstGeom>
          <a:solidFill>
            <a:srgbClr val="00B4D8"/>
          </a:solidFill>
          <a:ln w="12700">
            <a:solidFill>
              <a:srgbClr val="00B4D8"/>
            </a:solidFill>
            <a:prstDash val="solid"/>
          </a:ln>
        </p:spPr>
        <p:txBody>
          <a:bodyPr/>
          <a:lstStyle/>
          <a:p>
            <a:endParaRPr lang="en-US"/>
          </a:p>
        </p:txBody>
      </p:sp>
      <p:sp>
        <p:nvSpPr>
          <p:cNvPr id="13" name="Text 11"/>
          <p:cNvSpPr/>
          <p:nvPr/>
        </p:nvSpPr>
        <p:spPr>
          <a:xfrm>
            <a:off x="804672" y="2615184"/>
            <a:ext cx="3383280" cy="475488"/>
          </a:xfrm>
          <a:prstGeom prst="rect">
            <a:avLst/>
          </a:prstGeom>
          <a:noFill/>
          <a:ln/>
        </p:spPr>
        <p:txBody>
          <a:bodyPr wrap="square" lIns="0" tIns="0" rIns="0" bIns="0" rtlCol="0" anchor="ctr"/>
          <a:lstStyle/>
          <a:p>
            <a:pPr marL="0" indent="0">
              <a:buNone/>
            </a:pPr>
            <a:r>
              <a:rPr lang="en-US" sz="1150" dirty="0">
                <a:solidFill>
                  <a:srgbClr val="E8F4FD"/>
                </a:solidFill>
                <a:latin typeface="Calibri" pitchFamily="34" charset="0"/>
                <a:ea typeface="Calibri" pitchFamily="34" charset="-122"/>
                <a:cs typeface="Calibri" pitchFamily="34" charset="-120"/>
              </a:rPr>
              <a:t>Lưu best và latest checkpoint</a:t>
            </a:r>
            <a:endParaRPr lang="en-US" sz="1150" dirty="0"/>
          </a:p>
        </p:txBody>
      </p:sp>
      <p:sp>
        <p:nvSpPr>
          <p:cNvPr id="14" name="Shape 12"/>
          <p:cNvSpPr/>
          <p:nvPr/>
        </p:nvSpPr>
        <p:spPr>
          <a:xfrm>
            <a:off x="594360" y="3236976"/>
            <a:ext cx="109728" cy="109728"/>
          </a:xfrm>
          <a:prstGeom prst="ellipse">
            <a:avLst/>
          </a:prstGeom>
          <a:solidFill>
            <a:srgbClr val="00B4D8"/>
          </a:solidFill>
          <a:ln w="12700">
            <a:solidFill>
              <a:srgbClr val="00B4D8"/>
            </a:solidFill>
            <a:prstDash val="solid"/>
          </a:ln>
        </p:spPr>
        <p:txBody>
          <a:bodyPr/>
          <a:lstStyle/>
          <a:p>
            <a:endParaRPr lang="en-US"/>
          </a:p>
        </p:txBody>
      </p:sp>
      <p:sp>
        <p:nvSpPr>
          <p:cNvPr id="15" name="Text 13"/>
          <p:cNvSpPr/>
          <p:nvPr/>
        </p:nvSpPr>
        <p:spPr>
          <a:xfrm>
            <a:off x="804672" y="3182112"/>
            <a:ext cx="3383280" cy="475488"/>
          </a:xfrm>
          <a:prstGeom prst="rect">
            <a:avLst/>
          </a:prstGeom>
          <a:noFill/>
          <a:ln/>
        </p:spPr>
        <p:txBody>
          <a:bodyPr wrap="square" lIns="0" tIns="0" rIns="0" bIns="0" rtlCol="0" anchor="ctr"/>
          <a:lstStyle/>
          <a:p>
            <a:pPr marL="0" indent="0">
              <a:buNone/>
            </a:pPr>
            <a:r>
              <a:rPr lang="en-US" sz="1150" dirty="0">
                <a:solidFill>
                  <a:srgbClr val="E8F4FD"/>
                </a:solidFill>
                <a:latin typeface="Calibri" pitchFamily="34" charset="0"/>
                <a:ea typeface="Calibri" pitchFamily="34" charset="-122"/>
                <a:cs typeface="Calibri" pitchFamily="34" charset="-120"/>
              </a:rPr>
              <a:t>Vẽ biểu đồ loss/accuracy từ history</a:t>
            </a:r>
            <a:endParaRPr lang="en-US" sz="1150" dirty="0"/>
          </a:p>
        </p:txBody>
      </p:sp>
      <p:sp>
        <p:nvSpPr>
          <p:cNvPr id="16" name="Shape 14"/>
          <p:cNvSpPr/>
          <p:nvPr/>
        </p:nvSpPr>
        <p:spPr>
          <a:xfrm>
            <a:off x="4800600" y="960120"/>
            <a:ext cx="3931920" cy="3794760"/>
          </a:xfrm>
          <a:prstGeom prst="rect">
            <a:avLst/>
          </a:prstGeom>
          <a:solidFill>
            <a:srgbClr val="132437"/>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17" name="Shape 15"/>
          <p:cNvSpPr/>
          <p:nvPr/>
        </p:nvSpPr>
        <p:spPr>
          <a:xfrm>
            <a:off x="4800600" y="960120"/>
            <a:ext cx="3931920" cy="411480"/>
          </a:xfrm>
          <a:prstGeom prst="rect">
            <a:avLst/>
          </a:prstGeom>
          <a:solidFill>
            <a:srgbClr val="1D4E89"/>
          </a:solidFill>
          <a:ln w="12700">
            <a:solidFill>
              <a:srgbClr val="1D4E89"/>
            </a:solidFill>
            <a:prstDash val="solid"/>
          </a:ln>
        </p:spPr>
        <p:txBody>
          <a:bodyPr/>
          <a:lstStyle/>
          <a:p>
            <a:endParaRPr lang="en-US"/>
          </a:p>
        </p:txBody>
      </p:sp>
      <p:sp>
        <p:nvSpPr>
          <p:cNvPr id="18" name="Text 16"/>
          <p:cNvSpPr/>
          <p:nvPr/>
        </p:nvSpPr>
        <p:spPr>
          <a:xfrm>
            <a:off x="4892040" y="1005840"/>
            <a:ext cx="374904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B2 — LoRA Fine-tuning</a:t>
            </a:r>
            <a:endParaRPr lang="en-US" sz="1200" dirty="0"/>
          </a:p>
        </p:txBody>
      </p:sp>
      <p:sp>
        <p:nvSpPr>
          <p:cNvPr id="19" name="Shape 17"/>
          <p:cNvSpPr/>
          <p:nvPr/>
        </p:nvSpPr>
        <p:spPr>
          <a:xfrm>
            <a:off x="4983480" y="1536192"/>
            <a:ext cx="109728" cy="109728"/>
          </a:xfrm>
          <a:prstGeom prst="ellipse">
            <a:avLst/>
          </a:prstGeom>
          <a:solidFill>
            <a:srgbClr val="00B4D8"/>
          </a:solidFill>
          <a:ln w="12700">
            <a:solidFill>
              <a:srgbClr val="00B4D8"/>
            </a:solidFill>
            <a:prstDash val="solid"/>
          </a:ln>
        </p:spPr>
        <p:txBody>
          <a:bodyPr/>
          <a:lstStyle/>
          <a:p>
            <a:endParaRPr lang="en-US"/>
          </a:p>
        </p:txBody>
      </p:sp>
      <p:sp>
        <p:nvSpPr>
          <p:cNvPr id="20" name="Text 18"/>
          <p:cNvSpPr/>
          <p:nvPr/>
        </p:nvSpPr>
        <p:spPr>
          <a:xfrm>
            <a:off x="5193792" y="1481328"/>
            <a:ext cx="3383280" cy="475488"/>
          </a:xfrm>
          <a:prstGeom prst="rect">
            <a:avLst/>
          </a:prstGeom>
          <a:noFill/>
          <a:ln/>
        </p:spPr>
        <p:txBody>
          <a:bodyPr wrap="square" lIns="0" tIns="0" rIns="0" bIns="0" rtlCol="0" anchor="ctr"/>
          <a:lstStyle/>
          <a:p>
            <a:pPr marL="0" indent="0">
              <a:buNone/>
            </a:pPr>
            <a:r>
              <a:rPr lang="en-US" sz="1150" dirty="0">
                <a:solidFill>
                  <a:srgbClr val="E8F4FD"/>
                </a:solidFill>
                <a:latin typeface="Calibri" pitchFamily="34" charset="0"/>
                <a:ea typeface="Calibri" pitchFamily="34" charset="-122"/>
                <a:cs typeface="Calibri" pitchFamily="34" charset="-120"/>
              </a:rPr>
              <a:t>Fine-tune Qwen2-VL bằng LoRA</a:t>
            </a:r>
            <a:endParaRPr lang="en-US" sz="1150" dirty="0"/>
          </a:p>
        </p:txBody>
      </p:sp>
      <p:sp>
        <p:nvSpPr>
          <p:cNvPr id="21" name="Shape 19"/>
          <p:cNvSpPr/>
          <p:nvPr/>
        </p:nvSpPr>
        <p:spPr>
          <a:xfrm>
            <a:off x="4983480" y="2103120"/>
            <a:ext cx="109728" cy="109728"/>
          </a:xfrm>
          <a:prstGeom prst="ellipse">
            <a:avLst/>
          </a:prstGeom>
          <a:solidFill>
            <a:srgbClr val="00B4D8"/>
          </a:solidFill>
          <a:ln w="12700">
            <a:solidFill>
              <a:srgbClr val="00B4D8"/>
            </a:solidFill>
            <a:prstDash val="solid"/>
          </a:ln>
        </p:spPr>
        <p:txBody>
          <a:bodyPr/>
          <a:lstStyle/>
          <a:p>
            <a:endParaRPr lang="en-US"/>
          </a:p>
        </p:txBody>
      </p:sp>
      <p:sp>
        <p:nvSpPr>
          <p:cNvPr id="22" name="Text 20"/>
          <p:cNvSpPr/>
          <p:nvPr/>
        </p:nvSpPr>
        <p:spPr>
          <a:xfrm>
            <a:off x="5193792" y="2048256"/>
            <a:ext cx="3383280" cy="475488"/>
          </a:xfrm>
          <a:prstGeom prst="rect">
            <a:avLst/>
          </a:prstGeom>
          <a:noFill/>
          <a:ln/>
        </p:spPr>
        <p:txBody>
          <a:bodyPr wrap="square" lIns="0" tIns="0" rIns="0" bIns="0" rtlCol="0" anchor="ctr"/>
          <a:lstStyle/>
          <a:p>
            <a:pPr marL="0" indent="0">
              <a:buNone/>
            </a:pPr>
            <a:r>
              <a:rPr lang="en-US" sz="1150" dirty="0">
                <a:solidFill>
                  <a:srgbClr val="E8F4FD"/>
                </a:solidFill>
                <a:latin typeface="Calibri" pitchFamily="34" charset="0"/>
                <a:ea typeface="Calibri" pitchFamily="34" charset="-122"/>
                <a:cs typeface="Calibri" pitchFamily="34" charset="-120"/>
              </a:rPr>
              <a:t>Chạy trên Google Colab T4 GPU</a:t>
            </a:r>
            <a:endParaRPr lang="en-US" sz="1150" dirty="0"/>
          </a:p>
        </p:txBody>
      </p:sp>
      <p:sp>
        <p:nvSpPr>
          <p:cNvPr id="23" name="Shape 21"/>
          <p:cNvSpPr/>
          <p:nvPr/>
        </p:nvSpPr>
        <p:spPr>
          <a:xfrm>
            <a:off x="4983480" y="2670048"/>
            <a:ext cx="109728" cy="109728"/>
          </a:xfrm>
          <a:prstGeom prst="ellipse">
            <a:avLst/>
          </a:prstGeom>
          <a:solidFill>
            <a:srgbClr val="00B4D8"/>
          </a:solidFill>
          <a:ln w="12700">
            <a:solidFill>
              <a:srgbClr val="00B4D8"/>
            </a:solidFill>
            <a:prstDash val="solid"/>
          </a:ln>
        </p:spPr>
        <p:txBody>
          <a:bodyPr/>
          <a:lstStyle/>
          <a:p>
            <a:endParaRPr lang="en-US"/>
          </a:p>
        </p:txBody>
      </p:sp>
      <p:sp>
        <p:nvSpPr>
          <p:cNvPr id="24" name="Text 22"/>
          <p:cNvSpPr/>
          <p:nvPr/>
        </p:nvSpPr>
        <p:spPr>
          <a:xfrm>
            <a:off x="5193792" y="2615184"/>
            <a:ext cx="3383280" cy="475488"/>
          </a:xfrm>
          <a:prstGeom prst="rect">
            <a:avLst/>
          </a:prstGeom>
          <a:noFill/>
          <a:ln/>
        </p:spPr>
        <p:txBody>
          <a:bodyPr wrap="square" lIns="0" tIns="0" rIns="0" bIns="0" rtlCol="0" anchor="ctr"/>
          <a:lstStyle/>
          <a:p>
            <a:pPr marL="0" indent="0">
              <a:buNone/>
            </a:pPr>
            <a:r>
              <a:rPr lang="en-US" sz="1150" dirty="0">
                <a:solidFill>
                  <a:srgbClr val="E8F4FD"/>
                </a:solidFill>
                <a:latin typeface="Calibri" pitchFamily="34" charset="0"/>
                <a:ea typeface="Calibri" pitchFamily="34" charset="-122"/>
                <a:cs typeface="Calibri" pitchFamily="34" charset="-120"/>
              </a:rPr>
              <a:t>LoRA adapter nhẹ (~vài chục MB)</a:t>
            </a:r>
            <a:endParaRPr lang="en-US" sz="1150" dirty="0"/>
          </a:p>
        </p:txBody>
      </p:sp>
      <p:sp>
        <p:nvSpPr>
          <p:cNvPr id="25" name="Shape 23"/>
          <p:cNvSpPr/>
          <p:nvPr/>
        </p:nvSpPr>
        <p:spPr>
          <a:xfrm>
            <a:off x="4983480" y="3236976"/>
            <a:ext cx="109728" cy="109728"/>
          </a:xfrm>
          <a:prstGeom prst="ellipse">
            <a:avLst/>
          </a:prstGeom>
          <a:solidFill>
            <a:srgbClr val="00B4D8"/>
          </a:solidFill>
          <a:ln w="12700">
            <a:solidFill>
              <a:srgbClr val="00B4D8"/>
            </a:solidFill>
            <a:prstDash val="solid"/>
          </a:ln>
        </p:spPr>
        <p:txBody>
          <a:bodyPr/>
          <a:lstStyle/>
          <a:p>
            <a:endParaRPr lang="en-US"/>
          </a:p>
        </p:txBody>
      </p:sp>
      <p:sp>
        <p:nvSpPr>
          <p:cNvPr id="26" name="Text 24"/>
          <p:cNvSpPr/>
          <p:nvPr/>
        </p:nvSpPr>
        <p:spPr>
          <a:xfrm>
            <a:off x="5193792" y="3182112"/>
            <a:ext cx="3383280" cy="475488"/>
          </a:xfrm>
          <a:prstGeom prst="rect">
            <a:avLst/>
          </a:prstGeom>
          <a:noFill/>
          <a:ln/>
        </p:spPr>
        <p:txBody>
          <a:bodyPr wrap="square" lIns="0" tIns="0" rIns="0" bIns="0" rtlCol="0" anchor="ctr"/>
          <a:lstStyle/>
          <a:p>
            <a:pPr marL="0" indent="0">
              <a:buNone/>
            </a:pPr>
            <a:r>
              <a:rPr lang="en-US" sz="1150" dirty="0">
                <a:solidFill>
                  <a:srgbClr val="E8F4FD"/>
                </a:solidFill>
                <a:latin typeface="Calibri" pitchFamily="34" charset="0"/>
                <a:ea typeface="Calibri" pitchFamily="34" charset="-122"/>
                <a:cs typeface="Calibri" pitchFamily="34" charset="-120"/>
              </a:rPr>
              <a:t>Base model cache từ HuggingFace/Drive</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411480" y="694944"/>
            <a:ext cx="8321040" cy="22860"/>
          </a:xfrm>
          <a:prstGeom prst="rect">
            <a:avLst/>
          </a:prstGeom>
          <a:solidFill>
            <a:srgbClr val="00B4D8"/>
          </a:solidFill>
          <a:ln w="12700">
            <a:solidFill>
              <a:srgbClr val="00B4D8"/>
            </a:solidFill>
            <a:prstDash val="solid"/>
          </a:ln>
        </p:spPr>
        <p:txBody>
          <a:bodyPr/>
          <a:lstStyle/>
          <a:p>
            <a:endParaRPr lang="en-US"/>
          </a:p>
        </p:txBody>
      </p:sp>
      <p:sp>
        <p:nvSpPr>
          <p:cNvPr id="3" name="Text 1"/>
          <p:cNvSpPr/>
          <p:nvPr/>
        </p:nvSpPr>
        <p:spPr>
          <a:xfrm>
            <a:off x="411480" y="256032"/>
            <a:ext cx="8321040" cy="502920"/>
          </a:xfrm>
          <a:prstGeom prst="rect">
            <a:avLst/>
          </a:prstGeom>
          <a:noFill/>
          <a:ln/>
        </p:spPr>
        <p:txBody>
          <a:bodyPr wrap="square" lIns="0" tIns="0" rIns="0" bIns="0" rtlCol="0" anchor="ctr"/>
          <a:lstStyle/>
          <a:p>
            <a:pPr marL="0" indent="0">
              <a:buNone/>
            </a:pPr>
            <a:r>
              <a:rPr lang="en-US" sz="2600" b="1" dirty="0">
                <a:solidFill>
                  <a:srgbClr val="00B4D8"/>
                </a:solidFill>
                <a:latin typeface="Calibri" pitchFamily="34" charset="0"/>
                <a:ea typeface="Calibri" pitchFamily="34" charset="-122"/>
                <a:cs typeface="Calibri" pitchFamily="34" charset="-120"/>
              </a:rPr>
              <a:t>8. Kết Quả Thực Nghiệm</a:t>
            </a:r>
            <a:endParaRPr lang="en-US" sz="2600" dirty="0"/>
          </a:p>
        </p:txBody>
      </p:sp>
      <p:sp>
        <p:nvSpPr>
          <p:cNvPr id="4" name="Text 2"/>
          <p:cNvSpPr/>
          <p:nvPr/>
        </p:nvSpPr>
        <p:spPr>
          <a:xfrm>
            <a:off x="8046720" y="4846320"/>
            <a:ext cx="822960" cy="182880"/>
          </a:xfrm>
          <a:prstGeom prst="rect">
            <a:avLst/>
          </a:prstGeom>
          <a:noFill/>
          <a:ln/>
        </p:spPr>
        <p:txBody>
          <a:bodyPr wrap="square" lIns="0" tIns="0" rIns="0" bIns="0" rtlCol="0" anchor="ctr"/>
          <a:lstStyle/>
          <a:p>
            <a:pPr marL="0" indent="0" algn="r">
              <a:buNone/>
            </a:pPr>
            <a:r>
              <a:rPr lang="en-US" sz="900" dirty="0">
                <a:solidFill>
                  <a:srgbClr val="8DA0B3"/>
                </a:solidFill>
                <a:latin typeface="Calibri" pitchFamily="34" charset="0"/>
                <a:ea typeface="Calibri" pitchFamily="34" charset="-122"/>
                <a:cs typeface="Calibri" pitchFamily="34" charset="-120"/>
              </a:rPr>
              <a:t>8 / 15</a:t>
            </a:r>
            <a:endParaRPr lang="en-US" sz="900" dirty="0"/>
          </a:p>
        </p:txBody>
      </p:sp>
      <p:sp>
        <p:nvSpPr>
          <p:cNvPr id="5" name="Shape 3"/>
          <p:cNvSpPr/>
          <p:nvPr/>
        </p:nvSpPr>
        <p:spPr>
          <a:xfrm>
            <a:off x="274320" y="960120"/>
            <a:ext cx="1850813" cy="1417320"/>
          </a:xfrm>
          <a:prstGeom prst="rect">
            <a:avLst/>
          </a:prstGeom>
          <a:solidFill>
            <a:srgbClr val="132437"/>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6" name="Shape 4"/>
          <p:cNvSpPr/>
          <p:nvPr/>
        </p:nvSpPr>
        <p:spPr>
          <a:xfrm>
            <a:off x="274320" y="960120"/>
            <a:ext cx="419947" cy="1417320"/>
          </a:xfrm>
          <a:prstGeom prst="rect">
            <a:avLst/>
          </a:prstGeom>
          <a:solidFill>
            <a:srgbClr val="FFB703"/>
          </a:solidFill>
          <a:ln w="12700">
            <a:solidFill>
              <a:srgbClr val="FFB703"/>
            </a:solidFill>
            <a:prstDash val="solid"/>
          </a:ln>
        </p:spPr>
        <p:txBody>
          <a:bodyPr/>
          <a:lstStyle/>
          <a:p>
            <a:endParaRPr lang="en-US"/>
          </a:p>
        </p:txBody>
      </p:sp>
      <p:sp>
        <p:nvSpPr>
          <p:cNvPr id="7" name="Text 5"/>
          <p:cNvSpPr/>
          <p:nvPr/>
        </p:nvSpPr>
        <p:spPr>
          <a:xfrm>
            <a:off x="130387" y="960120"/>
            <a:ext cx="658368" cy="14173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A1</a:t>
            </a:r>
            <a:endParaRPr lang="en-US" sz="1800" dirty="0"/>
          </a:p>
        </p:txBody>
      </p:sp>
      <p:sp>
        <p:nvSpPr>
          <p:cNvPr id="8" name="Text 6"/>
          <p:cNvSpPr/>
          <p:nvPr/>
        </p:nvSpPr>
        <p:spPr>
          <a:xfrm>
            <a:off x="785707" y="1113367"/>
            <a:ext cx="1339426" cy="365760"/>
          </a:xfrm>
          <a:prstGeom prst="rect">
            <a:avLst/>
          </a:prstGeom>
          <a:noFill/>
          <a:ln/>
        </p:spPr>
        <p:txBody>
          <a:bodyPr wrap="square" lIns="0" tIns="0" rIns="0" bIns="0" rtlCol="0" anchor="ctr"/>
          <a:lstStyle/>
          <a:p>
            <a:pPr marL="0" indent="0">
              <a:buNone/>
            </a:pPr>
            <a:r>
              <a:rPr lang="en-US" sz="1100" dirty="0">
                <a:solidFill>
                  <a:srgbClr val="E8F4FD"/>
                </a:solidFill>
                <a:latin typeface="Calibri" pitchFamily="34" charset="0"/>
                <a:ea typeface="Calibri" pitchFamily="34" charset="-122"/>
                <a:cs typeface="Calibri" pitchFamily="34" charset="-120"/>
              </a:rPr>
              <a:t>CNN + LSTM Decoder</a:t>
            </a:r>
            <a:endParaRPr lang="en-US" sz="1100" dirty="0"/>
          </a:p>
        </p:txBody>
      </p:sp>
      <p:sp>
        <p:nvSpPr>
          <p:cNvPr id="9" name="Text 7"/>
          <p:cNvSpPr/>
          <p:nvPr/>
        </p:nvSpPr>
        <p:spPr>
          <a:xfrm>
            <a:off x="785707" y="1479127"/>
            <a:ext cx="1339426" cy="256032"/>
          </a:xfrm>
          <a:prstGeom prst="rect">
            <a:avLst/>
          </a:prstGeom>
          <a:noFill/>
          <a:ln/>
        </p:spPr>
        <p:txBody>
          <a:bodyPr wrap="square" lIns="0" tIns="0" rIns="0" bIns="0" rtlCol="0" anchor="ctr"/>
          <a:lstStyle/>
          <a:p>
            <a:pPr marL="0" indent="0">
              <a:buNone/>
            </a:pPr>
            <a:r>
              <a:rPr lang="en-US" sz="900" dirty="0">
                <a:solidFill>
                  <a:srgbClr val="8DA0B3"/>
                </a:solidFill>
                <a:latin typeface="Calibri" pitchFamily="34" charset="0"/>
                <a:ea typeface="Calibri" pitchFamily="34" charset="-122"/>
                <a:cs typeface="Calibri" pitchFamily="34" charset="-120"/>
              </a:rPr>
              <a:t>Val Acc</a:t>
            </a:r>
            <a:endParaRPr lang="en-US" sz="900" dirty="0"/>
          </a:p>
        </p:txBody>
      </p:sp>
      <p:sp>
        <p:nvSpPr>
          <p:cNvPr id="10" name="Text 8"/>
          <p:cNvSpPr/>
          <p:nvPr/>
        </p:nvSpPr>
        <p:spPr>
          <a:xfrm>
            <a:off x="785707" y="1689439"/>
            <a:ext cx="1339426" cy="548640"/>
          </a:xfrm>
          <a:prstGeom prst="rect">
            <a:avLst/>
          </a:prstGeom>
          <a:noFill/>
          <a:ln/>
        </p:spPr>
        <p:txBody>
          <a:bodyPr wrap="square" lIns="0" tIns="0" rIns="0" bIns="0" rtlCol="0" anchor="ctr"/>
          <a:lstStyle/>
          <a:p>
            <a:pPr marL="0" indent="0">
              <a:buNone/>
            </a:pPr>
            <a:r>
              <a:rPr lang="en-US" sz="2800" b="1" dirty="0">
                <a:solidFill>
                  <a:srgbClr val="FFB703"/>
                </a:solidFill>
                <a:latin typeface="Calibri" pitchFamily="34" charset="0"/>
                <a:ea typeface="Calibri" pitchFamily="34" charset="-122"/>
                <a:cs typeface="Calibri" pitchFamily="34" charset="-120"/>
              </a:rPr>
              <a:t>66.78%</a:t>
            </a:r>
            <a:endParaRPr lang="en-US" sz="2800" dirty="0"/>
          </a:p>
        </p:txBody>
      </p:sp>
      <p:sp>
        <p:nvSpPr>
          <p:cNvPr id="11" name="Shape 9"/>
          <p:cNvSpPr/>
          <p:nvPr/>
        </p:nvSpPr>
        <p:spPr>
          <a:xfrm>
            <a:off x="2216573" y="960120"/>
            <a:ext cx="2271340" cy="1417320"/>
          </a:xfrm>
          <a:prstGeom prst="rect">
            <a:avLst/>
          </a:prstGeom>
          <a:solidFill>
            <a:srgbClr val="132437"/>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12" name="Shape 10"/>
          <p:cNvSpPr/>
          <p:nvPr/>
        </p:nvSpPr>
        <p:spPr>
          <a:xfrm>
            <a:off x="2216573" y="960120"/>
            <a:ext cx="419947" cy="1417320"/>
          </a:xfrm>
          <a:prstGeom prst="rect">
            <a:avLst/>
          </a:prstGeom>
          <a:solidFill>
            <a:srgbClr val="06D6A0"/>
          </a:solidFill>
          <a:ln w="12700">
            <a:solidFill>
              <a:srgbClr val="06D6A0"/>
            </a:solidFill>
            <a:prstDash val="solid"/>
          </a:ln>
        </p:spPr>
        <p:txBody>
          <a:bodyPr/>
          <a:lstStyle/>
          <a:p>
            <a:endParaRPr lang="en-US"/>
          </a:p>
        </p:txBody>
      </p:sp>
      <p:sp>
        <p:nvSpPr>
          <p:cNvPr id="13" name="Text 11"/>
          <p:cNvSpPr/>
          <p:nvPr/>
        </p:nvSpPr>
        <p:spPr>
          <a:xfrm>
            <a:off x="2116534" y="950976"/>
            <a:ext cx="658368" cy="14173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A2</a:t>
            </a:r>
            <a:endParaRPr lang="en-US" sz="1800" dirty="0"/>
          </a:p>
        </p:txBody>
      </p:sp>
      <p:sp>
        <p:nvSpPr>
          <p:cNvPr id="14" name="Text 12"/>
          <p:cNvSpPr/>
          <p:nvPr/>
        </p:nvSpPr>
        <p:spPr>
          <a:xfrm>
            <a:off x="2774902" y="1069848"/>
            <a:ext cx="1518278" cy="365760"/>
          </a:xfrm>
          <a:prstGeom prst="rect">
            <a:avLst/>
          </a:prstGeom>
          <a:noFill/>
          <a:ln/>
        </p:spPr>
        <p:txBody>
          <a:bodyPr wrap="square" lIns="0" tIns="0" rIns="0" bIns="0" rtlCol="0" anchor="ctr"/>
          <a:lstStyle/>
          <a:p>
            <a:pPr marL="0" indent="0">
              <a:buNone/>
            </a:pPr>
            <a:r>
              <a:rPr lang="en-US" sz="1100" dirty="0">
                <a:solidFill>
                  <a:srgbClr val="E8F4FD"/>
                </a:solidFill>
                <a:latin typeface="Calibri" pitchFamily="34" charset="0"/>
                <a:ea typeface="Calibri" pitchFamily="34" charset="-122"/>
                <a:cs typeface="Calibri" pitchFamily="34" charset="-120"/>
              </a:rPr>
              <a:t>CNN + Transformer Decoder</a:t>
            </a:r>
            <a:endParaRPr lang="en-US" sz="1100" dirty="0"/>
          </a:p>
        </p:txBody>
      </p:sp>
      <p:sp>
        <p:nvSpPr>
          <p:cNvPr id="15" name="Text 13"/>
          <p:cNvSpPr/>
          <p:nvPr/>
        </p:nvSpPr>
        <p:spPr>
          <a:xfrm>
            <a:off x="2774902" y="1435608"/>
            <a:ext cx="1289678" cy="256032"/>
          </a:xfrm>
          <a:prstGeom prst="rect">
            <a:avLst/>
          </a:prstGeom>
          <a:noFill/>
          <a:ln/>
        </p:spPr>
        <p:txBody>
          <a:bodyPr wrap="square" lIns="0" tIns="0" rIns="0" bIns="0" rtlCol="0" anchor="ctr"/>
          <a:lstStyle/>
          <a:p>
            <a:pPr marL="0" indent="0">
              <a:buNone/>
            </a:pPr>
            <a:r>
              <a:rPr lang="en-US" sz="900" dirty="0">
                <a:solidFill>
                  <a:srgbClr val="8DA0B3"/>
                </a:solidFill>
                <a:latin typeface="Calibri" pitchFamily="34" charset="0"/>
                <a:ea typeface="Calibri" pitchFamily="34" charset="-122"/>
                <a:cs typeface="Calibri" pitchFamily="34" charset="-120"/>
              </a:rPr>
              <a:t>Val Acc</a:t>
            </a:r>
            <a:endParaRPr lang="en-US" sz="900" dirty="0"/>
          </a:p>
        </p:txBody>
      </p:sp>
      <p:sp>
        <p:nvSpPr>
          <p:cNvPr id="16" name="Text 14"/>
          <p:cNvSpPr/>
          <p:nvPr/>
        </p:nvSpPr>
        <p:spPr>
          <a:xfrm>
            <a:off x="2774902" y="1645920"/>
            <a:ext cx="1442078" cy="548640"/>
          </a:xfrm>
          <a:prstGeom prst="rect">
            <a:avLst/>
          </a:prstGeom>
          <a:noFill/>
          <a:ln/>
        </p:spPr>
        <p:txBody>
          <a:bodyPr wrap="square" lIns="0" tIns="0" rIns="0" bIns="0" rtlCol="0" anchor="ctr"/>
          <a:lstStyle/>
          <a:p>
            <a:pPr marL="0" indent="0">
              <a:buNone/>
            </a:pPr>
            <a:r>
              <a:rPr lang="en-US" sz="2800" b="1" dirty="0">
                <a:solidFill>
                  <a:srgbClr val="06D6A0"/>
                </a:solidFill>
                <a:latin typeface="Calibri" pitchFamily="34" charset="0"/>
                <a:ea typeface="Calibri" pitchFamily="34" charset="-122"/>
                <a:cs typeface="Calibri" pitchFamily="34" charset="-120"/>
              </a:rPr>
              <a:t>74.97%</a:t>
            </a:r>
            <a:endParaRPr lang="en-US" sz="2800" dirty="0"/>
          </a:p>
        </p:txBody>
      </p:sp>
      <p:sp>
        <p:nvSpPr>
          <p:cNvPr id="17" name="Shape 15"/>
          <p:cNvSpPr/>
          <p:nvPr/>
        </p:nvSpPr>
        <p:spPr>
          <a:xfrm>
            <a:off x="274320" y="2587752"/>
            <a:ext cx="1850813" cy="1417320"/>
          </a:xfrm>
          <a:prstGeom prst="rect">
            <a:avLst/>
          </a:prstGeom>
          <a:solidFill>
            <a:srgbClr val="132437"/>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18" name="Shape 16"/>
          <p:cNvSpPr/>
          <p:nvPr/>
        </p:nvSpPr>
        <p:spPr>
          <a:xfrm>
            <a:off x="274320" y="2587752"/>
            <a:ext cx="419947" cy="1417320"/>
          </a:xfrm>
          <a:prstGeom prst="rect">
            <a:avLst/>
          </a:prstGeom>
          <a:solidFill>
            <a:srgbClr val="EF476F"/>
          </a:solidFill>
          <a:ln w="12700">
            <a:solidFill>
              <a:srgbClr val="EF476F"/>
            </a:solidFill>
            <a:prstDash val="solid"/>
          </a:ln>
        </p:spPr>
        <p:txBody>
          <a:bodyPr/>
          <a:lstStyle/>
          <a:p>
            <a:endParaRPr lang="en-US"/>
          </a:p>
        </p:txBody>
      </p:sp>
      <p:sp>
        <p:nvSpPr>
          <p:cNvPr id="19" name="Text 17"/>
          <p:cNvSpPr/>
          <p:nvPr/>
        </p:nvSpPr>
        <p:spPr>
          <a:xfrm>
            <a:off x="130387" y="2587752"/>
            <a:ext cx="658368" cy="14173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B1</a:t>
            </a:r>
            <a:endParaRPr lang="en-US" sz="1800" dirty="0"/>
          </a:p>
        </p:txBody>
      </p:sp>
      <p:sp>
        <p:nvSpPr>
          <p:cNvPr id="20" name="Text 18"/>
          <p:cNvSpPr/>
          <p:nvPr/>
        </p:nvSpPr>
        <p:spPr>
          <a:xfrm>
            <a:off x="785707" y="2740999"/>
            <a:ext cx="1339426" cy="365760"/>
          </a:xfrm>
          <a:prstGeom prst="rect">
            <a:avLst/>
          </a:prstGeom>
          <a:noFill/>
          <a:ln/>
        </p:spPr>
        <p:txBody>
          <a:bodyPr wrap="square" lIns="0" tIns="0" rIns="0" bIns="0" rtlCol="0" anchor="ctr"/>
          <a:lstStyle/>
          <a:p>
            <a:pPr marL="0" indent="0">
              <a:buNone/>
            </a:pPr>
            <a:r>
              <a:rPr lang="en-US" sz="1100" dirty="0">
                <a:solidFill>
                  <a:srgbClr val="E8F4FD"/>
                </a:solidFill>
                <a:latin typeface="Calibri" pitchFamily="34" charset="0"/>
                <a:ea typeface="Calibri" pitchFamily="34" charset="-122"/>
                <a:cs typeface="Calibri" pitchFamily="34" charset="-120"/>
              </a:rPr>
              <a:t>Qwen2-VL zero-shot</a:t>
            </a:r>
            <a:endParaRPr lang="en-US" sz="1100" dirty="0"/>
          </a:p>
        </p:txBody>
      </p:sp>
      <p:sp>
        <p:nvSpPr>
          <p:cNvPr id="21" name="Text 19"/>
          <p:cNvSpPr/>
          <p:nvPr/>
        </p:nvSpPr>
        <p:spPr>
          <a:xfrm>
            <a:off x="785707" y="3106759"/>
            <a:ext cx="1339426" cy="256032"/>
          </a:xfrm>
          <a:prstGeom prst="rect">
            <a:avLst/>
          </a:prstGeom>
          <a:noFill/>
          <a:ln/>
        </p:spPr>
        <p:txBody>
          <a:bodyPr wrap="square" lIns="0" tIns="0" rIns="0" bIns="0" rtlCol="0" anchor="ctr"/>
          <a:lstStyle/>
          <a:p>
            <a:pPr marL="0" indent="0">
              <a:buNone/>
            </a:pPr>
            <a:r>
              <a:rPr lang="en-US" sz="900" dirty="0">
                <a:solidFill>
                  <a:srgbClr val="8DA0B3"/>
                </a:solidFill>
                <a:latin typeface="Calibri" pitchFamily="34" charset="0"/>
                <a:ea typeface="Calibri" pitchFamily="34" charset="-122"/>
                <a:cs typeface="Calibri" pitchFamily="34" charset="-120"/>
              </a:rPr>
              <a:t>Exact Match</a:t>
            </a:r>
            <a:endParaRPr lang="en-US" sz="900" dirty="0"/>
          </a:p>
        </p:txBody>
      </p:sp>
      <p:sp>
        <p:nvSpPr>
          <p:cNvPr id="22" name="Text 20"/>
          <p:cNvSpPr/>
          <p:nvPr/>
        </p:nvSpPr>
        <p:spPr>
          <a:xfrm>
            <a:off x="785707" y="3317071"/>
            <a:ext cx="1339426" cy="548640"/>
          </a:xfrm>
          <a:prstGeom prst="rect">
            <a:avLst/>
          </a:prstGeom>
          <a:noFill/>
          <a:ln/>
        </p:spPr>
        <p:txBody>
          <a:bodyPr wrap="square" lIns="0" tIns="0" rIns="0" bIns="0" rtlCol="0" anchor="ctr"/>
          <a:lstStyle/>
          <a:p>
            <a:pPr marL="0" indent="0">
              <a:buNone/>
            </a:pPr>
            <a:r>
              <a:rPr lang="en-US" sz="2800" b="1" dirty="0">
                <a:solidFill>
                  <a:srgbClr val="EF476F"/>
                </a:solidFill>
                <a:latin typeface="Calibri" pitchFamily="34" charset="0"/>
                <a:ea typeface="Calibri" pitchFamily="34" charset="-122"/>
                <a:cs typeface="Calibri" pitchFamily="34" charset="-120"/>
              </a:rPr>
              <a:t>2.96%</a:t>
            </a:r>
            <a:endParaRPr lang="en-US" sz="2800" dirty="0"/>
          </a:p>
        </p:txBody>
      </p:sp>
      <p:sp>
        <p:nvSpPr>
          <p:cNvPr id="23" name="Shape 21"/>
          <p:cNvSpPr/>
          <p:nvPr/>
        </p:nvSpPr>
        <p:spPr>
          <a:xfrm>
            <a:off x="2216573" y="2587752"/>
            <a:ext cx="2271340" cy="1417320"/>
          </a:xfrm>
          <a:prstGeom prst="rect">
            <a:avLst/>
          </a:prstGeom>
          <a:solidFill>
            <a:srgbClr val="132437"/>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24" name="Shape 22"/>
          <p:cNvSpPr/>
          <p:nvPr/>
        </p:nvSpPr>
        <p:spPr>
          <a:xfrm>
            <a:off x="2216573" y="2587752"/>
            <a:ext cx="419947" cy="1417320"/>
          </a:xfrm>
          <a:prstGeom prst="rect">
            <a:avLst/>
          </a:prstGeom>
          <a:solidFill>
            <a:srgbClr val="00B4D8"/>
          </a:solidFill>
          <a:ln w="12700">
            <a:solidFill>
              <a:srgbClr val="00B4D8"/>
            </a:solidFill>
            <a:prstDash val="solid"/>
          </a:ln>
        </p:spPr>
        <p:txBody>
          <a:bodyPr/>
          <a:lstStyle/>
          <a:p>
            <a:endParaRPr lang="en-US"/>
          </a:p>
        </p:txBody>
      </p:sp>
      <p:sp>
        <p:nvSpPr>
          <p:cNvPr id="25" name="Text 23"/>
          <p:cNvSpPr/>
          <p:nvPr/>
        </p:nvSpPr>
        <p:spPr>
          <a:xfrm>
            <a:off x="2116534" y="2578608"/>
            <a:ext cx="658368" cy="14173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B2</a:t>
            </a:r>
            <a:endParaRPr lang="en-US" sz="1800" dirty="0"/>
          </a:p>
        </p:txBody>
      </p:sp>
      <p:sp>
        <p:nvSpPr>
          <p:cNvPr id="26" name="Text 24"/>
          <p:cNvSpPr/>
          <p:nvPr/>
        </p:nvSpPr>
        <p:spPr>
          <a:xfrm>
            <a:off x="2774902" y="2697480"/>
            <a:ext cx="1518278" cy="365760"/>
          </a:xfrm>
          <a:prstGeom prst="rect">
            <a:avLst/>
          </a:prstGeom>
          <a:noFill/>
          <a:ln/>
        </p:spPr>
        <p:txBody>
          <a:bodyPr wrap="square" lIns="0" tIns="0" rIns="0" bIns="0" rtlCol="0" anchor="ctr"/>
          <a:lstStyle/>
          <a:p>
            <a:pPr marL="0" indent="0">
              <a:buNone/>
            </a:pPr>
            <a:r>
              <a:rPr lang="en-US" sz="1100" dirty="0">
                <a:solidFill>
                  <a:srgbClr val="E8F4FD"/>
                </a:solidFill>
                <a:latin typeface="Calibri" pitchFamily="34" charset="0"/>
                <a:ea typeface="Calibri" pitchFamily="34" charset="-122"/>
                <a:cs typeface="Calibri" pitchFamily="34" charset="-120"/>
              </a:rPr>
              <a:t>Qwen2-VL + LoRA</a:t>
            </a:r>
            <a:endParaRPr lang="en-US" sz="1100" dirty="0"/>
          </a:p>
        </p:txBody>
      </p:sp>
      <p:sp>
        <p:nvSpPr>
          <p:cNvPr id="27" name="Text 25"/>
          <p:cNvSpPr/>
          <p:nvPr/>
        </p:nvSpPr>
        <p:spPr>
          <a:xfrm>
            <a:off x="2774902" y="3063240"/>
            <a:ext cx="1289678" cy="256032"/>
          </a:xfrm>
          <a:prstGeom prst="rect">
            <a:avLst/>
          </a:prstGeom>
          <a:noFill/>
          <a:ln/>
        </p:spPr>
        <p:txBody>
          <a:bodyPr wrap="square" lIns="0" tIns="0" rIns="0" bIns="0" rtlCol="0" anchor="ctr"/>
          <a:lstStyle/>
          <a:p>
            <a:pPr marL="0" indent="0">
              <a:buNone/>
            </a:pPr>
            <a:r>
              <a:rPr lang="en-US" sz="900" dirty="0">
                <a:solidFill>
                  <a:srgbClr val="8DA0B3"/>
                </a:solidFill>
                <a:latin typeface="Calibri" pitchFamily="34" charset="0"/>
                <a:ea typeface="Calibri" pitchFamily="34" charset="-122"/>
                <a:cs typeface="Calibri" pitchFamily="34" charset="-120"/>
              </a:rPr>
              <a:t>Exact Match</a:t>
            </a:r>
            <a:endParaRPr lang="en-US" sz="900" dirty="0"/>
          </a:p>
        </p:txBody>
      </p:sp>
      <p:sp>
        <p:nvSpPr>
          <p:cNvPr id="28" name="Text 26"/>
          <p:cNvSpPr/>
          <p:nvPr/>
        </p:nvSpPr>
        <p:spPr>
          <a:xfrm>
            <a:off x="2774902" y="3273552"/>
            <a:ext cx="1518278" cy="548640"/>
          </a:xfrm>
          <a:prstGeom prst="rect">
            <a:avLst/>
          </a:prstGeom>
          <a:noFill/>
          <a:ln/>
        </p:spPr>
        <p:txBody>
          <a:bodyPr wrap="square" lIns="0" tIns="0" rIns="0" bIns="0" rtlCol="0" anchor="ctr"/>
          <a:lstStyle/>
          <a:p>
            <a:pPr marL="0" indent="0">
              <a:buNone/>
            </a:pPr>
            <a:r>
              <a:rPr lang="en-US" sz="2800" b="1" dirty="0">
                <a:solidFill>
                  <a:srgbClr val="00B4D8"/>
                </a:solidFill>
                <a:latin typeface="Calibri" pitchFamily="34" charset="0"/>
                <a:ea typeface="Calibri" pitchFamily="34" charset="-122"/>
                <a:cs typeface="Calibri" pitchFamily="34" charset="-120"/>
              </a:rPr>
              <a:t>43.33%</a:t>
            </a:r>
            <a:endParaRPr lang="en-US" sz="2800" dirty="0"/>
          </a:p>
        </p:txBody>
      </p:sp>
      <p:sp>
        <p:nvSpPr>
          <p:cNvPr id="29" name="Shape 27"/>
          <p:cNvSpPr/>
          <p:nvPr/>
        </p:nvSpPr>
        <p:spPr>
          <a:xfrm>
            <a:off x="274320" y="4224528"/>
            <a:ext cx="8595360" cy="640080"/>
          </a:xfrm>
          <a:prstGeom prst="rect">
            <a:avLst/>
          </a:prstGeom>
          <a:solidFill>
            <a:srgbClr val="091826"/>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30" name="Text 28"/>
          <p:cNvSpPr/>
          <p:nvPr/>
        </p:nvSpPr>
        <p:spPr>
          <a:xfrm>
            <a:off x="411480" y="4297680"/>
            <a:ext cx="8321040" cy="475488"/>
          </a:xfrm>
          <a:prstGeom prst="rect">
            <a:avLst/>
          </a:prstGeom>
          <a:noFill/>
          <a:ln/>
        </p:spPr>
        <p:txBody>
          <a:bodyPr wrap="square" lIns="0" tIns="0" rIns="0" bIns="0" rtlCol="0" anchor="ctr"/>
          <a:lstStyle/>
          <a:p>
            <a:pPr marL="0" indent="0">
              <a:buNone/>
            </a:pPr>
            <a:r>
              <a:rPr lang="en-US" sz="1100" dirty="0">
                <a:solidFill>
                  <a:srgbClr val="48CAE4"/>
                </a:solidFill>
                <a:latin typeface="Calibri" pitchFamily="34" charset="0"/>
                <a:ea typeface="Calibri" pitchFamily="34" charset="-122"/>
                <a:cs typeface="Calibri" pitchFamily="34" charset="-120"/>
              </a:rPr>
              <a:t>💡  A2 &gt; A1: Transformer decoder vượt trội hơn LSTM  |  B2 &gt;&gt; B1: Fine-tuning cải thiện Exact Match từ 2.96% → 43.33%</a:t>
            </a:r>
            <a:endParaRPr lang="en-US" sz="1100" dirty="0"/>
          </a:p>
        </p:txBody>
      </p:sp>
      <p:pic>
        <p:nvPicPr>
          <p:cNvPr id="32" name="Picture 31">
            <a:extLst>
              <a:ext uri="{FF2B5EF4-FFF2-40B4-BE49-F238E27FC236}">
                <a16:creationId xmlns:a16="http://schemas.microsoft.com/office/drawing/2014/main" id="{AB481BCD-9098-2EE6-0BEE-8B1E3FA9F1CC}"/>
              </a:ext>
            </a:extLst>
          </p:cNvPr>
          <p:cNvPicPr>
            <a:picLocks noChangeAspect="1"/>
          </p:cNvPicPr>
          <p:nvPr/>
        </p:nvPicPr>
        <p:blipFill>
          <a:blip r:embed="rId3"/>
          <a:stretch>
            <a:fillRect/>
          </a:stretch>
        </p:blipFill>
        <p:spPr>
          <a:xfrm>
            <a:off x="4579353" y="960119"/>
            <a:ext cx="4198931" cy="267946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411480" y="694944"/>
            <a:ext cx="8321040" cy="22860"/>
          </a:xfrm>
          <a:prstGeom prst="rect">
            <a:avLst/>
          </a:prstGeom>
          <a:solidFill>
            <a:srgbClr val="00B4D8"/>
          </a:solidFill>
          <a:ln w="12700">
            <a:solidFill>
              <a:srgbClr val="00B4D8"/>
            </a:solidFill>
            <a:prstDash val="solid"/>
          </a:ln>
        </p:spPr>
        <p:txBody>
          <a:bodyPr/>
          <a:lstStyle/>
          <a:p>
            <a:endParaRPr lang="en-US"/>
          </a:p>
        </p:txBody>
      </p:sp>
      <p:sp>
        <p:nvSpPr>
          <p:cNvPr id="3" name="Text 1"/>
          <p:cNvSpPr/>
          <p:nvPr/>
        </p:nvSpPr>
        <p:spPr>
          <a:xfrm>
            <a:off x="411480" y="256032"/>
            <a:ext cx="8321040" cy="502920"/>
          </a:xfrm>
          <a:prstGeom prst="rect">
            <a:avLst/>
          </a:prstGeom>
          <a:noFill/>
          <a:ln/>
        </p:spPr>
        <p:txBody>
          <a:bodyPr wrap="square" lIns="0" tIns="0" rIns="0" bIns="0" rtlCol="0" anchor="ctr"/>
          <a:lstStyle/>
          <a:p>
            <a:pPr marL="0" indent="0">
              <a:buNone/>
            </a:pPr>
            <a:r>
              <a:rPr lang="en-US" sz="2600" b="1" dirty="0">
                <a:solidFill>
                  <a:srgbClr val="00B4D8"/>
                </a:solidFill>
                <a:latin typeface="Calibri" pitchFamily="34" charset="0"/>
                <a:ea typeface="Calibri" pitchFamily="34" charset="-122"/>
                <a:cs typeface="Calibri" pitchFamily="34" charset="-120"/>
              </a:rPr>
              <a:t>9. Phương Pháp Đánh Giá</a:t>
            </a:r>
            <a:endParaRPr lang="en-US" sz="2600" dirty="0"/>
          </a:p>
        </p:txBody>
      </p:sp>
      <p:sp>
        <p:nvSpPr>
          <p:cNvPr id="4" name="Text 2"/>
          <p:cNvSpPr/>
          <p:nvPr/>
        </p:nvSpPr>
        <p:spPr>
          <a:xfrm>
            <a:off x="8046720" y="4846320"/>
            <a:ext cx="822960" cy="182880"/>
          </a:xfrm>
          <a:prstGeom prst="rect">
            <a:avLst/>
          </a:prstGeom>
          <a:noFill/>
          <a:ln/>
        </p:spPr>
        <p:txBody>
          <a:bodyPr wrap="square" lIns="0" tIns="0" rIns="0" bIns="0" rtlCol="0" anchor="ctr"/>
          <a:lstStyle/>
          <a:p>
            <a:pPr marL="0" indent="0" algn="r">
              <a:buNone/>
            </a:pPr>
            <a:r>
              <a:rPr lang="en-US" sz="900" dirty="0">
                <a:solidFill>
                  <a:srgbClr val="8DA0B3"/>
                </a:solidFill>
                <a:latin typeface="Calibri" pitchFamily="34" charset="0"/>
                <a:ea typeface="Calibri" pitchFamily="34" charset="-122"/>
                <a:cs typeface="Calibri" pitchFamily="34" charset="-120"/>
              </a:rPr>
              <a:t>9 / 15</a:t>
            </a:r>
            <a:endParaRPr lang="en-US" sz="900" dirty="0"/>
          </a:p>
        </p:txBody>
      </p:sp>
      <p:sp>
        <p:nvSpPr>
          <p:cNvPr id="5" name="Text 3"/>
          <p:cNvSpPr/>
          <p:nvPr/>
        </p:nvSpPr>
        <p:spPr>
          <a:xfrm>
            <a:off x="411480" y="960120"/>
            <a:ext cx="3931920" cy="347472"/>
          </a:xfrm>
          <a:prstGeom prst="rect">
            <a:avLst/>
          </a:prstGeom>
          <a:noFill/>
          <a:ln/>
        </p:spPr>
        <p:txBody>
          <a:bodyPr wrap="square" lIns="0" tIns="0" rIns="0" bIns="0" rtlCol="0" anchor="ctr"/>
          <a:lstStyle/>
          <a:p>
            <a:pPr marL="0" indent="0">
              <a:buNone/>
            </a:pPr>
            <a:r>
              <a:rPr lang="en-US" sz="1300" b="1" dirty="0">
                <a:solidFill>
                  <a:srgbClr val="00B4D8"/>
                </a:solidFill>
                <a:latin typeface="Calibri" pitchFamily="34" charset="0"/>
                <a:ea typeface="Calibri" pitchFamily="34" charset="-122"/>
                <a:cs typeface="Calibri" pitchFamily="34" charset="-120"/>
              </a:rPr>
              <a:t>Metric đã sử dụng</a:t>
            </a:r>
            <a:endParaRPr lang="en-US" sz="1300" dirty="0"/>
          </a:p>
        </p:txBody>
      </p:sp>
      <p:sp>
        <p:nvSpPr>
          <p:cNvPr id="6" name="Shape 4"/>
          <p:cNvSpPr/>
          <p:nvPr/>
        </p:nvSpPr>
        <p:spPr>
          <a:xfrm>
            <a:off x="411480" y="1353312"/>
            <a:ext cx="3931920" cy="2011680"/>
          </a:xfrm>
          <a:prstGeom prst="rect">
            <a:avLst/>
          </a:prstGeom>
          <a:solidFill>
            <a:srgbClr val="132437"/>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7" name="Shape 5"/>
          <p:cNvSpPr/>
          <p:nvPr/>
        </p:nvSpPr>
        <p:spPr>
          <a:xfrm>
            <a:off x="594360" y="1536192"/>
            <a:ext cx="109728" cy="109728"/>
          </a:xfrm>
          <a:prstGeom prst="ellipse">
            <a:avLst/>
          </a:prstGeom>
          <a:solidFill>
            <a:srgbClr val="00B4D8"/>
          </a:solidFill>
          <a:ln w="12700">
            <a:solidFill>
              <a:srgbClr val="00B4D8"/>
            </a:solidFill>
            <a:prstDash val="solid"/>
          </a:ln>
        </p:spPr>
        <p:txBody>
          <a:bodyPr/>
          <a:lstStyle/>
          <a:p>
            <a:endParaRPr lang="en-US"/>
          </a:p>
        </p:txBody>
      </p:sp>
      <p:sp>
        <p:nvSpPr>
          <p:cNvPr id="8" name="Text 6"/>
          <p:cNvSpPr/>
          <p:nvPr/>
        </p:nvSpPr>
        <p:spPr>
          <a:xfrm>
            <a:off x="804672" y="1490472"/>
            <a:ext cx="3383280" cy="475488"/>
          </a:xfrm>
          <a:prstGeom prst="rect">
            <a:avLst/>
          </a:prstGeom>
          <a:noFill/>
          <a:ln/>
        </p:spPr>
        <p:txBody>
          <a:bodyPr wrap="square" lIns="0" tIns="0" rIns="0" bIns="0" rtlCol="0" anchor="ctr"/>
          <a:lstStyle/>
          <a:p>
            <a:pPr marL="0" indent="0">
              <a:buNone/>
            </a:pPr>
            <a:r>
              <a:rPr lang="en-US" sz="1200" dirty="0">
                <a:solidFill>
                  <a:srgbClr val="E8F4FD"/>
                </a:solidFill>
                <a:latin typeface="Calibri" pitchFamily="34" charset="0"/>
                <a:ea typeface="Calibri" pitchFamily="34" charset="-122"/>
                <a:cs typeface="Calibri" pitchFamily="34" charset="-120"/>
              </a:rPr>
              <a:t>Exact Match</a:t>
            </a:r>
            <a:endParaRPr lang="en-US" sz="1200" dirty="0"/>
          </a:p>
        </p:txBody>
      </p:sp>
      <p:sp>
        <p:nvSpPr>
          <p:cNvPr id="9" name="Shape 7"/>
          <p:cNvSpPr/>
          <p:nvPr/>
        </p:nvSpPr>
        <p:spPr>
          <a:xfrm>
            <a:off x="594360" y="2103120"/>
            <a:ext cx="109728" cy="109728"/>
          </a:xfrm>
          <a:prstGeom prst="ellipse">
            <a:avLst/>
          </a:prstGeom>
          <a:solidFill>
            <a:srgbClr val="00B4D8"/>
          </a:solidFill>
          <a:ln w="12700">
            <a:solidFill>
              <a:srgbClr val="00B4D8"/>
            </a:solidFill>
            <a:prstDash val="solid"/>
          </a:ln>
        </p:spPr>
        <p:txBody>
          <a:bodyPr/>
          <a:lstStyle/>
          <a:p>
            <a:endParaRPr lang="en-US"/>
          </a:p>
        </p:txBody>
      </p:sp>
      <p:sp>
        <p:nvSpPr>
          <p:cNvPr id="10" name="Text 8"/>
          <p:cNvSpPr/>
          <p:nvPr/>
        </p:nvSpPr>
        <p:spPr>
          <a:xfrm>
            <a:off x="804672" y="2057400"/>
            <a:ext cx="3383280" cy="475488"/>
          </a:xfrm>
          <a:prstGeom prst="rect">
            <a:avLst/>
          </a:prstGeom>
          <a:noFill/>
          <a:ln/>
        </p:spPr>
        <p:txBody>
          <a:bodyPr wrap="square" lIns="0" tIns="0" rIns="0" bIns="0" rtlCol="0" anchor="ctr"/>
          <a:lstStyle/>
          <a:p>
            <a:pPr marL="0" indent="0">
              <a:buNone/>
            </a:pPr>
            <a:r>
              <a:rPr lang="en-US" sz="1200" dirty="0">
                <a:solidFill>
                  <a:srgbClr val="E8F4FD"/>
                </a:solidFill>
                <a:latin typeface="Calibri" pitchFamily="34" charset="0"/>
                <a:ea typeface="Calibri" pitchFamily="34" charset="-122"/>
                <a:cs typeface="Calibri" pitchFamily="34" charset="-120"/>
              </a:rPr>
              <a:t>Validation Accuracy (A1/A2)</a:t>
            </a:r>
            <a:endParaRPr lang="en-US" sz="1200" dirty="0"/>
          </a:p>
        </p:txBody>
      </p:sp>
      <p:sp>
        <p:nvSpPr>
          <p:cNvPr id="11" name="Shape 9"/>
          <p:cNvSpPr/>
          <p:nvPr/>
        </p:nvSpPr>
        <p:spPr>
          <a:xfrm>
            <a:off x="594360" y="2670048"/>
            <a:ext cx="109728" cy="109728"/>
          </a:xfrm>
          <a:prstGeom prst="ellipse">
            <a:avLst/>
          </a:prstGeom>
          <a:solidFill>
            <a:srgbClr val="00B4D8"/>
          </a:solidFill>
          <a:ln w="12700">
            <a:solidFill>
              <a:srgbClr val="00B4D8"/>
            </a:solidFill>
            <a:prstDash val="solid"/>
          </a:ln>
        </p:spPr>
        <p:txBody>
          <a:bodyPr/>
          <a:lstStyle/>
          <a:p>
            <a:endParaRPr lang="en-US"/>
          </a:p>
        </p:txBody>
      </p:sp>
      <p:sp>
        <p:nvSpPr>
          <p:cNvPr id="12" name="Text 10"/>
          <p:cNvSpPr/>
          <p:nvPr/>
        </p:nvSpPr>
        <p:spPr>
          <a:xfrm>
            <a:off x="804672" y="2624328"/>
            <a:ext cx="3383280" cy="475488"/>
          </a:xfrm>
          <a:prstGeom prst="rect">
            <a:avLst/>
          </a:prstGeom>
          <a:noFill/>
          <a:ln/>
        </p:spPr>
        <p:txBody>
          <a:bodyPr wrap="square" lIns="0" tIns="0" rIns="0" bIns="0" rtlCol="0" anchor="ctr"/>
          <a:lstStyle/>
          <a:p>
            <a:pPr marL="0" indent="0">
              <a:buNone/>
            </a:pPr>
            <a:r>
              <a:rPr lang="en-US" sz="1200" dirty="0">
                <a:solidFill>
                  <a:srgbClr val="E8F4FD"/>
                </a:solidFill>
                <a:latin typeface="Calibri" pitchFamily="34" charset="0"/>
                <a:ea typeface="Calibri" pitchFamily="34" charset="-122"/>
                <a:cs typeface="Calibri" pitchFamily="34" charset="-120"/>
              </a:rPr>
              <a:t>Loss curve (theo dõi training)</a:t>
            </a:r>
            <a:endParaRPr lang="en-US" sz="1200" dirty="0"/>
          </a:p>
        </p:txBody>
      </p:sp>
      <p:sp>
        <p:nvSpPr>
          <p:cNvPr id="13" name="Text 11"/>
          <p:cNvSpPr/>
          <p:nvPr/>
        </p:nvSpPr>
        <p:spPr>
          <a:xfrm>
            <a:off x="4800600" y="960120"/>
            <a:ext cx="3931920" cy="347472"/>
          </a:xfrm>
          <a:prstGeom prst="rect">
            <a:avLst/>
          </a:prstGeom>
          <a:noFill/>
          <a:ln/>
        </p:spPr>
        <p:txBody>
          <a:bodyPr wrap="square" lIns="0" tIns="0" rIns="0" bIns="0" rtlCol="0" anchor="ctr"/>
          <a:lstStyle/>
          <a:p>
            <a:pPr marL="0" indent="0">
              <a:buNone/>
            </a:pPr>
            <a:r>
              <a:rPr lang="en-US" sz="1300" b="1" dirty="0">
                <a:solidFill>
                  <a:srgbClr val="FFB703"/>
                </a:solidFill>
                <a:latin typeface="Calibri" pitchFamily="34" charset="0"/>
                <a:ea typeface="Calibri" pitchFamily="34" charset="-122"/>
                <a:cs typeface="Calibri" pitchFamily="34" charset="-120"/>
              </a:rPr>
              <a:t>Metric phân tích trong báo cáo</a:t>
            </a:r>
            <a:endParaRPr lang="en-US" sz="1300" dirty="0"/>
          </a:p>
        </p:txBody>
      </p:sp>
      <p:sp>
        <p:nvSpPr>
          <p:cNvPr id="14" name="Shape 12"/>
          <p:cNvSpPr/>
          <p:nvPr/>
        </p:nvSpPr>
        <p:spPr>
          <a:xfrm>
            <a:off x="4800600" y="1353312"/>
            <a:ext cx="3931920" cy="2834640"/>
          </a:xfrm>
          <a:prstGeom prst="rect">
            <a:avLst/>
          </a:prstGeom>
          <a:solidFill>
            <a:srgbClr val="132437"/>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15" name="Shape 13"/>
          <p:cNvSpPr/>
          <p:nvPr/>
        </p:nvSpPr>
        <p:spPr>
          <a:xfrm>
            <a:off x="4983480" y="1536192"/>
            <a:ext cx="109728" cy="109728"/>
          </a:xfrm>
          <a:prstGeom prst="ellipse">
            <a:avLst/>
          </a:prstGeom>
          <a:solidFill>
            <a:srgbClr val="FFB703"/>
          </a:solidFill>
          <a:ln w="12700">
            <a:solidFill>
              <a:srgbClr val="FFB703"/>
            </a:solidFill>
            <a:prstDash val="solid"/>
          </a:ln>
        </p:spPr>
        <p:txBody>
          <a:bodyPr/>
          <a:lstStyle/>
          <a:p>
            <a:endParaRPr lang="en-US"/>
          </a:p>
        </p:txBody>
      </p:sp>
      <p:sp>
        <p:nvSpPr>
          <p:cNvPr id="16" name="Text 14"/>
          <p:cNvSpPr/>
          <p:nvPr/>
        </p:nvSpPr>
        <p:spPr>
          <a:xfrm>
            <a:off x="5193792" y="1490472"/>
            <a:ext cx="3383280" cy="475488"/>
          </a:xfrm>
          <a:prstGeom prst="rect">
            <a:avLst/>
          </a:prstGeom>
          <a:noFill/>
          <a:ln/>
        </p:spPr>
        <p:txBody>
          <a:bodyPr wrap="square" lIns="0" tIns="0" rIns="0" bIns="0" rtlCol="0" anchor="ctr"/>
          <a:lstStyle/>
          <a:p>
            <a:pPr marL="0" indent="0">
              <a:buNone/>
            </a:pPr>
            <a:r>
              <a:rPr lang="en-US" sz="1200" dirty="0">
                <a:solidFill>
                  <a:srgbClr val="E8F4FD"/>
                </a:solidFill>
                <a:latin typeface="Calibri" pitchFamily="34" charset="0"/>
                <a:ea typeface="Calibri" pitchFamily="34" charset="-122"/>
                <a:cs typeface="Calibri" pitchFamily="34" charset="-120"/>
              </a:rPr>
              <a:t>VQA Accuracy / Soft Accuracy</a:t>
            </a:r>
            <a:endParaRPr lang="en-US" sz="1200" dirty="0"/>
          </a:p>
        </p:txBody>
      </p:sp>
      <p:sp>
        <p:nvSpPr>
          <p:cNvPr id="17" name="Shape 15"/>
          <p:cNvSpPr/>
          <p:nvPr/>
        </p:nvSpPr>
        <p:spPr>
          <a:xfrm>
            <a:off x="4983480" y="2103120"/>
            <a:ext cx="109728" cy="109728"/>
          </a:xfrm>
          <a:prstGeom prst="ellipse">
            <a:avLst/>
          </a:prstGeom>
          <a:solidFill>
            <a:srgbClr val="FFB703"/>
          </a:solidFill>
          <a:ln w="12700">
            <a:solidFill>
              <a:srgbClr val="FFB703"/>
            </a:solidFill>
            <a:prstDash val="solid"/>
          </a:ln>
        </p:spPr>
        <p:txBody>
          <a:bodyPr/>
          <a:lstStyle/>
          <a:p>
            <a:endParaRPr lang="en-US"/>
          </a:p>
        </p:txBody>
      </p:sp>
      <p:sp>
        <p:nvSpPr>
          <p:cNvPr id="18" name="Text 16"/>
          <p:cNvSpPr/>
          <p:nvPr/>
        </p:nvSpPr>
        <p:spPr>
          <a:xfrm>
            <a:off x="5193792" y="2057400"/>
            <a:ext cx="3383280" cy="475488"/>
          </a:xfrm>
          <a:prstGeom prst="rect">
            <a:avLst/>
          </a:prstGeom>
          <a:noFill/>
          <a:ln/>
        </p:spPr>
        <p:txBody>
          <a:bodyPr wrap="square" lIns="0" tIns="0" rIns="0" bIns="0" rtlCol="0" anchor="ctr"/>
          <a:lstStyle/>
          <a:p>
            <a:pPr marL="0" indent="0">
              <a:buNone/>
            </a:pPr>
            <a:r>
              <a:rPr lang="en-US" sz="1200" dirty="0">
                <a:solidFill>
                  <a:srgbClr val="E8F4FD"/>
                </a:solidFill>
                <a:latin typeface="Calibri" pitchFamily="34" charset="0"/>
                <a:ea typeface="Calibri" pitchFamily="34" charset="-122"/>
                <a:cs typeface="Calibri" pitchFamily="34" charset="-120"/>
              </a:rPr>
              <a:t>BLEU, ROUGE-L, METEOR</a:t>
            </a:r>
            <a:endParaRPr lang="en-US" sz="1200" dirty="0"/>
          </a:p>
        </p:txBody>
      </p:sp>
      <p:sp>
        <p:nvSpPr>
          <p:cNvPr id="19" name="Shape 17"/>
          <p:cNvSpPr/>
          <p:nvPr/>
        </p:nvSpPr>
        <p:spPr>
          <a:xfrm>
            <a:off x="4983480" y="2670048"/>
            <a:ext cx="109728" cy="109728"/>
          </a:xfrm>
          <a:prstGeom prst="ellipse">
            <a:avLst/>
          </a:prstGeom>
          <a:solidFill>
            <a:srgbClr val="FFB703"/>
          </a:solidFill>
          <a:ln w="12700">
            <a:solidFill>
              <a:srgbClr val="FFB703"/>
            </a:solidFill>
            <a:prstDash val="solid"/>
          </a:ln>
        </p:spPr>
        <p:txBody>
          <a:bodyPr/>
          <a:lstStyle/>
          <a:p>
            <a:endParaRPr lang="en-US"/>
          </a:p>
        </p:txBody>
      </p:sp>
      <p:sp>
        <p:nvSpPr>
          <p:cNvPr id="20" name="Text 18"/>
          <p:cNvSpPr/>
          <p:nvPr/>
        </p:nvSpPr>
        <p:spPr>
          <a:xfrm>
            <a:off x="5193792" y="2624328"/>
            <a:ext cx="3383280" cy="475488"/>
          </a:xfrm>
          <a:prstGeom prst="rect">
            <a:avLst/>
          </a:prstGeom>
          <a:noFill/>
          <a:ln/>
        </p:spPr>
        <p:txBody>
          <a:bodyPr wrap="square" lIns="0" tIns="0" rIns="0" bIns="0" rtlCol="0" anchor="ctr"/>
          <a:lstStyle/>
          <a:p>
            <a:pPr marL="0" indent="0">
              <a:buNone/>
            </a:pPr>
            <a:r>
              <a:rPr lang="en-US" sz="1200" dirty="0">
                <a:solidFill>
                  <a:srgbClr val="E8F4FD"/>
                </a:solidFill>
                <a:latin typeface="Calibri" pitchFamily="34" charset="0"/>
                <a:ea typeface="Calibri" pitchFamily="34" charset="-122"/>
                <a:cs typeface="Calibri" pitchFamily="34" charset="-120"/>
              </a:rPr>
              <a:t>BERTScore</a:t>
            </a:r>
            <a:endParaRPr lang="en-US" sz="1200" dirty="0"/>
          </a:p>
        </p:txBody>
      </p:sp>
      <p:sp>
        <p:nvSpPr>
          <p:cNvPr id="21" name="Shape 19"/>
          <p:cNvSpPr/>
          <p:nvPr/>
        </p:nvSpPr>
        <p:spPr>
          <a:xfrm>
            <a:off x="4983480" y="3236976"/>
            <a:ext cx="109728" cy="109728"/>
          </a:xfrm>
          <a:prstGeom prst="ellipse">
            <a:avLst/>
          </a:prstGeom>
          <a:solidFill>
            <a:srgbClr val="FFB703"/>
          </a:solidFill>
          <a:ln w="12700">
            <a:solidFill>
              <a:srgbClr val="FFB703"/>
            </a:solidFill>
            <a:prstDash val="solid"/>
          </a:ln>
        </p:spPr>
        <p:txBody>
          <a:bodyPr/>
          <a:lstStyle/>
          <a:p>
            <a:endParaRPr lang="en-US"/>
          </a:p>
        </p:txBody>
      </p:sp>
      <p:sp>
        <p:nvSpPr>
          <p:cNvPr id="22" name="Text 20"/>
          <p:cNvSpPr/>
          <p:nvPr/>
        </p:nvSpPr>
        <p:spPr>
          <a:xfrm>
            <a:off x="5193792" y="3191256"/>
            <a:ext cx="3383280" cy="475488"/>
          </a:xfrm>
          <a:prstGeom prst="rect">
            <a:avLst/>
          </a:prstGeom>
          <a:noFill/>
          <a:ln/>
        </p:spPr>
        <p:txBody>
          <a:bodyPr wrap="square" lIns="0" tIns="0" rIns="0" bIns="0" rtlCol="0" anchor="ctr"/>
          <a:lstStyle/>
          <a:p>
            <a:pPr marL="0" indent="0">
              <a:buNone/>
            </a:pPr>
            <a:r>
              <a:rPr lang="en-US" sz="1200" dirty="0">
                <a:solidFill>
                  <a:srgbClr val="E8F4FD"/>
                </a:solidFill>
                <a:latin typeface="Calibri" pitchFamily="34" charset="0"/>
                <a:ea typeface="Calibri" pitchFamily="34" charset="-122"/>
                <a:cs typeface="Calibri" pitchFamily="34" charset="-120"/>
              </a:rPr>
              <a:t>LLM-as-a-judge</a:t>
            </a:r>
            <a:endParaRPr lang="en-US" sz="1200" dirty="0"/>
          </a:p>
        </p:txBody>
      </p:sp>
      <p:sp>
        <p:nvSpPr>
          <p:cNvPr id="23" name="Shape 21"/>
          <p:cNvSpPr/>
          <p:nvPr/>
        </p:nvSpPr>
        <p:spPr>
          <a:xfrm>
            <a:off x="411480" y="3520440"/>
            <a:ext cx="3931920" cy="1417320"/>
          </a:xfrm>
          <a:prstGeom prst="rect">
            <a:avLst/>
          </a:prstGeom>
          <a:solidFill>
            <a:srgbClr val="0A1929"/>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24" name="Text 22"/>
          <p:cNvSpPr/>
          <p:nvPr/>
        </p:nvSpPr>
        <p:spPr>
          <a:xfrm>
            <a:off x="548640" y="3584448"/>
            <a:ext cx="3657600" cy="320040"/>
          </a:xfrm>
          <a:prstGeom prst="rect">
            <a:avLst/>
          </a:prstGeom>
          <a:noFill/>
          <a:ln/>
        </p:spPr>
        <p:txBody>
          <a:bodyPr wrap="square" lIns="0" tIns="0" rIns="0" bIns="0" rtlCol="0" anchor="ctr"/>
          <a:lstStyle/>
          <a:p>
            <a:pPr marL="0" indent="0">
              <a:buNone/>
            </a:pPr>
            <a:r>
              <a:rPr lang="en-US" sz="1100" b="1" dirty="0">
                <a:solidFill>
                  <a:srgbClr val="FFB703"/>
                </a:solidFill>
                <a:latin typeface="Calibri" pitchFamily="34" charset="0"/>
                <a:ea typeface="Calibri" pitchFamily="34" charset="-122"/>
                <a:cs typeface="Calibri" pitchFamily="34" charset="-120"/>
              </a:rPr>
              <a:t>⚠️  Lưu ý</a:t>
            </a:r>
            <a:endParaRPr lang="en-US" sz="1100" dirty="0"/>
          </a:p>
        </p:txBody>
      </p:sp>
      <p:sp>
        <p:nvSpPr>
          <p:cNvPr id="25" name="Text 23"/>
          <p:cNvSpPr/>
          <p:nvPr/>
        </p:nvSpPr>
        <p:spPr>
          <a:xfrm>
            <a:off x="548640" y="3913632"/>
            <a:ext cx="3657600" cy="914400"/>
          </a:xfrm>
          <a:prstGeom prst="rect">
            <a:avLst/>
          </a:prstGeom>
          <a:noFill/>
          <a:ln/>
        </p:spPr>
        <p:txBody>
          <a:bodyPr wrap="square" lIns="0" tIns="0" rIns="0" bIns="0" rtlCol="0" anchor="ctr"/>
          <a:lstStyle/>
          <a:p>
            <a:pPr marL="0" indent="0">
              <a:buNone/>
            </a:pPr>
            <a:r>
              <a:rPr lang="en-US" sz="1050" dirty="0">
                <a:solidFill>
                  <a:srgbClr val="E8F4FD"/>
                </a:solidFill>
                <a:latin typeface="Calibri" pitchFamily="34" charset="0"/>
                <a:ea typeface="Calibri" pitchFamily="34" charset="-122"/>
                <a:cs typeface="Calibri" pitchFamily="34" charset="-120"/>
              </a:rPr>
              <a:t>Exact Match khá nghiêm ngặt. Câu đúng ngữ nghĩa nhưng khác từ vẫn bị tính sai → cần metric ngữ nghĩa bổ sung.</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411480" y="694944"/>
            <a:ext cx="8321040" cy="22860"/>
          </a:xfrm>
          <a:prstGeom prst="rect">
            <a:avLst/>
          </a:prstGeom>
          <a:solidFill>
            <a:srgbClr val="00B4D8"/>
          </a:solidFill>
          <a:ln w="12700">
            <a:solidFill>
              <a:srgbClr val="00B4D8"/>
            </a:solidFill>
            <a:prstDash val="solid"/>
          </a:ln>
        </p:spPr>
        <p:txBody>
          <a:bodyPr/>
          <a:lstStyle/>
          <a:p>
            <a:endParaRPr lang="en-US"/>
          </a:p>
        </p:txBody>
      </p:sp>
      <p:sp>
        <p:nvSpPr>
          <p:cNvPr id="3" name="Text 1"/>
          <p:cNvSpPr/>
          <p:nvPr/>
        </p:nvSpPr>
        <p:spPr>
          <a:xfrm>
            <a:off x="411480" y="256032"/>
            <a:ext cx="8321040" cy="502920"/>
          </a:xfrm>
          <a:prstGeom prst="rect">
            <a:avLst/>
          </a:prstGeom>
          <a:noFill/>
          <a:ln/>
        </p:spPr>
        <p:txBody>
          <a:bodyPr wrap="square" lIns="0" tIns="0" rIns="0" bIns="0" rtlCol="0" anchor="ctr"/>
          <a:lstStyle/>
          <a:p>
            <a:pPr marL="0" indent="0">
              <a:buNone/>
            </a:pPr>
            <a:r>
              <a:rPr lang="en-US" sz="2600" b="1" dirty="0">
                <a:solidFill>
                  <a:srgbClr val="00B4D8"/>
                </a:solidFill>
                <a:latin typeface="Calibri" pitchFamily="34" charset="0"/>
                <a:ea typeface="Calibri" pitchFamily="34" charset="-122"/>
                <a:cs typeface="Calibri" pitchFamily="34" charset="-120"/>
              </a:rPr>
              <a:t>10. Demo — Bài 1</a:t>
            </a:r>
            <a:endParaRPr lang="en-US" sz="2600" dirty="0"/>
          </a:p>
        </p:txBody>
      </p:sp>
      <p:sp>
        <p:nvSpPr>
          <p:cNvPr id="4" name="Text 2"/>
          <p:cNvSpPr/>
          <p:nvPr/>
        </p:nvSpPr>
        <p:spPr>
          <a:xfrm>
            <a:off x="8046720" y="4846320"/>
            <a:ext cx="822960" cy="182880"/>
          </a:xfrm>
          <a:prstGeom prst="rect">
            <a:avLst/>
          </a:prstGeom>
          <a:noFill/>
          <a:ln/>
        </p:spPr>
        <p:txBody>
          <a:bodyPr wrap="square" lIns="0" tIns="0" rIns="0" bIns="0" rtlCol="0" anchor="ctr"/>
          <a:lstStyle/>
          <a:p>
            <a:pPr marL="0" indent="0" algn="r">
              <a:buNone/>
            </a:pPr>
            <a:r>
              <a:rPr lang="en-US" sz="900" dirty="0">
                <a:solidFill>
                  <a:srgbClr val="8DA0B3"/>
                </a:solidFill>
                <a:latin typeface="Calibri" pitchFamily="34" charset="0"/>
                <a:ea typeface="Calibri" pitchFamily="34" charset="-122"/>
                <a:cs typeface="Calibri" pitchFamily="34" charset="-120"/>
              </a:rPr>
              <a:t>10 / 15</a:t>
            </a:r>
            <a:endParaRPr lang="en-US" sz="900" dirty="0"/>
          </a:p>
        </p:txBody>
      </p:sp>
      <p:sp>
        <p:nvSpPr>
          <p:cNvPr id="5" name="Shape 3"/>
          <p:cNvSpPr/>
          <p:nvPr/>
        </p:nvSpPr>
        <p:spPr>
          <a:xfrm>
            <a:off x="411480" y="960120"/>
            <a:ext cx="3931920" cy="3749040"/>
          </a:xfrm>
          <a:prstGeom prst="rect">
            <a:avLst/>
          </a:prstGeom>
          <a:solidFill>
            <a:srgbClr val="132437"/>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6" name="Shape 4"/>
          <p:cNvSpPr/>
          <p:nvPr/>
        </p:nvSpPr>
        <p:spPr>
          <a:xfrm>
            <a:off x="411480" y="960120"/>
            <a:ext cx="3931920" cy="411480"/>
          </a:xfrm>
          <a:prstGeom prst="rect">
            <a:avLst/>
          </a:prstGeom>
          <a:solidFill>
            <a:srgbClr val="0077B6"/>
          </a:solidFill>
          <a:ln w="12700">
            <a:solidFill>
              <a:srgbClr val="0077B6"/>
            </a:solidFill>
            <a:prstDash val="solid"/>
          </a:ln>
        </p:spPr>
        <p:txBody>
          <a:bodyPr/>
          <a:lstStyle/>
          <a:p>
            <a:endParaRPr lang="en-US"/>
          </a:p>
        </p:txBody>
      </p:sp>
      <p:sp>
        <p:nvSpPr>
          <p:cNvPr id="7" name="Text 5"/>
          <p:cNvSpPr/>
          <p:nvPr/>
        </p:nvSpPr>
        <p:spPr>
          <a:xfrm>
            <a:off x="548640" y="1005840"/>
            <a:ext cx="365760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Demo Local</a:t>
            </a:r>
            <a:endParaRPr lang="en-US" sz="1200" dirty="0"/>
          </a:p>
        </p:txBody>
      </p:sp>
      <p:sp>
        <p:nvSpPr>
          <p:cNvPr id="8" name="Shape 6"/>
          <p:cNvSpPr/>
          <p:nvPr/>
        </p:nvSpPr>
        <p:spPr>
          <a:xfrm>
            <a:off x="594360" y="1536192"/>
            <a:ext cx="109728" cy="109728"/>
          </a:xfrm>
          <a:prstGeom prst="ellipse">
            <a:avLst/>
          </a:prstGeom>
          <a:solidFill>
            <a:srgbClr val="00B4D8"/>
          </a:solidFill>
          <a:ln w="12700">
            <a:solidFill>
              <a:srgbClr val="00B4D8"/>
            </a:solidFill>
            <a:prstDash val="solid"/>
          </a:ln>
        </p:spPr>
        <p:txBody>
          <a:bodyPr/>
          <a:lstStyle/>
          <a:p>
            <a:endParaRPr lang="en-US"/>
          </a:p>
        </p:txBody>
      </p:sp>
      <p:sp>
        <p:nvSpPr>
          <p:cNvPr id="9" name="Text 7"/>
          <p:cNvSpPr/>
          <p:nvPr/>
        </p:nvSpPr>
        <p:spPr>
          <a:xfrm>
            <a:off x="804672" y="1490472"/>
            <a:ext cx="3383280" cy="475488"/>
          </a:xfrm>
          <a:prstGeom prst="rect">
            <a:avLst/>
          </a:prstGeom>
          <a:noFill/>
          <a:ln/>
        </p:spPr>
        <p:txBody>
          <a:bodyPr wrap="square" lIns="0" tIns="0" rIns="0" bIns="0" rtlCol="0" anchor="ctr"/>
          <a:lstStyle/>
          <a:p>
            <a:pPr marL="0" indent="0">
              <a:buNone/>
            </a:pPr>
            <a:r>
              <a:rPr lang="en-US" sz="1150" dirty="0">
                <a:solidFill>
                  <a:srgbClr val="E8F4FD"/>
                </a:solidFill>
                <a:latin typeface="Calibri" pitchFamily="34" charset="0"/>
                <a:ea typeface="Calibri" pitchFamily="34" charset="-122"/>
                <a:cs typeface="Calibri" pitchFamily="34" charset="-120"/>
              </a:rPr>
              <a:t>FastAPI backend</a:t>
            </a:r>
            <a:endParaRPr lang="en-US" sz="1150" dirty="0"/>
          </a:p>
        </p:txBody>
      </p:sp>
      <p:sp>
        <p:nvSpPr>
          <p:cNvPr id="10" name="Shape 8"/>
          <p:cNvSpPr/>
          <p:nvPr/>
        </p:nvSpPr>
        <p:spPr>
          <a:xfrm>
            <a:off x="594360" y="2084832"/>
            <a:ext cx="109728" cy="109728"/>
          </a:xfrm>
          <a:prstGeom prst="ellipse">
            <a:avLst/>
          </a:prstGeom>
          <a:solidFill>
            <a:srgbClr val="00B4D8"/>
          </a:solidFill>
          <a:ln w="12700">
            <a:solidFill>
              <a:srgbClr val="00B4D8"/>
            </a:solidFill>
            <a:prstDash val="solid"/>
          </a:ln>
        </p:spPr>
        <p:txBody>
          <a:bodyPr/>
          <a:lstStyle/>
          <a:p>
            <a:endParaRPr lang="en-US"/>
          </a:p>
        </p:txBody>
      </p:sp>
      <p:sp>
        <p:nvSpPr>
          <p:cNvPr id="11" name="Text 9"/>
          <p:cNvSpPr/>
          <p:nvPr/>
        </p:nvSpPr>
        <p:spPr>
          <a:xfrm>
            <a:off x="804672" y="2039112"/>
            <a:ext cx="3383280" cy="475488"/>
          </a:xfrm>
          <a:prstGeom prst="rect">
            <a:avLst/>
          </a:prstGeom>
          <a:noFill/>
          <a:ln/>
        </p:spPr>
        <p:txBody>
          <a:bodyPr wrap="square" lIns="0" tIns="0" rIns="0" bIns="0" rtlCol="0" anchor="ctr"/>
          <a:lstStyle/>
          <a:p>
            <a:pPr marL="0" indent="0">
              <a:buNone/>
            </a:pPr>
            <a:r>
              <a:rPr lang="en-US" sz="1150" dirty="0">
                <a:solidFill>
                  <a:srgbClr val="E8F4FD"/>
                </a:solidFill>
                <a:latin typeface="Calibri" pitchFamily="34" charset="0"/>
                <a:ea typeface="Calibri" pitchFamily="34" charset="-122"/>
                <a:cs typeface="Calibri" pitchFamily="34" charset="-120"/>
              </a:rPr>
              <a:t>Giao diện demo.html</a:t>
            </a:r>
            <a:endParaRPr lang="en-US" sz="1150" dirty="0"/>
          </a:p>
        </p:txBody>
      </p:sp>
      <p:sp>
        <p:nvSpPr>
          <p:cNvPr id="12" name="Shape 10"/>
          <p:cNvSpPr/>
          <p:nvPr/>
        </p:nvSpPr>
        <p:spPr>
          <a:xfrm>
            <a:off x="594360" y="2633472"/>
            <a:ext cx="109728" cy="109728"/>
          </a:xfrm>
          <a:prstGeom prst="ellipse">
            <a:avLst/>
          </a:prstGeom>
          <a:solidFill>
            <a:srgbClr val="00B4D8"/>
          </a:solidFill>
          <a:ln w="12700">
            <a:solidFill>
              <a:srgbClr val="00B4D8"/>
            </a:solidFill>
            <a:prstDash val="solid"/>
          </a:ln>
        </p:spPr>
        <p:txBody>
          <a:bodyPr/>
          <a:lstStyle/>
          <a:p>
            <a:endParaRPr lang="en-US"/>
          </a:p>
        </p:txBody>
      </p:sp>
      <p:sp>
        <p:nvSpPr>
          <p:cNvPr id="13" name="Text 11"/>
          <p:cNvSpPr/>
          <p:nvPr/>
        </p:nvSpPr>
        <p:spPr>
          <a:xfrm>
            <a:off x="804672" y="2587752"/>
            <a:ext cx="3383280" cy="475488"/>
          </a:xfrm>
          <a:prstGeom prst="rect">
            <a:avLst/>
          </a:prstGeom>
          <a:noFill/>
          <a:ln/>
        </p:spPr>
        <p:txBody>
          <a:bodyPr wrap="square" lIns="0" tIns="0" rIns="0" bIns="0" rtlCol="0" anchor="ctr"/>
          <a:lstStyle/>
          <a:p>
            <a:pPr marL="0" indent="0">
              <a:buNone/>
            </a:pPr>
            <a:r>
              <a:rPr lang="en-US" sz="1150" dirty="0">
                <a:solidFill>
                  <a:srgbClr val="E8F4FD"/>
                </a:solidFill>
                <a:latin typeface="Calibri" pitchFamily="34" charset="0"/>
                <a:ea typeface="Calibri" pitchFamily="34" charset="-122"/>
                <a:cs typeface="Calibri" pitchFamily="34" charset="-120"/>
              </a:rPr>
              <a:t>Upload ảnh + nhập câu hỏi + chọn model</a:t>
            </a:r>
            <a:endParaRPr lang="en-US" sz="1150" dirty="0"/>
          </a:p>
        </p:txBody>
      </p:sp>
      <p:sp>
        <p:nvSpPr>
          <p:cNvPr id="14" name="Shape 12"/>
          <p:cNvSpPr/>
          <p:nvPr/>
        </p:nvSpPr>
        <p:spPr>
          <a:xfrm>
            <a:off x="594360" y="3182112"/>
            <a:ext cx="109728" cy="109728"/>
          </a:xfrm>
          <a:prstGeom prst="ellipse">
            <a:avLst/>
          </a:prstGeom>
          <a:solidFill>
            <a:srgbClr val="00B4D8"/>
          </a:solidFill>
          <a:ln w="12700">
            <a:solidFill>
              <a:srgbClr val="00B4D8"/>
            </a:solidFill>
            <a:prstDash val="solid"/>
          </a:ln>
        </p:spPr>
        <p:txBody>
          <a:bodyPr/>
          <a:lstStyle/>
          <a:p>
            <a:endParaRPr lang="en-US"/>
          </a:p>
        </p:txBody>
      </p:sp>
      <p:sp>
        <p:nvSpPr>
          <p:cNvPr id="15" name="Text 13"/>
          <p:cNvSpPr/>
          <p:nvPr/>
        </p:nvSpPr>
        <p:spPr>
          <a:xfrm>
            <a:off x="804672" y="3136392"/>
            <a:ext cx="3383280" cy="475488"/>
          </a:xfrm>
          <a:prstGeom prst="rect">
            <a:avLst/>
          </a:prstGeom>
          <a:noFill/>
          <a:ln/>
        </p:spPr>
        <p:txBody>
          <a:bodyPr wrap="square" lIns="0" tIns="0" rIns="0" bIns="0" rtlCol="0" anchor="ctr"/>
          <a:lstStyle/>
          <a:p>
            <a:pPr marL="0" indent="0">
              <a:buNone/>
            </a:pPr>
            <a:r>
              <a:rPr lang="en-US" sz="1150" dirty="0">
                <a:solidFill>
                  <a:srgbClr val="E8F4FD"/>
                </a:solidFill>
                <a:latin typeface="Calibri" pitchFamily="34" charset="0"/>
                <a:ea typeface="Calibri" pitchFamily="34" charset="-122"/>
                <a:cs typeface="Calibri" pitchFamily="34" charset="-120"/>
              </a:rPr>
              <a:t>A1/A2: chạy realtime với checkpoint .pt</a:t>
            </a:r>
            <a:endParaRPr lang="en-US" sz="1150" dirty="0"/>
          </a:p>
        </p:txBody>
      </p:sp>
      <p:sp>
        <p:nvSpPr>
          <p:cNvPr id="16" name="Shape 14"/>
          <p:cNvSpPr/>
          <p:nvPr/>
        </p:nvSpPr>
        <p:spPr>
          <a:xfrm>
            <a:off x="594360" y="3730752"/>
            <a:ext cx="109728" cy="109728"/>
          </a:xfrm>
          <a:prstGeom prst="ellipse">
            <a:avLst/>
          </a:prstGeom>
          <a:solidFill>
            <a:srgbClr val="00B4D8"/>
          </a:solidFill>
          <a:ln w="12700">
            <a:solidFill>
              <a:srgbClr val="00B4D8"/>
            </a:solidFill>
            <a:prstDash val="solid"/>
          </a:ln>
        </p:spPr>
        <p:txBody>
          <a:bodyPr/>
          <a:lstStyle/>
          <a:p>
            <a:endParaRPr lang="en-US"/>
          </a:p>
        </p:txBody>
      </p:sp>
      <p:sp>
        <p:nvSpPr>
          <p:cNvPr id="17" name="Text 15"/>
          <p:cNvSpPr/>
          <p:nvPr/>
        </p:nvSpPr>
        <p:spPr>
          <a:xfrm>
            <a:off x="804672" y="3685032"/>
            <a:ext cx="3383280" cy="475488"/>
          </a:xfrm>
          <a:prstGeom prst="rect">
            <a:avLst/>
          </a:prstGeom>
          <a:noFill/>
          <a:ln/>
        </p:spPr>
        <p:txBody>
          <a:bodyPr wrap="square" lIns="0" tIns="0" rIns="0" bIns="0" rtlCol="0" anchor="ctr"/>
          <a:lstStyle/>
          <a:p>
            <a:pPr marL="0" indent="0">
              <a:buNone/>
            </a:pPr>
            <a:r>
              <a:rPr lang="en-US" sz="1150" dirty="0">
                <a:solidFill>
                  <a:srgbClr val="E8F4FD"/>
                </a:solidFill>
                <a:latin typeface="Calibri" pitchFamily="34" charset="0"/>
                <a:ea typeface="Calibri" pitchFamily="34" charset="-122"/>
                <a:cs typeface="Calibri" pitchFamily="34" charset="-120"/>
              </a:rPr>
              <a:t>B1/B2: đọc prediction đã lưu sẵn</a:t>
            </a:r>
            <a:endParaRPr lang="en-US" sz="1150" dirty="0"/>
          </a:p>
        </p:txBody>
      </p:sp>
      <p:sp>
        <p:nvSpPr>
          <p:cNvPr id="18" name="Shape 16"/>
          <p:cNvSpPr/>
          <p:nvPr/>
        </p:nvSpPr>
        <p:spPr>
          <a:xfrm>
            <a:off x="4800600" y="960120"/>
            <a:ext cx="3931920" cy="3749040"/>
          </a:xfrm>
          <a:prstGeom prst="rect">
            <a:avLst/>
          </a:prstGeom>
          <a:solidFill>
            <a:srgbClr val="132437"/>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19" name="Shape 17"/>
          <p:cNvSpPr/>
          <p:nvPr/>
        </p:nvSpPr>
        <p:spPr>
          <a:xfrm>
            <a:off x="4800600" y="960120"/>
            <a:ext cx="3931920" cy="411480"/>
          </a:xfrm>
          <a:prstGeom prst="rect">
            <a:avLst/>
          </a:prstGeom>
          <a:solidFill>
            <a:srgbClr val="1D4E89"/>
          </a:solidFill>
          <a:ln w="12700">
            <a:solidFill>
              <a:srgbClr val="1D4E89"/>
            </a:solidFill>
            <a:prstDash val="solid"/>
          </a:ln>
        </p:spPr>
        <p:txBody>
          <a:bodyPr/>
          <a:lstStyle/>
          <a:p>
            <a:endParaRPr lang="en-US"/>
          </a:p>
        </p:txBody>
      </p:sp>
      <p:sp>
        <p:nvSpPr>
          <p:cNvPr id="20" name="Text 18"/>
          <p:cNvSpPr/>
          <p:nvPr/>
        </p:nvSpPr>
        <p:spPr>
          <a:xfrm>
            <a:off x="4937760" y="1005840"/>
            <a:ext cx="3657600"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Demo Colab</a:t>
            </a:r>
            <a:endParaRPr lang="en-US" sz="1200" dirty="0"/>
          </a:p>
        </p:txBody>
      </p:sp>
      <p:sp>
        <p:nvSpPr>
          <p:cNvPr id="21" name="Shape 19"/>
          <p:cNvSpPr/>
          <p:nvPr/>
        </p:nvSpPr>
        <p:spPr>
          <a:xfrm>
            <a:off x="4983480" y="1536192"/>
            <a:ext cx="109728" cy="109728"/>
          </a:xfrm>
          <a:prstGeom prst="ellipse">
            <a:avLst/>
          </a:prstGeom>
          <a:solidFill>
            <a:srgbClr val="00B4D8"/>
          </a:solidFill>
          <a:ln w="12700">
            <a:solidFill>
              <a:srgbClr val="00B4D8"/>
            </a:solidFill>
            <a:prstDash val="solid"/>
          </a:ln>
        </p:spPr>
        <p:txBody>
          <a:bodyPr/>
          <a:lstStyle/>
          <a:p>
            <a:endParaRPr lang="en-US"/>
          </a:p>
        </p:txBody>
      </p:sp>
      <p:sp>
        <p:nvSpPr>
          <p:cNvPr id="22" name="Text 20"/>
          <p:cNvSpPr/>
          <p:nvPr/>
        </p:nvSpPr>
        <p:spPr>
          <a:xfrm>
            <a:off x="5193792" y="1490472"/>
            <a:ext cx="3383280" cy="475488"/>
          </a:xfrm>
          <a:prstGeom prst="rect">
            <a:avLst/>
          </a:prstGeom>
          <a:noFill/>
          <a:ln/>
        </p:spPr>
        <p:txBody>
          <a:bodyPr wrap="square" lIns="0" tIns="0" rIns="0" bIns="0" rtlCol="0" anchor="ctr"/>
          <a:lstStyle/>
          <a:p>
            <a:pPr marL="0" indent="0">
              <a:buNone/>
            </a:pPr>
            <a:r>
              <a:rPr lang="en-US" sz="1150" dirty="0">
                <a:solidFill>
                  <a:srgbClr val="E8F4FD"/>
                </a:solidFill>
                <a:latin typeface="Calibri" pitchFamily="34" charset="0"/>
                <a:ea typeface="Calibri" pitchFamily="34" charset="-122"/>
                <a:cs typeface="Calibri" pitchFamily="34" charset="-120"/>
              </a:rPr>
              <a:t>Gradio public link</a:t>
            </a:r>
            <a:endParaRPr lang="en-US" sz="1150" dirty="0"/>
          </a:p>
        </p:txBody>
      </p:sp>
      <p:sp>
        <p:nvSpPr>
          <p:cNvPr id="23" name="Shape 21"/>
          <p:cNvSpPr/>
          <p:nvPr/>
        </p:nvSpPr>
        <p:spPr>
          <a:xfrm>
            <a:off x="4983480" y="2084832"/>
            <a:ext cx="109728" cy="109728"/>
          </a:xfrm>
          <a:prstGeom prst="ellipse">
            <a:avLst/>
          </a:prstGeom>
          <a:solidFill>
            <a:srgbClr val="00B4D8"/>
          </a:solidFill>
          <a:ln w="12700">
            <a:solidFill>
              <a:srgbClr val="00B4D8"/>
            </a:solidFill>
            <a:prstDash val="solid"/>
          </a:ln>
        </p:spPr>
        <p:txBody>
          <a:bodyPr/>
          <a:lstStyle/>
          <a:p>
            <a:endParaRPr lang="en-US"/>
          </a:p>
        </p:txBody>
      </p:sp>
      <p:sp>
        <p:nvSpPr>
          <p:cNvPr id="24" name="Text 22"/>
          <p:cNvSpPr/>
          <p:nvPr/>
        </p:nvSpPr>
        <p:spPr>
          <a:xfrm>
            <a:off x="5193792" y="2039112"/>
            <a:ext cx="3383280" cy="475488"/>
          </a:xfrm>
          <a:prstGeom prst="rect">
            <a:avLst/>
          </a:prstGeom>
          <a:noFill/>
          <a:ln/>
        </p:spPr>
        <p:txBody>
          <a:bodyPr wrap="square" lIns="0" tIns="0" rIns="0" bIns="0" rtlCol="0" anchor="ctr"/>
          <a:lstStyle/>
          <a:p>
            <a:pPr marL="0" indent="0">
              <a:buNone/>
            </a:pPr>
            <a:r>
              <a:rPr lang="en-US" sz="1150" dirty="0">
                <a:solidFill>
                  <a:srgbClr val="E8F4FD"/>
                </a:solidFill>
                <a:latin typeface="Calibri" pitchFamily="34" charset="0"/>
                <a:ea typeface="Calibri" pitchFamily="34" charset="-122"/>
                <a:cs typeface="Calibri" pitchFamily="34" charset="-120"/>
              </a:rPr>
              <a:t>B1/B2 chạy Qwen realtime trên T4</a:t>
            </a:r>
            <a:endParaRPr lang="en-US" sz="1150" dirty="0"/>
          </a:p>
        </p:txBody>
      </p:sp>
      <p:sp>
        <p:nvSpPr>
          <p:cNvPr id="25" name="Shape 23"/>
          <p:cNvSpPr/>
          <p:nvPr/>
        </p:nvSpPr>
        <p:spPr>
          <a:xfrm>
            <a:off x="4983480" y="2633472"/>
            <a:ext cx="109728" cy="109728"/>
          </a:xfrm>
          <a:prstGeom prst="ellipse">
            <a:avLst/>
          </a:prstGeom>
          <a:solidFill>
            <a:srgbClr val="00B4D8"/>
          </a:solidFill>
          <a:ln w="12700">
            <a:solidFill>
              <a:srgbClr val="00B4D8"/>
            </a:solidFill>
            <a:prstDash val="solid"/>
          </a:ln>
        </p:spPr>
        <p:txBody>
          <a:bodyPr/>
          <a:lstStyle/>
          <a:p>
            <a:endParaRPr lang="en-US"/>
          </a:p>
        </p:txBody>
      </p:sp>
      <p:sp>
        <p:nvSpPr>
          <p:cNvPr id="26" name="Text 24"/>
          <p:cNvSpPr/>
          <p:nvPr/>
        </p:nvSpPr>
        <p:spPr>
          <a:xfrm>
            <a:off x="5193792" y="2587752"/>
            <a:ext cx="3383280" cy="475488"/>
          </a:xfrm>
          <a:prstGeom prst="rect">
            <a:avLst/>
          </a:prstGeom>
          <a:noFill/>
          <a:ln/>
        </p:spPr>
        <p:txBody>
          <a:bodyPr wrap="square" lIns="0" tIns="0" rIns="0" bIns="0" rtlCol="0" anchor="ctr"/>
          <a:lstStyle/>
          <a:p>
            <a:pPr marL="0" indent="0">
              <a:buNone/>
            </a:pPr>
            <a:r>
              <a:rPr lang="en-US" sz="1150" dirty="0">
                <a:solidFill>
                  <a:srgbClr val="E8F4FD"/>
                </a:solidFill>
                <a:latin typeface="Calibri" pitchFamily="34" charset="0"/>
                <a:ea typeface="Calibri" pitchFamily="34" charset="-122"/>
                <a:cs typeface="Calibri" pitchFamily="34" charset="-120"/>
              </a:rPr>
              <a:t>B1 = base Qwen2-VL</a:t>
            </a:r>
            <a:endParaRPr lang="en-US" sz="1150" dirty="0"/>
          </a:p>
        </p:txBody>
      </p:sp>
      <p:sp>
        <p:nvSpPr>
          <p:cNvPr id="27" name="Shape 25"/>
          <p:cNvSpPr/>
          <p:nvPr/>
        </p:nvSpPr>
        <p:spPr>
          <a:xfrm>
            <a:off x="4983480" y="3182112"/>
            <a:ext cx="109728" cy="109728"/>
          </a:xfrm>
          <a:prstGeom prst="ellipse">
            <a:avLst/>
          </a:prstGeom>
          <a:solidFill>
            <a:srgbClr val="00B4D8"/>
          </a:solidFill>
          <a:ln w="12700">
            <a:solidFill>
              <a:srgbClr val="00B4D8"/>
            </a:solidFill>
            <a:prstDash val="solid"/>
          </a:ln>
        </p:spPr>
        <p:txBody>
          <a:bodyPr/>
          <a:lstStyle/>
          <a:p>
            <a:endParaRPr lang="en-US"/>
          </a:p>
        </p:txBody>
      </p:sp>
      <p:sp>
        <p:nvSpPr>
          <p:cNvPr id="28" name="Text 26"/>
          <p:cNvSpPr/>
          <p:nvPr/>
        </p:nvSpPr>
        <p:spPr>
          <a:xfrm>
            <a:off x="5193792" y="3136392"/>
            <a:ext cx="3383280" cy="475488"/>
          </a:xfrm>
          <a:prstGeom prst="rect">
            <a:avLst/>
          </a:prstGeom>
          <a:noFill/>
          <a:ln/>
        </p:spPr>
        <p:txBody>
          <a:bodyPr wrap="square" lIns="0" tIns="0" rIns="0" bIns="0" rtlCol="0" anchor="ctr"/>
          <a:lstStyle/>
          <a:p>
            <a:pPr marL="0" indent="0">
              <a:buNone/>
            </a:pPr>
            <a:r>
              <a:rPr lang="en-US" sz="1150" dirty="0">
                <a:solidFill>
                  <a:srgbClr val="E8F4FD"/>
                </a:solidFill>
                <a:latin typeface="Calibri" pitchFamily="34" charset="0"/>
                <a:ea typeface="Calibri" pitchFamily="34" charset="-122"/>
                <a:cs typeface="Calibri" pitchFamily="34" charset="-120"/>
              </a:rPr>
              <a:t>B2 = Qwen2-VL + LoRA adapter</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411480" y="694944"/>
            <a:ext cx="8321040" cy="22860"/>
          </a:xfrm>
          <a:prstGeom prst="rect">
            <a:avLst/>
          </a:prstGeom>
          <a:solidFill>
            <a:srgbClr val="00B4D8"/>
          </a:solidFill>
          <a:ln w="12700">
            <a:solidFill>
              <a:srgbClr val="00B4D8"/>
            </a:solidFill>
            <a:prstDash val="solid"/>
          </a:ln>
        </p:spPr>
        <p:txBody>
          <a:bodyPr/>
          <a:lstStyle/>
          <a:p>
            <a:endParaRPr lang="en-US"/>
          </a:p>
        </p:txBody>
      </p:sp>
      <p:sp>
        <p:nvSpPr>
          <p:cNvPr id="3" name="Text 1"/>
          <p:cNvSpPr/>
          <p:nvPr/>
        </p:nvSpPr>
        <p:spPr>
          <a:xfrm>
            <a:off x="411480" y="256032"/>
            <a:ext cx="8321040" cy="502920"/>
          </a:xfrm>
          <a:prstGeom prst="rect">
            <a:avLst/>
          </a:prstGeom>
          <a:noFill/>
          <a:ln/>
        </p:spPr>
        <p:txBody>
          <a:bodyPr wrap="square" lIns="0" tIns="0" rIns="0" bIns="0" rtlCol="0" anchor="ctr"/>
          <a:lstStyle/>
          <a:p>
            <a:pPr marL="0" indent="0">
              <a:buNone/>
            </a:pPr>
            <a:r>
              <a:rPr lang="en-US" sz="2600" b="1" dirty="0">
                <a:solidFill>
                  <a:srgbClr val="00B4D8"/>
                </a:solidFill>
                <a:latin typeface="Calibri" pitchFamily="34" charset="0"/>
                <a:ea typeface="Calibri" pitchFamily="34" charset="-122"/>
                <a:cs typeface="Calibri" pitchFamily="34" charset="-120"/>
              </a:rPr>
              <a:t>11. Bài 2 — Explainable VQA</a:t>
            </a:r>
            <a:endParaRPr lang="en-US" sz="2600" dirty="0"/>
          </a:p>
        </p:txBody>
      </p:sp>
      <p:sp>
        <p:nvSpPr>
          <p:cNvPr id="4" name="Text 2"/>
          <p:cNvSpPr/>
          <p:nvPr/>
        </p:nvSpPr>
        <p:spPr>
          <a:xfrm>
            <a:off x="8046720" y="4846320"/>
            <a:ext cx="822960" cy="182880"/>
          </a:xfrm>
          <a:prstGeom prst="rect">
            <a:avLst/>
          </a:prstGeom>
          <a:noFill/>
          <a:ln/>
        </p:spPr>
        <p:txBody>
          <a:bodyPr wrap="square" lIns="0" tIns="0" rIns="0" bIns="0" rtlCol="0" anchor="ctr"/>
          <a:lstStyle/>
          <a:p>
            <a:pPr marL="0" indent="0" algn="r">
              <a:buNone/>
            </a:pPr>
            <a:r>
              <a:rPr lang="en-US" sz="900" dirty="0">
                <a:solidFill>
                  <a:srgbClr val="8DA0B3"/>
                </a:solidFill>
                <a:latin typeface="Calibri" pitchFamily="34" charset="0"/>
                <a:ea typeface="Calibri" pitchFamily="34" charset="-122"/>
                <a:cs typeface="Calibri" pitchFamily="34" charset="-120"/>
              </a:rPr>
              <a:t>11 / 15</a:t>
            </a:r>
            <a:endParaRPr lang="en-US" sz="900" dirty="0"/>
          </a:p>
        </p:txBody>
      </p:sp>
      <p:sp>
        <p:nvSpPr>
          <p:cNvPr id="5" name="Text 3"/>
          <p:cNvSpPr/>
          <p:nvPr/>
        </p:nvSpPr>
        <p:spPr>
          <a:xfrm>
            <a:off x="411480" y="804672"/>
            <a:ext cx="8321040" cy="320040"/>
          </a:xfrm>
          <a:prstGeom prst="rect">
            <a:avLst/>
          </a:prstGeom>
          <a:noFill/>
          <a:ln/>
        </p:spPr>
        <p:txBody>
          <a:bodyPr wrap="square" lIns="0" tIns="0" rIns="0" bIns="0" rtlCol="0" anchor="ctr"/>
          <a:lstStyle/>
          <a:p>
            <a:pPr marL="0" indent="0">
              <a:buNone/>
            </a:pPr>
            <a:r>
              <a:rPr lang="en-US" sz="1200" i="1" dirty="0">
                <a:solidFill>
                  <a:srgbClr val="8DA0B3"/>
                </a:solidFill>
                <a:latin typeface="Calibri" pitchFamily="34" charset="0"/>
                <a:ea typeface="Calibri" pitchFamily="34" charset="-122"/>
                <a:cs typeface="Calibri" pitchFamily="34" charset="-120"/>
              </a:rPr>
              <a:t>Mở rộng VQA thành hệ thống giải thích &amp; hỗ trợ ra quyết định</a:t>
            </a:r>
            <a:endParaRPr lang="en-US" sz="1200" dirty="0"/>
          </a:p>
        </p:txBody>
      </p:sp>
      <p:sp>
        <p:nvSpPr>
          <p:cNvPr id="6" name="Shape 4"/>
          <p:cNvSpPr/>
          <p:nvPr/>
        </p:nvSpPr>
        <p:spPr>
          <a:xfrm>
            <a:off x="274320" y="1234440"/>
            <a:ext cx="2286000" cy="2286000"/>
          </a:xfrm>
          <a:prstGeom prst="rect">
            <a:avLst/>
          </a:prstGeom>
          <a:solidFill>
            <a:srgbClr val="132437"/>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7" name="Text 5"/>
          <p:cNvSpPr/>
          <p:nvPr/>
        </p:nvSpPr>
        <p:spPr>
          <a:xfrm>
            <a:off x="274320" y="1280160"/>
            <a:ext cx="2286000" cy="320040"/>
          </a:xfrm>
          <a:prstGeom prst="rect">
            <a:avLst/>
          </a:prstGeom>
          <a:noFill/>
          <a:ln/>
        </p:spPr>
        <p:txBody>
          <a:bodyPr wrap="square" lIns="0" tIns="0" rIns="0" bIns="0" rtlCol="0" anchor="ctr"/>
          <a:lstStyle/>
          <a:p>
            <a:pPr marL="0" indent="0" algn="ctr">
              <a:buNone/>
            </a:pPr>
            <a:r>
              <a:rPr lang="en-US" sz="1100" b="1" dirty="0">
                <a:solidFill>
                  <a:srgbClr val="00B4D8"/>
                </a:solidFill>
                <a:latin typeface="Calibri" pitchFamily="34" charset="0"/>
                <a:ea typeface="Calibri" pitchFamily="34" charset="-122"/>
                <a:cs typeface="Calibri" pitchFamily="34" charset="-120"/>
              </a:rPr>
              <a:t>ĐẦU VÀO</a:t>
            </a:r>
            <a:endParaRPr lang="en-US" sz="1100" dirty="0"/>
          </a:p>
        </p:txBody>
      </p:sp>
      <p:sp>
        <p:nvSpPr>
          <p:cNvPr id="8" name="Text 6"/>
          <p:cNvSpPr/>
          <p:nvPr/>
        </p:nvSpPr>
        <p:spPr>
          <a:xfrm>
            <a:off x="365760" y="1737360"/>
            <a:ext cx="2103120" cy="502920"/>
          </a:xfrm>
          <a:prstGeom prst="rect">
            <a:avLst/>
          </a:prstGeom>
          <a:noFill/>
          <a:ln/>
        </p:spPr>
        <p:txBody>
          <a:bodyPr wrap="square" lIns="0" tIns="0" rIns="0" bIns="0" rtlCol="0" anchor="ctr"/>
          <a:lstStyle/>
          <a:p>
            <a:pPr marL="0" indent="0">
              <a:buNone/>
            </a:pPr>
            <a:r>
              <a:rPr lang="en-US" sz="1100" dirty="0">
                <a:solidFill>
                  <a:srgbClr val="E8F4FD"/>
                </a:solidFill>
                <a:latin typeface="Calibri" pitchFamily="34" charset="0"/>
                <a:ea typeface="Calibri" pitchFamily="34" charset="-122"/>
                <a:cs typeface="Calibri" pitchFamily="34" charset="-120"/>
              </a:rPr>
              <a:t>🖼️  Ảnh biển báo</a:t>
            </a:r>
            <a:endParaRPr lang="en-US" sz="1100" dirty="0"/>
          </a:p>
        </p:txBody>
      </p:sp>
      <p:sp>
        <p:nvSpPr>
          <p:cNvPr id="9" name="Text 7"/>
          <p:cNvSpPr/>
          <p:nvPr/>
        </p:nvSpPr>
        <p:spPr>
          <a:xfrm>
            <a:off x="365760" y="2377440"/>
            <a:ext cx="2103120" cy="502920"/>
          </a:xfrm>
          <a:prstGeom prst="rect">
            <a:avLst/>
          </a:prstGeom>
          <a:noFill/>
          <a:ln/>
        </p:spPr>
        <p:txBody>
          <a:bodyPr wrap="square" lIns="0" tIns="0" rIns="0" bIns="0" rtlCol="0" anchor="ctr"/>
          <a:lstStyle/>
          <a:p>
            <a:pPr marL="0" indent="0">
              <a:buNone/>
            </a:pPr>
            <a:r>
              <a:rPr lang="en-US" sz="1100" dirty="0">
                <a:solidFill>
                  <a:srgbClr val="E8F4FD"/>
                </a:solidFill>
                <a:latin typeface="Calibri" pitchFamily="34" charset="0"/>
                <a:ea typeface="Calibri" pitchFamily="34" charset="-122"/>
                <a:cs typeface="Calibri" pitchFamily="34" charset="-120"/>
              </a:rPr>
              <a:t>❓  Câu hỏi tiếng Việt</a:t>
            </a:r>
            <a:endParaRPr lang="en-US" sz="1100" dirty="0"/>
          </a:p>
        </p:txBody>
      </p:sp>
      <p:sp>
        <p:nvSpPr>
          <p:cNvPr id="10" name="Text 8"/>
          <p:cNvSpPr/>
          <p:nvPr/>
        </p:nvSpPr>
        <p:spPr>
          <a:xfrm>
            <a:off x="2560320" y="2148840"/>
            <a:ext cx="548640" cy="502920"/>
          </a:xfrm>
          <a:prstGeom prst="rect">
            <a:avLst/>
          </a:prstGeom>
          <a:noFill/>
          <a:ln/>
        </p:spPr>
        <p:txBody>
          <a:bodyPr wrap="square" lIns="0" tIns="0" rIns="0" bIns="0" rtlCol="0" anchor="ctr"/>
          <a:lstStyle/>
          <a:p>
            <a:pPr marL="0" indent="0" algn="ctr">
              <a:buNone/>
            </a:pPr>
            <a:r>
              <a:rPr lang="en-US" sz="2200" dirty="0">
                <a:solidFill>
                  <a:srgbClr val="00B4D8"/>
                </a:solidFill>
              </a:rPr>
              <a:t>→</a:t>
            </a:r>
            <a:endParaRPr lang="en-US" sz="2200" dirty="0"/>
          </a:p>
        </p:txBody>
      </p:sp>
      <p:sp>
        <p:nvSpPr>
          <p:cNvPr id="11" name="Shape 9"/>
          <p:cNvSpPr/>
          <p:nvPr/>
        </p:nvSpPr>
        <p:spPr>
          <a:xfrm>
            <a:off x="3108960" y="1234440"/>
            <a:ext cx="2926080" cy="2286000"/>
          </a:xfrm>
          <a:prstGeom prst="rect">
            <a:avLst/>
          </a:prstGeom>
          <a:solidFill>
            <a:srgbClr val="0077B6"/>
          </a:solidFill>
          <a:ln w="25400">
            <a:solidFill>
              <a:srgbClr val="00B4D8"/>
            </a:solidFill>
            <a:prstDash val="solid"/>
          </a:ln>
        </p:spPr>
        <p:txBody>
          <a:bodyPr/>
          <a:lstStyle/>
          <a:p>
            <a:endParaRPr lang="en-US"/>
          </a:p>
        </p:txBody>
      </p:sp>
      <p:sp>
        <p:nvSpPr>
          <p:cNvPr id="12" name="Text 10"/>
          <p:cNvSpPr/>
          <p:nvPr/>
        </p:nvSpPr>
        <p:spPr>
          <a:xfrm>
            <a:off x="3108960" y="1234440"/>
            <a:ext cx="2926080" cy="22860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EXPLAINABLE</a:t>
            </a:r>
            <a:endParaRPr lang="en-US" sz="1500" dirty="0"/>
          </a:p>
          <a:p>
            <a:pPr marL="0" indent="0" algn="ctr">
              <a:buNone/>
            </a:pPr>
            <a:r>
              <a:rPr lang="en-US" sz="1500" b="1" dirty="0">
                <a:solidFill>
                  <a:srgbClr val="FFFFFF"/>
                </a:solidFill>
                <a:latin typeface="Calibri" pitchFamily="34" charset="0"/>
                <a:ea typeface="Calibri" pitchFamily="34" charset="-122"/>
                <a:cs typeface="Calibri" pitchFamily="34" charset="-120"/>
              </a:rPr>
              <a:t>VQA SYSTEM</a:t>
            </a:r>
            <a:endParaRPr lang="en-US" sz="1500" dirty="0"/>
          </a:p>
        </p:txBody>
      </p:sp>
      <p:sp>
        <p:nvSpPr>
          <p:cNvPr id="13" name="Text 11"/>
          <p:cNvSpPr/>
          <p:nvPr/>
        </p:nvSpPr>
        <p:spPr>
          <a:xfrm>
            <a:off x="6035040" y="2148840"/>
            <a:ext cx="457200" cy="502920"/>
          </a:xfrm>
          <a:prstGeom prst="rect">
            <a:avLst/>
          </a:prstGeom>
          <a:noFill/>
          <a:ln/>
        </p:spPr>
        <p:txBody>
          <a:bodyPr wrap="square" lIns="0" tIns="0" rIns="0" bIns="0" rtlCol="0" anchor="ctr"/>
          <a:lstStyle/>
          <a:p>
            <a:pPr marL="0" indent="0" algn="ctr">
              <a:buNone/>
            </a:pPr>
            <a:r>
              <a:rPr lang="en-US" sz="2200" dirty="0">
                <a:solidFill>
                  <a:srgbClr val="00B4D8"/>
                </a:solidFill>
              </a:rPr>
              <a:t>→</a:t>
            </a:r>
            <a:endParaRPr lang="en-US" sz="2200" dirty="0"/>
          </a:p>
        </p:txBody>
      </p:sp>
      <p:sp>
        <p:nvSpPr>
          <p:cNvPr id="14" name="Shape 12"/>
          <p:cNvSpPr/>
          <p:nvPr/>
        </p:nvSpPr>
        <p:spPr>
          <a:xfrm>
            <a:off x="6492240" y="1234440"/>
            <a:ext cx="2331720" cy="2286000"/>
          </a:xfrm>
          <a:prstGeom prst="rect">
            <a:avLst/>
          </a:prstGeom>
          <a:solidFill>
            <a:srgbClr val="132437"/>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15" name="Text 13"/>
          <p:cNvSpPr/>
          <p:nvPr/>
        </p:nvSpPr>
        <p:spPr>
          <a:xfrm>
            <a:off x="6492240" y="1280160"/>
            <a:ext cx="2331720" cy="320040"/>
          </a:xfrm>
          <a:prstGeom prst="rect">
            <a:avLst/>
          </a:prstGeom>
          <a:noFill/>
          <a:ln/>
        </p:spPr>
        <p:txBody>
          <a:bodyPr wrap="square" lIns="0" tIns="0" rIns="0" bIns="0" rtlCol="0" anchor="ctr"/>
          <a:lstStyle/>
          <a:p>
            <a:pPr marL="0" indent="0" algn="ctr">
              <a:buNone/>
            </a:pPr>
            <a:r>
              <a:rPr lang="en-US" sz="1100" b="1" dirty="0">
                <a:solidFill>
                  <a:srgbClr val="06D6A0"/>
                </a:solidFill>
                <a:latin typeface="Calibri" pitchFamily="34" charset="0"/>
                <a:ea typeface="Calibri" pitchFamily="34" charset="-122"/>
                <a:cs typeface="Calibri" pitchFamily="34" charset="-120"/>
              </a:rPr>
              <a:t>ĐẦU RA</a:t>
            </a:r>
            <a:endParaRPr lang="en-US" sz="1100" dirty="0"/>
          </a:p>
        </p:txBody>
      </p:sp>
      <p:sp>
        <p:nvSpPr>
          <p:cNvPr id="16" name="Shape 14"/>
          <p:cNvSpPr/>
          <p:nvPr/>
        </p:nvSpPr>
        <p:spPr>
          <a:xfrm>
            <a:off x="6601968" y="1691640"/>
            <a:ext cx="109728" cy="109728"/>
          </a:xfrm>
          <a:prstGeom prst="ellipse">
            <a:avLst/>
          </a:prstGeom>
          <a:solidFill>
            <a:srgbClr val="06D6A0"/>
          </a:solidFill>
          <a:ln w="12700">
            <a:solidFill>
              <a:srgbClr val="06D6A0"/>
            </a:solidFill>
            <a:prstDash val="solid"/>
          </a:ln>
        </p:spPr>
        <p:txBody>
          <a:bodyPr/>
          <a:lstStyle/>
          <a:p>
            <a:endParaRPr lang="en-US"/>
          </a:p>
        </p:txBody>
      </p:sp>
      <p:sp>
        <p:nvSpPr>
          <p:cNvPr id="17" name="Text 15"/>
          <p:cNvSpPr/>
          <p:nvPr/>
        </p:nvSpPr>
        <p:spPr>
          <a:xfrm>
            <a:off x="6812280" y="1664208"/>
            <a:ext cx="1828800" cy="320040"/>
          </a:xfrm>
          <a:prstGeom prst="rect">
            <a:avLst/>
          </a:prstGeom>
          <a:noFill/>
          <a:ln/>
        </p:spPr>
        <p:txBody>
          <a:bodyPr wrap="square" lIns="0" tIns="0" rIns="0" bIns="0" rtlCol="0" anchor="ctr"/>
          <a:lstStyle/>
          <a:p>
            <a:pPr marL="0" indent="0">
              <a:buNone/>
            </a:pPr>
            <a:r>
              <a:rPr lang="en-US" sz="1000" dirty="0">
                <a:solidFill>
                  <a:srgbClr val="E8F4FD"/>
                </a:solidFill>
                <a:latin typeface="Calibri" pitchFamily="34" charset="0"/>
                <a:ea typeface="Calibri" pitchFamily="34" charset="-122"/>
                <a:cs typeface="Calibri" pitchFamily="34" charset="-120"/>
              </a:rPr>
              <a:t>Câu trả lời VQA</a:t>
            </a:r>
            <a:endParaRPr lang="en-US" sz="1000" dirty="0"/>
          </a:p>
        </p:txBody>
      </p:sp>
      <p:sp>
        <p:nvSpPr>
          <p:cNvPr id="18" name="Shape 16"/>
          <p:cNvSpPr/>
          <p:nvPr/>
        </p:nvSpPr>
        <p:spPr>
          <a:xfrm>
            <a:off x="6601968" y="2057400"/>
            <a:ext cx="109728" cy="109728"/>
          </a:xfrm>
          <a:prstGeom prst="ellipse">
            <a:avLst/>
          </a:prstGeom>
          <a:solidFill>
            <a:srgbClr val="06D6A0"/>
          </a:solidFill>
          <a:ln w="12700">
            <a:solidFill>
              <a:srgbClr val="06D6A0"/>
            </a:solidFill>
            <a:prstDash val="solid"/>
          </a:ln>
        </p:spPr>
        <p:txBody>
          <a:bodyPr/>
          <a:lstStyle/>
          <a:p>
            <a:endParaRPr lang="en-US"/>
          </a:p>
        </p:txBody>
      </p:sp>
      <p:sp>
        <p:nvSpPr>
          <p:cNvPr id="19" name="Text 17"/>
          <p:cNvSpPr/>
          <p:nvPr/>
        </p:nvSpPr>
        <p:spPr>
          <a:xfrm>
            <a:off x="6812280" y="2029968"/>
            <a:ext cx="1828800" cy="320040"/>
          </a:xfrm>
          <a:prstGeom prst="rect">
            <a:avLst/>
          </a:prstGeom>
          <a:noFill/>
          <a:ln/>
        </p:spPr>
        <p:txBody>
          <a:bodyPr wrap="square" lIns="0" tIns="0" rIns="0" bIns="0" rtlCol="0" anchor="ctr"/>
          <a:lstStyle/>
          <a:p>
            <a:pPr marL="0" indent="0">
              <a:buNone/>
            </a:pPr>
            <a:r>
              <a:rPr lang="en-US" sz="1000" dirty="0">
                <a:solidFill>
                  <a:srgbClr val="E8F4FD"/>
                </a:solidFill>
                <a:latin typeface="Calibri" pitchFamily="34" charset="0"/>
                <a:ea typeface="Calibri" pitchFamily="34" charset="-122"/>
                <a:cs typeface="Calibri" pitchFamily="34" charset="-120"/>
              </a:rPr>
              <a:t>Nhóm biển suy luận</a:t>
            </a:r>
            <a:endParaRPr lang="en-US" sz="1000" dirty="0"/>
          </a:p>
        </p:txBody>
      </p:sp>
      <p:sp>
        <p:nvSpPr>
          <p:cNvPr id="20" name="Shape 18"/>
          <p:cNvSpPr/>
          <p:nvPr/>
        </p:nvSpPr>
        <p:spPr>
          <a:xfrm>
            <a:off x="6601968" y="2423160"/>
            <a:ext cx="109728" cy="109728"/>
          </a:xfrm>
          <a:prstGeom prst="ellipse">
            <a:avLst/>
          </a:prstGeom>
          <a:solidFill>
            <a:srgbClr val="06D6A0"/>
          </a:solidFill>
          <a:ln w="12700">
            <a:solidFill>
              <a:srgbClr val="06D6A0"/>
            </a:solidFill>
            <a:prstDash val="solid"/>
          </a:ln>
        </p:spPr>
        <p:txBody>
          <a:bodyPr/>
          <a:lstStyle/>
          <a:p>
            <a:endParaRPr lang="en-US"/>
          </a:p>
        </p:txBody>
      </p:sp>
      <p:sp>
        <p:nvSpPr>
          <p:cNvPr id="21" name="Text 19"/>
          <p:cNvSpPr/>
          <p:nvPr/>
        </p:nvSpPr>
        <p:spPr>
          <a:xfrm>
            <a:off x="6812280" y="2395728"/>
            <a:ext cx="1828800" cy="320040"/>
          </a:xfrm>
          <a:prstGeom prst="rect">
            <a:avLst/>
          </a:prstGeom>
          <a:noFill/>
          <a:ln/>
        </p:spPr>
        <p:txBody>
          <a:bodyPr wrap="square" lIns="0" tIns="0" rIns="0" bIns="0" rtlCol="0" anchor="ctr"/>
          <a:lstStyle/>
          <a:p>
            <a:pPr marL="0" indent="0">
              <a:buNone/>
            </a:pPr>
            <a:r>
              <a:rPr lang="en-US" sz="1000" dirty="0">
                <a:solidFill>
                  <a:srgbClr val="E8F4FD"/>
                </a:solidFill>
                <a:latin typeface="Calibri" pitchFamily="34" charset="0"/>
                <a:ea typeface="Calibri" pitchFamily="34" charset="-122"/>
                <a:cs typeface="Calibri" pitchFamily="34" charset="-120"/>
              </a:rPr>
              <a:t>Giải thích ngắn</a:t>
            </a:r>
            <a:endParaRPr lang="en-US" sz="1000" dirty="0"/>
          </a:p>
        </p:txBody>
      </p:sp>
      <p:sp>
        <p:nvSpPr>
          <p:cNvPr id="22" name="Shape 20"/>
          <p:cNvSpPr/>
          <p:nvPr/>
        </p:nvSpPr>
        <p:spPr>
          <a:xfrm>
            <a:off x="6601968" y="2788920"/>
            <a:ext cx="109728" cy="109728"/>
          </a:xfrm>
          <a:prstGeom prst="ellipse">
            <a:avLst/>
          </a:prstGeom>
          <a:solidFill>
            <a:srgbClr val="06D6A0"/>
          </a:solidFill>
          <a:ln w="12700">
            <a:solidFill>
              <a:srgbClr val="06D6A0"/>
            </a:solidFill>
            <a:prstDash val="solid"/>
          </a:ln>
        </p:spPr>
        <p:txBody>
          <a:bodyPr/>
          <a:lstStyle/>
          <a:p>
            <a:endParaRPr lang="en-US"/>
          </a:p>
        </p:txBody>
      </p:sp>
      <p:sp>
        <p:nvSpPr>
          <p:cNvPr id="23" name="Text 21"/>
          <p:cNvSpPr/>
          <p:nvPr/>
        </p:nvSpPr>
        <p:spPr>
          <a:xfrm>
            <a:off x="6812280" y="2761488"/>
            <a:ext cx="1828800" cy="320040"/>
          </a:xfrm>
          <a:prstGeom prst="rect">
            <a:avLst/>
          </a:prstGeom>
          <a:noFill/>
          <a:ln/>
        </p:spPr>
        <p:txBody>
          <a:bodyPr wrap="square" lIns="0" tIns="0" rIns="0" bIns="0" rtlCol="0" anchor="ctr"/>
          <a:lstStyle/>
          <a:p>
            <a:pPr marL="0" indent="0">
              <a:buNone/>
            </a:pPr>
            <a:r>
              <a:rPr lang="en-US" sz="1000" dirty="0">
                <a:solidFill>
                  <a:srgbClr val="E8F4FD"/>
                </a:solidFill>
                <a:latin typeface="Calibri" pitchFamily="34" charset="0"/>
                <a:ea typeface="Calibri" pitchFamily="34" charset="-122"/>
                <a:cs typeface="Calibri" pitchFamily="34" charset="-120"/>
              </a:rPr>
              <a:t>Khuyến nghị</a:t>
            </a:r>
            <a:endParaRPr lang="en-US" sz="1000" dirty="0"/>
          </a:p>
        </p:txBody>
      </p:sp>
      <p:sp>
        <p:nvSpPr>
          <p:cNvPr id="24" name="Shape 22"/>
          <p:cNvSpPr/>
          <p:nvPr/>
        </p:nvSpPr>
        <p:spPr>
          <a:xfrm>
            <a:off x="6601968" y="3154680"/>
            <a:ext cx="109728" cy="109728"/>
          </a:xfrm>
          <a:prstGeom prst="ellipse">
            <a:avLst/>
          </a:prstGeom>
          <a:solidFill>
            <a:srgbClr val="06D6A0"/>
          </a:solidFill>
          <a:ln w="12700">
            <a:solidFill>
              <a:srgbClr val="06D6A0"/>
            </a:solidFill>
            <a:prstDash val="solid"/>
          </a:ln>
        </p:spPr>
        <p:txBody>
          <a:bodyPr/>
          <a:lstStyle/>
          <a:p>
            <a:endParaRPr lang="en-US"/>
          </a:p>
        </p:txBody>
      </p:sp>
      <p:sp>
        <p:nvSpPr>
          <p:cNvPr id="25" name="Text 23"/>
          <p:cNvSpPr/>
          <p:nvPr/>
        </p:nvSpPr>
        <p:spPr>
          <a:xfrm>
            <a:off x="6812280" y="3127248"/>
            <a:ext cx="1828800" cy="320040"/>
          </a:xfrm>
          <a:prstGeom prst="rect">
            <a:avLst/>
          </a:prstGeom>
          <a:noFill/>
          <a:ln/>
        </p:spPr>
        <p:txBody>
          <a:bodyPr wrap="square" lIns="0" tIns="0" rIns="0" bIns="0" rtlCol="0" anchor="ctr"/>
          <a:lstStyle/>
          <a:p>
            <a:pPr marL="0" indent="0">
              <a:buNone/>
            </a:pPr>
            <a:r>
              <a:rPr lang="en-US" sz="1000" dirty="0">
                <a:solidFill>
                  <a:srgbClr val="E8F4FD"/>
                </a:solidFill>
                <a:latin typeface="Calibri" pitchFamily="34" charset="0"/>
                <a:ea typeface="Calibri" pitchFamily="34" charset="-122"/>
                <a:cs typeface="Calibri" pitchFamily="34" charset="-120"/>
              </a:rPr>
              <a:t>Confidence</a:t>
            </a:r>
            <a:endParaRPr lang="en-US" sz="1000" dirty="0"/>
          </a:p>
        </p:txBody>
      </p:sp>
      <p:sp>
        <p:nvSpPr>
          <p:cNvPr id="26" name="Shape 24"/>
          <p:cNvSpPr/>
          <p:nvPr/>
        </p:nvSpPr>
        <p:spPr>
          <a:xfrm>
            <a:off x="274320" y="3703320"/>
            <a:ext cx="8595360" cy="1097280"/>
          </a:xfrm>
          <a:prstGeom prst="rect">
            <a:avLst/>
          </a:prstGeom>
          <a:solidFill>
            <a:srgbClr val="091826"/>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27" name="Text 25"/>
          <p:cNvSpPr/>
          <p:nvPr/>
        </p:nvSpPr>
        <p:spPr>
          <a:xfrm>
            <a:off x="457200" y="3767328"/>
            <a:ext cx="3657600" cy="320040"/>
          </a:xfrm>
          <a:prstGeom prst="rect">
            <a:avLst/>
          </a:prstGeom>
          <a:noFill/>
          <a:ln/>
        </p:spPr>
        <p:txBody>
          <a:bodyPr wrap="square" lIns="0" tIns="0" rIns="0" bIns="0" rtlCol="0" anchor="ctr"/>
          <a:lstStyle/>
          <a:p>
            <a:pPr marL="0" indent="0">
              <a:buNone/>
            </a:pPr>
            <a:r>
              <a:rPr lang="en-US" sz="1200" b="1" dirty="0">
                <a:solidFill>
                  <a:srgbClr val="FFB703"/>
                </a:solidFill>
                <a:latin typeface="Calibri" pitchFamily="34" charset="0"/>
                <a:ea typeface="Calibri" pitchFamily="34" charset="-122"/>
                <a:cs typeface="Calibri" pitchFamily="34" charset="-120"/>
              </a:rPr>
              <a:t>💡  Giá trị gia tăng</a:t>
            </a:r>
            <a:endParaRPr lang="en-US" sz="1200" dirty="0"/>
          </a:p>
        </p:txBody>
      </p:sp>
      <p:sp>
        <p:nvSpPr>
          <p:cNvPr id="28" name="Text 26"/>
          <p:cNvSpPr/>
          <p:nvPr/>
        </p:nvSpPr>
        <p:spPr>
          <a:xfrm>
            <a:off x="457200" y="4114800"/>
            <a:ext cx="8229600" cy="594360"/>
          </a:xfrm>
          <a:prstGeom prst="rect">
            <a:avLst/>
          </a:prstGeom>
          <a:noFill/>
          <a:ln/>
        </p:spPr>
        <p:txBody>
          <a:bodyPr wrap="square" lIns="0" tIns="0" rIns="0" bIns="0" rtlCol="0" anchor="ctr"/>
          <a:lstStyle/>
          <a:p>
            <a:pPr marL="0" indent="0">
              <a:buNone/>
            </a:pPr>
            <a:r>
              <a:rPr lang="en-US" sz="1100" dirty="0">
                <a:solidFill>
                  <a:srgbClr val="E8F4FD"/>
                </a:solidFill>
                <a:latin typeface="Calibri" pitchFamily="34" charset="0"/>
                <a:ea typeface="Calibri" pitchFamily="34" charset="-122"/>
                <a:cs typeface="Calibri" pitchFamily="34" charset="-120"/>
              </a:rPr>
              <a:t>Không chỉ trả lời biển báo là gì — mà còn giúp người dùng hiểu ý nghĩa và biết mình cần làm gì tiếp theo khi đối mặt với biển báo đó.</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411480" y="694944"/>
            <a:ext cx="8321040" cy="22860"/>
          </a:xfrm>
          <a:prstGeom prst="rect">
            <a:avLst/>
          </a:prstGeom>
          <a:solidFill>
            <a:srgbClr val="00B4D8"/>
          </a:solidFill>
          <a:ln w="12700">
            <a:solidFill>
              <a:srgbClr val="00B4D8"/>
            </a:solidFill>
            <a:prstDash val="solid"/>
          </a:ln>
        </p:spPr>
        <p:txBody>
          <a:bodyPr/>
          <a:lstStyle/>
          <a:p>
            <a:endParaRPr lang="en-US"/>
          </a:p>
        </p:txBody>
      </p:sp>
      <p:sp>
        <p:nvSpPr>
          <p:cNvPr id="3" name="Text 1"/>
          <p:cNvSpPr/>
          <p:nvPr/>
        </p:nvSpPr>
        <p:spPr>
          <a:xfrm>
            <a:off x="411480" y="256032"/>
            <a:ext cx="8321040" cy="502920"/>
          </a:xfrm>
          <a:prstGeom prst="rect">
            <a:avLst/>
          </a:prstGeom>
          <a:noFill/>
          <a:ln/>
        </p:spPr>
        <p:txBody>
          <a:bodyPr wrap="square" lIns="0" tIns="0" rIns="0" bIns="0" rtlCol="0" anchor="ctr"/>
          <a:lstStyle/>
          <a:p>
            <a:pPr marL="0" indent="0">
              <a:buNone/>
            </a:pPr>
            <a:r>
              <a:rPr lang="en-US" sz="2600" b="1" dirty="0">
                <a:solidFill>
                  <a:srgbClr val="00B4D8"/>
                </a:solidFill>
                <a:latin typeface="Calibri" pitchFamily="34" charset="0"/>
                <a:ea typeface="Calibri" pitchFamily="34" charset="-122"/>
                <a:cs typeface="Calibri" pitchFamily="34" charset="-120"/>
              </a:rPr>
              <a:t>12. Hạn Chế</a:t>
            </a:r>
            <a:endParaRPr lang="en-US" sz="2600" dirty="0"/>
          </a:p>
        </p:txBody>
      </p:sp>
      <p:sp>
        <p:nvSpPr>
          <p:cNvPr id="4" name="Text 2"/>
          <p:cNvSpPr/>
          <p:nvPr/>
        </p:nvSpPr>
        <p:spPr>
          <a:xfrm>
            <a:off x="8046720" y="4846320"/>
            <a:ext cx="822960" cy="182880"/>
          </a:xfrm>
          <a:prstGeom prst="rect">
            <a:avLst/>
          </a:prstGeom>
          <a:noFill/>
          <a:ln/>
        </p:spPr>
        <p:txBody>
          <a:bodyPr wrap="square" lIns="0" tIns="0" rIns="0" bIns="0" rtlCol="0" anchor="ctr"/>
          <a:lstStyle/>
          <a:p>
            <a:pPr marL="0" indent="0" algn="r">
              <a:buNone/>
            </a:pPr>
            <a:r>
              <a:rPr lang="en-US" sz="900" dirty="0">
                <a:solidFill>
                  <a:srgbClr val="8DA0B3"/>
                </a:solidFill>
                <a:latin typeface="Calibri" pitchFamily="34" charset="0"/>
                <a:ea typeface="Calibri" pitchFamily="34" charset="-122"/>
                <a:cs typeface="Calibri" pitchFamily="34" charset="-120"/>
              </a:rPr>
              <a:t>12 / 15</a:t>
            </a:r>
            <a:endParaRPr lang="en-US" sz="900" dirty="0"/>
          </a:p>
        </p:txBody>
      </p:sp>
      <p:sp>
        <p:nvSpPr>
          <p:cNvPr id="5" name="Shape 3"/>
          <p:cNvSpPr/>
          <p:nvPr/>
        </p:nvSpPr>
        <p:spPr>
          <a:xfrm>
            <a:off x="411480" y="1005840"/>
            <a:ext cx="4114800" cy="1691640"/>
          </a:xfrm>
          <a:prstGeom prst="rect">
            <a:avLst/>
          </a:prstGeom>
          <a:solidFill>
            <a:srgbClr val="132437"/>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6" name="Shape 4"/>
          <p:cNvSpPr/>
          <p:nvPr/>
        </p:nvSpPr>
        <p:spPr>
          <a:xfrm>
            <a:off x="411480" y="1005840"/>
            <a:ext cx="548640" cy="1691640"/>
          </a:xfrm>
          <a:prstGeom prst="rect">
            <a:avLst/>
          </a:prstGeom>
          <a:solidFill>
            <a:srgbClr val="EF476F">
              <a:alpha val="60000"/>
            </a:srgbClr>
          </a:solidFill>
          <a:ln w="12700">
            <a:solidFill>
              <a:srgbClr val="EF476F">
                <a:alpha val="60000"/>
              </a:srgbClr>
            </a:solidFill>
            <a:prstDash val="solid"/>
          </a:ln>
        </p:spPr>
        <p:txBody>
          <a:bodyPr/>
          <a:lstStyle/>
          <a:p>
            <a:endParaRPr lang="en-US"/>
          </a:p>
        </p:txBody>
      </p:sp>
      <p:sp>
        <p:nvSpPr>
          <p:cNvPr id="7" name="Text 5"/>
          <p:cNvSpPr/>
          <p:nvPr/>
        </p:nvSpPr>
        <p:spPr>
          <a:xfrm>
            <a:off x="429768" y="1508760"/>
            <a:ext cx="512064" cy="54864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8" name="Text 6"/>
          <p:cNvSpPr/>
          <p:nvPr/>
        </p:nvSpPr>
        <p:spPr>
          <a:xfrm>
            <a:off x="1097280" y="1115568"/>
            <a:ext cx="329184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Dataset nhỏ</a:t>
            </a:r>
            <a:endParaRPr lang="en-US" sz="1300" dirty="0"/>
          </a:p>
        </p:txBody>
      </p:sp>
      <p:sp>
        <p:nvSpPr>
          <p:cNvPr id="9" name="Text 7"/>
          <p:cNvSpPr/>
          <p:nvPr/>
        </p:nvSpPr>
        <p:spPr>
          <a:xfrm>
            <a:off x="1097280" y="1508760"/>
            <a:ext cx="3291840" cy="1005840"/>
          </a:xfrm>
          <a:prstGeom prst="rect">
            <a:avLst/>
          </a:prstGeom>
          <a:noFill/>
          <a:ln/>
        </p:spPr>
        <p:txBody>
          <a:bodyPr wrap="square" lIns="0" tIns="0" rIns="0" bIns="0" rtlCol="0" anchor="ctr"/>
          <a:lstStyle/>
          <a:p>
            <a:pPr marL="0" indent="0">
              <a:buNone/>
            </a:pPr>
            <a:r>
              <a:rPr lang="en-US" sz="1100" dirty="0">
                <a:solidFill>
                  <a:srgbClr val="E8F4FD"/>
                </a:solidFill>
                <a:latin typeface="Calibri" pitchFamily="34" charset="0"/>
                <a:ea typeface="Calibri" pitchFamily="34" charset="-122"/>
                <a:cs typeface="Calibri" pitchFamily="34" charset="-120"/>
              </a:rPr>
              <a:t>258 ảnh / 2,580 QA còn nhỏ so với bài toán VQA thực tế (VQAv2: ~1.1M câu hỏi).</a:t>
            </a:r>
            <a:endParaRPr lang="en-US" sz="1100" dirty="0"/>
          </a:p>
        </p:txBody>
      </p:sp>
      <p:sp>
        <p:nvSpPr>
          <p:cNvPr id="10" name="Shape 8"/>
          <p:cNvSpPr/>
          <p:nvPr/>
        </p:nvSpPr>
        <p:spPr>
          <a:xfrm>
            <a:off x="4800600" y="1005840"/>
            <a:ext cx="4114800" cy="1691640"/>
          </a:xfrm>
          <a:prstGeom prst="rect">
            <a:avLst/>
          </a:prstGeom>
          <a:solidFill>
            <a:srgbClr val="132437"/>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11" name="Shape 9"/>
          <p:cNvSpPr/>
          <p:nvPr/>
        </p:nvSpPr>
        <p:spPr>
          <a:xfrm>
            <a:off x="4800600" y="1005840"/>
            <a:ext cx="548640" cy="1691640"/>
          </a:xfrm>
          <a:prstGeom prst="rect">
            <a:avLst/>
          </a:prstGeom>
          <a:solidFill>
            <a:srgbClr val="EF476F">
              <a:alpha val="60000"/>
            </a:srgbClr>
          </a:solidFill>
          <a:ln w="12700">
            <a:solidFill>
              <a:srgbClr val="EF476F">
                <a:alpha val="60000"/>
              </a:srgbClr>
            </a:solidFill>
            <a:prstDash val="solid"/>
          </a:ln>
        </p:spPr>
        <p:txBody>
          <a:bodyPr/>
          <a:lstStyle/>
          <a:p>
            <a:endParaRPr lang="en-US"/>
          </a:p>
        </p:txBody>
      </p:sp>
      <p:sp>
        <p:nvSpPr>
          <p:cNvPr id="12" name="Text 10"/>
          <p:cNvSpPr/>
          <p:nvPr/>
        </p:nvSpPr>
        <p:spPr>
          <a:xfrm>
            <a:off x="4818888" y="1508760"/>
            <a:ext cx="512064" cy="54864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3" name="Text 11"/>
          <p:cNvSpPr/>
          <p:nvPr/>
        </p:nvSpPr>
        <p:spPr>
          <a:xfrm>
            <a:off x="5486400" y="1115568"/>
            <a:ext cx="329184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Câu hỏi ý nghĩa khó</a:t>
            </a:r>
            <a:endParaRPr lang="en-US" sz="1300" dirty="0"/>
          </a:p>
        </p:txBody>
      </p:sp>
      <p:sp>
        <p:nvSpPr>
          <p:cNvPr id="14" name="Text 12"/>
          <p:cNvSpPr/>
          <p:nvPr/>
        </p:nvSpPr>
        <p:spPr>
          <a:xfrm>
            <a:off x="5486400" y="1508760"/>
            <a:ext cx="3291840" cy="1005840"/>
          </a:xfrm>
          <a:prstGeom prst="rect">
            <a:avLst/>
          </a:prstGeom>
          <a:noFill/>
          <a:ln/>
        </p:spPr>
        <p:txBody>
          <a:bodyPr wrap="square" lIns="0" tIns="0" rIns="0" bIns="0" rtlCol="0" anchor="ctr"/>
          <a:lstStyle/>
          <a:p>
            <a:pPr marL="0" indent="0">
              <a:buNone/>
            </a:pPr>
            <a:r>
              <a:rPr lang="en-US" sz="1100" dirty="0">
                <a:solidFill>
                  <a:srgbClr val="E8F4FD"/>
                </a:solidFill>
                <a:latin typeface="Calibri" pitchFamily="34" charset="0"/>
                <a:ea typeface="Calibri" pitchFamily="34" charset="-122"/>
                <a:cs typeface="Calibri" pitchFamily="34" charset="-120"/>
              </a:rPr>
              <a:t>Câu hỏi "ý nghĩa biển báo" yêu cầu hiểu sâu hơn câu hỏi màu sắc, hình dạng, số lượng.</a:t>
            </a:r>
            <a:endParaRPr lang="en-US" sz="1100" dirty="0"/>
          </a:p>
        </p:txBody>
      </p:sp>
      <p:sp>
        <p:nvSpPr>
          <p:cNvPr id="15" name="Shape 13"/>
          <p:cNvSpPr/>
          <p:nvPr/>
        </p:nvSpPr>
        <p:spPr>
          <a:xfrm>
            <a:off x="411480" y="2926080"/>
            <a:ext cx="4114800" cy="1691640"/>
          </a:xfrm>
          <a:prstGeom prst="rect">
            <a:avLst/>
          </a:prstGeom>
          <a:solidFill>
            <a:srgbClr val="132437"/>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16" name="Shape 14"/>
          <p:cNvSpPr/>
          <p:nvPr/>
        </p:nvSpPr>
        <p:spPr>
          <a:xfrm>
            <a:off x="411480" y="2926080"/>
            <a:ext cx="548640" cy="1691640"/>
          </a:xfrm>
          <a:prstGeom prst="rect">
            <a:avLst/>
          </a:prstGeom>
          <a:solidFill>
            <a:srgbClr val="EF476F">
              <a:alpha val="60000"/>
            </a:srgbClr>
          </a:solidFill>
          <a:ln w="12700">
            <a:solidFill>
              <a:srgbClr val="EF476F">
                <a:alpha val="60000"/>
              </a:srgbClr>
            </a:solidFill>
            <a:prstDash val="solid"/>
          </a:ln>
        </p:spPr>
        <p:txBody>
          <a:bodyPr/>
          <a:lstStyle/>
          <a:p>
            <a:endParaRPr lang="en-US"/>
          </a:p>
        </p:txBody>
      </p:sp>
      <p:sp>
        <p:nvSpPr>
          <p:cNvPr id="17" name="Text 15"/>
          <p:cNvSpPr/>
          <p:nvPr/>
        </p:nvSpPr>
        <p:spPr>
          <a:xfrm>
            <a:off x="429768" y="3429000"/>
            <a:ext cx="512064" cy="54864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8" name="Text 16"/>
          <p:cNvSpPr/>
          <p:nvPr/>
        </p:nvSpPr>
        <p:spPr>
          <a:xfrm>
            <a:off x="1097280" y="3035808"/>
            <a:ext cx="329184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Yêu cầu GPU mạnh</a:t>
            </a:r>
            <a:endParaRPr lang="en-US" sz="1300" dirty="0"/>
          </a:p>
        </p:txBody>
      </p:sp>
      <p:sp>
        <p:nvSpPr>
          <p:cNvPr id="19" name="Text 17"/>
          <p:cNvSpPr/>
          <p:nvPr/>
        </p:nvSpPr>
        <p:spPr>
          <a:xfrm>
            <a:off x="1097280" y="3429000"/>
            <a:ext cx="3291840" cy="1005840"/>
          </a:xfrm>
          <a:prstGeom prst="rect">
            <a:avLst/>
          </a:prstGeom>
          <a:noFill/>
          <a:ln/>
        </p:spPr>
        <p:txBody>
          <a:bodyPr wrap="square" lIns="0" tIns="0" rIns="0" bIns="0" rtlCol="0" anchor="ctr"/>
          <a:lstStyle/>
          <a:p>
            <a:pPr marL="0" indent="0">
              <a:buNone/>
            </a:pPr>
            <a:r>
              <a:rPr lang="en-US" sz="1100" dirty="0">
                <a:solidFill>
                  <a:srgbClr val="E8F4FD"/>
                </a:solidFill>
                <a:latin typeface="Calibri" pitchFamily="34" charset="0"/>
                <a:ea typeface="Calibri" pitchFamily="34" charset="-122"/>
                <a:cs typeface="Calibri" pitchFamily="34" charset="-120"/>
              </a:rPr>
              <a:t>B1/B2 realtime cần GPU mạnh. GTX 1650 local không ổn định khi chạy Qwen2-VL.</a:t>
            </a:r>
            <a:endParaRPr lang="en-US" sz="1100" dirty="0"/>
          </a:p>
        </p:txBody>
      </p:sp>
      <p:sp>
        <p:nvSpPr>
          <p:cNvPr id="20" name="Shape 18"/>
          <p:cNvSpPr/>
          <p:nvPr/>
        </p:nvSpPr>
        <p:spPr>
          <a:xfrm>
            <a:off x="4800600" y="2926080"/>
            <a:ext cx="4114800" cy="1691640"/>
          </a:xfrm>
          <a:prstGeom prst="rect">
            <a:avLst/>
          </a:prstGeom>
          <a:solidFill>
            <a:srgbClr val="132437"/>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21" name="Shape 19"/>
          <p:cNvSpPr/>
          <p:nvPr/>
        </p:nvSpPr>
        <p:spPr>
          <a:xfrm>
            <a:off x="4800600" y="2926080"/>
            <a:ext cx="548640" cy="1691640"/>
          </a:xfrm>
          <a:prstGeom prst="rect">
            <a:avLst/>
          </a:prstGeom>
          <a:solidFill>
            <a:srgbClr val="EF476F">
              <a:alpha val="60000"/>
            </a:srgbClr>
          </a:solidFill>
          <a:ln w="12700">
            <a:solidFill>
              <a:srgbClr val="EF476F">
                <a:alpha val="60000"/>
              </a:srgbClr>
            </a:solidFill>
            <a:prstDash val="solid"/>
          </a:ln>
        </p:spPr>
        <p:txBody>
          <a:bodyPr/>
          <a:lstStyle/>
          <a:p>
            <a:endParaRPr lang="en-US"/>
          </a:p>
        </p:txBody>
      </p:sp>
      <p:sp>
        <p:nvSpPr>
          <p:cNvPr id="22" name="Text 20"/>
          <p:cNvSpPr/>
          <p:nvPr/>
        </p:nvSpPr>
        <p:spPr>
          <a:xfrm>
            <a:off x="4818888" y="3429000"/>
            <a:ext cx="512064" cy="548640"/>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3" name="Text 21"/>
          <p:cNvSpPr/>
          <p:nvPr/>
        </p:nvSpPr>
        <p:spPr>
          <a:xfrm>
            <a:off x="5486400" y="3035808"/>
            <a:ext cx="329184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Exact Match nghiêm ngặt</a:t>
            </a:r>
            <a:endParaRPr lang="en-US" sz="1300" dirty="0"/>
          </a:p>
        </p:txBody>
      </p:sp>
      <p:sp>
        <p:nvSpPr>
          <p:cNvPr id="24" name="Text 22"/>
          <p:cNvSpPr/>
          <p:nvPr/>
        </p:nvSpPr>
        <p:spPr>
          <a:xfrm>
            <a:off x="5486400" y="3429000"/>
            <a:ext cx="3291840" cy="1005840"/>
          </a:xfrm>
          <a:prstGeom prst="rect">
            <a:avLst/>
          </a:prstGeom>
          <a:noFill/>
          <a:ln/>
        </p:spPr>
        <p:txBody>
          <a:bodyPr wrap="square" lIns="0" tIns="0" rIns="0" bIns="0" rtlCol="0" anchor="ctr"/>
          <a:lstStyle/>
          <a:p>
            <a:pPr marL="0" indent="0">
              <a:buNone/>
            </a:pPr>
            <a:r>
              <a:rPr lang="en-US" sz="1100" dirty="0">
                <a:solidFill>
                  <a:srgbClr val="E8F4FD"/>
                </a:solidFill>
                <a:latin typeface="Calibri" pitchFamily="34" charset="0"/>
                <a:ea typeface="Calibri" pitchFamily="34" charset="-122"/>
                <a:cs typeface="Calibri" pitchFamily="34" charset="-120"/>
              </a:rPr>
              <a:t>Đánh thấp câu trả lời đúng nghĩa nhưng khác từ. Cần metric ngữ nghĩa như BERTScore.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411480" y="694944"/>
            <a:ext cx="8321040" cy="22860"/>
          </a:xfrm>
          <a:prstGeom prst="rect">
            <a:avLst/>
          </a:prstGeom>
          <a:solidFill>
            <a:srgbClr val="00B4D8"/>
          </a:solidFill>
          <a:ln w="12700">
            <a:solidFill>
              <a:srgbClr val="00B4D8"/>
            </a:solidFill>
            <a:prstDash val="solid"/>
          </a:ln>
        </p:spPr>
        <p:txBody>
          <a:bodyPr/>
          <a:lstStyle/>
          <a:p>
            <a:endParaRPr lang="en-US"/>
          </a:p>
        </p:txBody>
      </p:sp>
      <p:sp>
        <p:nvSpPr>
          <p:cNvPr id="3" name="Text 1"/>
          <p:cNvSpPr/>
          <p:nvPr/>
        </p:nvSpPr>
        <p:spPr>
          <a:xfrm>
            <a:off x="411480" y="256032"/>
            <a:ext cx="8321040" cy="502920"/>
          </a:xfrm>
          <a:prstGeom prst="rect">
            <a:avLst/>
          </a:prstGeom>
          <a:noFill/>
          <a:ln/>
        </p:spPr>
        <p:txBody>
          <a:bodyPr wrap="square" lIns="0" tIns="0" rIns="0" bIns="0" rtlCol="0" anchor="ctr"/>
          <a:lstStyle/>
          <a:p>
            <a:pPr marL="0" indent="0">
              <a:buNone/>
            </a:pPr>
            <a:r>
              <a:rPr lang="en-US" sz="2600" b="1" dirty="0">
                <a:solidFill>
                  <a:srgbClr val="00B4D8"/>
                </a:solidFill>
                <a:latin typeface="Calibri" pitchFamily="34" charset="0"/>
                <a:ea typeface="Calibri" pitchFamily="34" charset="-122"/>
                <a:cs typeface="Calibri" pitchFamily="34" charset="-120"/>
              </a:rPr>
              <a:t>13. Hướng Phát Triển</a:t>
            </a:r>
            <a:endParaRPr lang="en-US" sz="2600" dirty="0"/>
          </a:p>
        </p:txBody>
      </p:sp>
      <p:sp>
        <p:nvSpPr>
          <p:cNvPr id="4" name="Text 2"/>
          <p:cNvSpPr/>
          <p:nvPr/>
        </p:nvSpPr>
        <p:spPr>
          <a:xfrm>
            <a:off x="8046720" y="4846320"/>
            <a:ext cx="822960" cy="182880"/>
          </a:xfrm>
          <a:prstGeom prst="rect">
            <a:avLst/>
          </a:prstGeom>
          <a:noFill/>
          <a:ln/>
        </p:spPr>
        <p:txBody>
          <a:bodyPr wrap="square" lIns="0" tIns="0" rIns="0" bIns="0" rtlCol="0" anchor="ctr"/>
          <a:lstStyle/>
          <a:p>
            <a:pPr marL="0" indent="0" algn="r">
              <a:buNone/>
            </a:pPr>
            <a:r>
              <a:rPr lang="en-US" sz="900" dirty="0">
                <a:solidFill>
                  <a:srgbClr val="8DA0B3"/>
                </a:solidFill>
                <a:latin typeface="Calibri" pitchFamily="34" charset="0"/>
                <a:ea typeface="Calibri" pitchFamily="34" charset="-122"/>
                <a:cs typeface="Calibri" pitchFamily="34" charset="-120"/>
              </a:rPr>
              <a:t>13 / 15</a:t>
            </a:r>
            <a:endParaRPr lang="en-US" sz="900" dirty="0"/>
          </a:p>
        </p:txBody>
      </p:sp>
      <p:sp>
        <p:nvSpPr>
          <p:cNvPr id="5" name="Shape 3"/>
          <p:cNvSpPr/>
          <p:nvPr/>
        </p:nvSpPr>
        <p:spPr>
          <a:xfrm>
            <a:off x="411480" y="960120"/>
            <a:ext cx="8321040" cy="685800"/>
          </a:xfrm>
          <a:prstGeom prst="rect">
            <a:avLst/>
          </a:prstGeom>
          <a:solidFill>
            <a:srgbClr val="132437"/>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6" name="Shape 4"/>
          <p:cNvSpPr/>
          <p:nvPr/>
        </p:nvSpPr>
        <p:spPr>
          <a:xfrm>
            <a:off x="411480" y="960120"/>
            <a:ext cx="640080" cy="685800"/>
          </a:xfrm>
          <a:prstGeom prst="rect">
            <a:avLst/>
          </a:prstGeom>
          <a:solidFill>
            <a:srgbClr val="00B4D8"/>
          </a:solidFill>
          <a:ln w="12700">
            <a:solidFill>
              <a:srgbClr val="00B4D8"/>
            </a:solidFill>
            <a:prstDash val="solid"/>
          </a:ln>
        </p:spPr>
        <p:txBody>
          <a:bodyPr/>
          <a:lstStyle/>
          <a:p>
            <a:endParaRPr lang="en-US"/>
          </a:p>
        </p:txBody>
      </p:sp>
      <p:sp>
        <p:nvSpPr>
          <p:cNvPr id="7" name="Text 5"/>
          <p:cNvSpPr/>
          <p:nvPr/>
        </p:nvSpPr>
        <p:spPr>
          <a:xfrm>
            <a:off x="411480" y="960120"/>
            <a:ext cx="640080" cy="6858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8" name="Text 6"/>
          <p:cNvSpPr/>
          <p:nvPr/>
        </p:nvSpPr>
        <p:spPr>
          <a:xfrm>
            <a:off x="1188720" y="1005840"/>
            <a:ext cx="7406640" cy="56692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Mở rộng dataset với nhiều loại biển báo và điều kiện thực tế hơn.</a:t>
            </a:r>
            <a:endParaRPr lang="en-US" sz="1200" dirty="0"/>
          </a:p>
        </p:txBody>
      </p:sp>
      <p:sp>
        <p:nvSpPr>
          <p:cNvPr id="9" name="Shape 7"/>
          <p:cNvSpPr/>
          <p:nvPr/>
        </p:nvSpPr>
        <p:spPr>
          <a:xfrm>
            <a:off x="411480" y="1764792"/>
            <a:ext cx="8321040" cy="685800"/>
          </a:xfrm>
          <a:prstGeom prst="rect">
            <a:avLst/>
          </a:prstGeom>
          <a:solidFill>
            <a:srgbClr val="132437"/>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10" name="Shape 8"/>
          <p:cNvSpPr/>
          <p:nvPr/>
        </p:nvSpPr>
        <p:spPr>
          <a:xfrm>
            <a:off x="411480" y="1764792"/>
            <a:ext cx="640080" cy="685800"/>
          </a:xfrm>
          <a:prstGeom prst="rect">
            <a:avLst/>
          </a:prstGeom>
          <a:solidFill>
            <a:srgbClr val="06D6A0"/>
          </a:solidFill>
          <a:ln w="12700">
            <a:solidFill>
              <a:srgbClr val="06D6A0"/>
            </a:solidFill>
            <a:prstDash val="solid"/>
          </a:ln>
        </p:spPr>
        <p:txBody>
          <a:bodyPr/>
          <a:lstStyle/>
          <a:p>
            <a:endParaRPr lang="en-US"/>
          </a:p>
        </p:txBody>
      </p:sp>
      <p:sp>
        <p:nvSpPr>
          <p:cNvPr id="11" name="Text 9"/>
          <p:cNvSpPr/>
          <p:nvPr/>
        </p:nvSpPr>
        <p:spPr>
          <a:xfrm>
            <a:off x="411480" y="1764792"/>
            <a:ext cx="640080" cy="6858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2" name="Text 10"/>
          <p:cNvSpPr/>
          <p:nvPr/>
        </p:nvSpPr>
        <p:spPr>
          <a:xfrm>
            <a:off x="1188720" y="1810512"/>
            <a:ext cx="7406640" cy="56692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Thêm metric ngữ nghĩa như BERTScore, METEOR vào pipeline đánh giá.</a:t>
            </a:r>
            <a:endParaRPr lang="en-US" sz="1200" dirty="0"/>
          </a:p>
        </p:txBody>
      </p:sp>
      <p:sp>
        <p:nvSpPr>
          <p:cNvPr id="13" name="Shape 11"/>
          <p:cNvSpPr/>
          <p:nvPr/>
        </p:nvSpPr>
        <p:spPr>
          <a:xfrm>
            <a:off x="411480" y="2569464"/>
            <a:ext cx="8321040" cy="685800"/>
          </a:xfrm>
          <a:prstGeom prst="rect">
            <a:avLst/>
          </a:prstGeom>
          <a:solidFill>
            <a:srgbClr val="132437"/>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14" name="Shape 12"/>
          <p:cNvSpPr/>
          <p:nvPr/>
        </p:nvSpPr>
        <p:spPr>
          <a:xfrm>
            <a:off x="411480" y="2569464"/>
            <a:ext cx="640080" cy="685800"/>
          </a:xfrm>
          <a:prstGeom prst="rect">
            <a:avLst/>
          </a:prstGeom>
          <a:solidFill>
            <a:srgbClr val="FFB703"/>
          </a:solidFill>
          <a:ln w="12700">
            <a:solidFill>
              <a:srgbClr val="FFB703"/>
            </a:solidFill>
            <a:prstDash val="solid"/>
          </a:ln>
        </p:spPr>
        <p:txBody>
          <a:bodyPr/>
          <a:lstStyle/>
          <a:p>
            <a:endParaRPr lang="en-US"/>
          </a:p>
        </p:txBody>
      </p:sp>
      <p:sp>
        <p:nvSpPr>
          <p:cNvPr id="15" name="Text 13"/>
          <p:cNvSpPr/>
          <p:nvPr/>
        </p:nvSpPr>
        <p:spPr>
          <a:xfrm>
            <a:off x="411480" y="2569464"/>
            <a:ext cx="640080" cy="6858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16" name="Text 14"/>
          <p:cNvSpPr/>
          <p:nvPr/>
        </p:nvSpPr>
        <p:spPr>
          <a:xfrm>
            <a:off x="1188720" y="2615184"/>
            <a:ext cx="7406640" cy="56692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Áp dụng human evaluation hoặc LLM-as-a-judge để đánh giá chất lượng câu trả lời.</a:t>
            </a:r>
            <a:endParaRPr lang="en-US" sz="1200" dirty="0"/>
          </a:p>
        </p:txBody>
      </p:sp>
      <p:sp>
        <p:nvSpPr>
          <p:cNvPr id="17" name="Shape 15"/>
          <p:cNvSpPr/>
          <p:nvPr/>
        </p:nvSpPr>
        <p:spPr>
          <a:xfrm>
            <a:off x="411480" y="3374136"/>
            <a:ext cx="8321040" cy="685800"/>
          </a:xfrm>
          <a:prstGeom prst="rect">
            <a:avLst/>
          </a:prstGeom>
          <a:solidFill>
            <a:srgbClr val="132437"/>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18" name="Shape 16"/>
          <p:cNvSpPr/>
          <p:nvPr/>
        </p:nvSpPr>
        <p:spPr>
          <a:xfrm>
            <a:off x="411480" y="3374136"/>
            <a:ext cx="640080" cy="685800"/>
          </a:xfrm>
          <a:prstGeom prst="rect">
            <a:avLst/>
          </a:prstGeom>
          <a:solidFill>
            <a:srgbClr val="48CAE4"/>
          </a:solidFill>
          <a:ln w="12700">
            <a:solidFill>
              <a:srgbClr val="48CAE4"/>
            </a:solidFill>
            <a:prstDash val="solid"/>
          </a:ln>
        </p:spPr>
        <p:txBody>
          <a:bodyPr/>
          <a:lstStyle/>
          <a:p>
            <a:endParaRPr lang="en-US"/>
          </a:p>
        </p:txBody>
      </p:sp>
      <p:sp>
        <p:nvSpPr>
          <p:cNvPr id="19" name="Text 17"/>
          <p:cNvSpPr/>
          <p:nvPr/>
        </p:nvSpPr>
        <p:spPr>
          <a:xfrm>
            <a:off x="411480" y="3374136"/>
            <a:ext cx="640080" cy="6858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0" name="Text 18"/>
          <p:cNvSpPr/>
          <p:nvPr/>
        </p:nvSpPr>
        <p:spPr>
          <a:xfrm>
            <a:off x="1188720" y="3419856"/>
            <a:ext cx="7406640" cy="56692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Fine-tune lâu hơn hoặc dùng dữ liệu chất lượng cao hơn để cải thiện B2.</a:t>
            </a:r>
            <a:endParaRPr lang="en-US" sz="1200" dirty="0"/>
          </a:p>
        </p:txBody>
      </p:sp>
      <p:sp>
        <p:nvSpPr>
          <p:cNvPr id="21" name="Shape 19"/>
          <p:cNvSpPr/>
          <p:nvPr/>
        </p:nvSpPr>
        <p:spPr>
          <a:xfrm>
            <a:off x="411480" y="4178808"/>
            <a:ext cx="8321040" cy="685800"/>
          </a:xfrm>
          <a:prstGeom prst="rect">
            <a:avLst/>
          </a:prstGeom>
          <a:solidFill>
            <a:srgbClr val="132437"/>
          </a:solidFill>
          <a:ln w="10160">
            <a:solidFill>
              <a:srgbClr val="0077B6"/>
            </a:solidFill>
            <a:prstDash val="solid"/>
          </a:ln>
          <a:effectLst>
            <a:outerShdw blurRad="101600" dist="25400" dir="8100000" algn="bl" rotWithShape="0">
              <a:srgbClr val="000000">
                <a:alpha val="25000"/>
              </a:srgbClr>
            </a:outerShdw>
          </a:effectLst>
        </p:spPr>
        <p:txBody>
          <a:bodyPr/>
          <a:lstStyle/>
          <a:p>
            <a:endParaRPr lang="en-US"/>
          </a:p>
        </p:txBody>
      </p:sp>
      <p:sp>
        <p:nvSpPr>
          <p:cNvPr id="22" name="Shape 20"/>
          <p:cNvSpPr/>
          <p:nvPr/>
        </p:nvSpPr>
        <p:spPr>
          <a:xfrm>
            <a:off x="411480" y="4178808"/>
            <a:ext cx="640080" cy="685800"/>
          </a:xfrm>
          <a:prstGeom prst="rect">
            <a:avLst/>
          </a:prstGeom>
          <a:solidFill>
            <a:srgbClr val="00B4D8"/>
          </a:solidFill>
          <a:ln w="12700">
            <a:solidFill>
              <a:srgbClr val="00B4D8"/>
            </a:solidFill>
            <a:prstDash val="solid"/>
          </a:ln>
        </p:spPr>
        <p:txBody>
          <a:bodyPr/>
          <a:lstStyle/>
          <a:p>
            <a:endParaRPr lang="en-US"/>
          </a:p>
        </p:txBody>
      </p:sp>
      <p:sp>
        <p:nvSpPr>
          <p:cNvPr id="23" name="Text 21"/>
          <p:cNvSpPr/>
          <p:nvPr/>
        </p:nvSpPr>
        <p:spPr>
          <a:xfrm>
            <a:off x="411480" y="4178808"/>
            <a:ext cx="640080" cy="6858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05</a:t>
            </a:r>
            <a:endParaRPr lang="en-US" sz="1400" dirty="0"/>
          </a:p>
        </p:txBody>
      </p:sp>
      <p:sp>
        <p:nvSpPr>
          <p:cNvPr id="24" name="Text 22"/>
          <p:cNvSpPr/>
          <p:nvPr/>
        </p:nvSpPr>
        <p:spPr>
          <a:xfrm>
            <a:off x="1188720" y="4224528"/>
            <a:ext cx="7406640" cy="56692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Nghiên cứu DPO/RLHF với preference data để cải thiện chất lượng sinh câu trả lời.</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411480" y="694944"/>
            <a:ext cx="8321040" cy="22860"/>
          </a:xfrm>
          <a:prstGeom prst="rect">
            <a:avLst/>
          </a:prstGeom>
          <a:solidFill>
            <a:srgbClr val="00B4D8"/>
          </a:solidFill>
          <a:ln w="12700">
            <a:solidFill>
              <a:srgbClr val="00B4D8"/>
            </a:solidFill>
            <a:prstDash val="solid"/>
          </a:ln>
        </p:spPr>
        <p:txBody>
          <a:bodyPr/>
          <a:lstStyle/>
          <a:p>
            <a:endParaRPr lang="en-US"/>
          </a:p>
        </p:txBody>
      </p:sp>
      <p:sp>
        <p:nvSpPr>
          <p:cNvPr id="3" name="Text 1"/>
          <p:cNvSpPr/>
          <p:nvPr/>
        </p:nvSpPr>
        <p:spPr>
          <a:xfrm>
            <a:off x="411480" y="256032"/>
            <a:ext cx="8321040" cy="502920"/>
          </a:xfrm>
          <a:prstGeom prst="rect">
            <a:avLst/>
          </a:prstGeom>
          <a:noFill/>
          <a:ln/>
        </p:spPr>
        <p:txBody>
          <a:bodyPr wrap="square" lIns="0" tIns="0" rIns="0" bIns="0" rtlCol="0" anchor="ctr"/>
          <a:lstStyle/>
          <a:p>
            <a:pPr marL="0" indent="0">
              <a:buNone/>
            </a:pPr>
            <a:r>
              <a:rPr lang="en-US" sz="2600" b="1" dirty="0">
                <a:solidFill>
                  <a:srgbClr val="00B4D8"/>
                </a:solidFill>
                <a:latin typeface="Calibri" pitchFamily="34" charset="0"/>
                <a:ea typeface="Calibri" pitchFamily="34" charset="-122"/>
                <a:cs typeface="Calibri" pitchFamily="34" charset="-120"/>
              </a:rPr>
              <a:t>14. Kết Luận</a:t>
            </a:r>
            <a:endParaRPr lang="en-US" sz="2600" dirty="0"/>
          </a:p>
        </p:txBody>
      </p:sp>
      <p:sp>
        <p:nvSpPr>
          <p:cNvPr id="4" name="Text 2"/>
          <p:cNvSpPr/>
          <p:nvPr/>
        </p:nvSpPr>
        <p:spPr>
          <a:xfrm>
            <a:off x="8046720" y="4846320"/>
            <a:ext cx="822960" cy="182880"/>
          </a:xfrm>
          <a:prstGeom prst="rect">
            <a:avLst/>
          </a:prstGeom>
          <a:noFill/>
          <a:ln/>
        </p:spPr>
        <p:txBody>
          <a:bodyPr wrap="square" lIns="0" tIns="0" rIns="0" bIns="0" rtlCol="0" anchor="ctr"/>
          <a:lstStyle/>
          <a:p>
            <a:pPr marL="0" indent="0" algn="r">
              <a:buNone/>
            </a:pPr>
            <a:r>
              <a:rPr lang="en-US" sz="900" dirty="0">
                <a:solidFill>
                  <a:srgbClr val="8DA0B3"/>
                </a:solidFill>
                <a:latin typeface="Calibri" pitchFamily="34" charset="0"/>
                <a:ea typeface="Calibri" pitchFamily="34" charset="-122"/>
                <a:cs typeface="Calibri" pitchFamily="34" charset="-120"/>
              </a:rPr>
              <a:t>14 / 15</a:t>
            </a:r>
            <a:endParaRPr lang="en-US" sz="900" dirty="0"/>
          </a:p>
        </p:txBody>
      </p:sp>
      <p:sp>
        <p:nvSpPr>
          <p:cNvPr id="5" name="Text 3"/>
          <p:cNvSpPr/>
          <p:nvPr/>
        </p:nvSpPr>
        <p:spPr>
          <a:xfrm>
            <a:off x="411480" y="1005840"/>
            <a:ext cx="411480" cy="502920"/>
          </a:xfrm>
          <a:prstGeom prst="rect">
            <a:avLst/>
          </a:prstGeom>
          <a:noFill/>
          <a:ln/>
        </p:spPr>
        <p:txBody>
          <a:bodyPr wrap="square" lIns="0" tIns="0" rIns="0" bIns="0" rtlCol="0" anchor="ctr"/>
          <a:lstStyle/>
          <a:p>
            <a:pPr marL="0" indent="0" algn="ctr">
              <a:buNone/>
            </a:pPr>
            <a:r>
              <a:rPr lang="en-US" sz="1600" dirty="0">
                <a:solidFill>
                  <a:srgbClr val="06D6A0"/>
                </a:solidFill>
              </a:rPr>
              <a:t>✅</a:t>
            </a:r>
            <a:endParaRPr lang="en-US" sz="1600" dirty="0"/>
          </a:p>
        </p:txBody>
      </p:sp>
      <p:sp>
        <p:nvSpPr>
          <p:cNvPr id="6" name="Text 4"/>
          <p:cNvSpPr/>
          <p:nvPr/>
        </p:nvSpPr>
        <p:spPr>
          <a:xfrm>
            <a:off x="896112" y="1024128"/>
            <a:ext cx="7818120" cy="475488"/>
          </a:xfrm>
          <a:prstGeom prst="rect">
            <a:avLst/>
          </a:prstGeom>
          <a:noFill/>
          <a:ln/>
        </p:spPr>
        <p:txBody>
          <a:bodyPr wrap="square" lIns="0" tIns="0" rIns="0" bIns="0" rtlCol="0" anchor="ctr"/>
          <a:lstStyle/>
          <a:p>
            <a:pPr marL="0" indent="0">
              <a:buNone/>
            </a:pPr>
            <a:r>
              <a:rPr lang="en-US" sz="1250" dirty="0">
                <a:solidFill>
                  <a:srgbClr val="E8F4FD"/>
                </a:solidFill>
                <a:latin typeface="Calibri" pitchFamily="34" charset="0"/>
                <a:ea typeface="Calibri" pitchFamily="34" charset="-122"/>
                <a:cs typeface="Calibri" pitchFamily="34" charset="-120"/>
              </a:rPr>
              <a:t>Xây dựng dataset VQA tiếng Việt cho biển báo giao thông (258 ảnh, 2,580 QA).</a:t>
            </a:r>
            <a:endParaRPr lang="en-US" sz="1250" dirty="0"/>
          </a:p>
        </p:txBody>
      </p:sp>
      <p:sp>
        <p:nvSpPr>
          <p:cNvPr id="7" name="Text 5"/>
          <p:cNvSpPr/>
          <p:nvPr/>
        </p:nvSpPr>
        <p:spPr>
          <a:xfrm>
            <a:off x="411480" y="1645920"/>
            <a:ext cx="411480" cy="502920"/>
          </a:xfrm>
          <a:prstGeom prst="rect">
            <a:avLst/>
          </a:prstGeom>
          <a:noFill/>
          <a:ln/>
        </p:spPr>
        <p:txBody>
          <a:bodyPr wrap="square" lIns="0" tIns="0" rIns="0" bIns="0" rtlCol="0" anchor="ctr"/>
          <a:lstStyle/>
          <a:p>
            <a:pPr marL="0" indent="0" algn="ctr">
              <a:buNone/>
            </a:pPr>
            <a:r>
              <a:rPr lang="en-US" sz="1600" dirty="0">
                <a:solidFill>
                  <a:srgbClr val="06D6A0"/>
                </a:solidFill>
              </a:rPr>
              <a:t>✅</a:t>
            </a:r>
            <a:endParaRPr lang="en-US" sz="1600" dirty="0"/>
          </a:p>
        </p:txBody>
      </p:sp>
      <p:sp>
        <p:nvSpPr>
          <p:cNvPr id="8" name="Text 6"/>
          <p:cNvSpPr/>
          <p:nvPr/>
        </p:nvSpPr>
        <p:spPr>
          <a:xfrm>
            <a:off x="896112" y="1664208"/>
            <a:ext cx="7818120" cy="475488"/>
          </a:xfrm>
          <a:prstGeom prst="rect">
            <a:avLst/>
          </a:prstGeom>
          <a:noFill/>
          <a:ln/>
        </p:spPr>
        <p:txBody>
          <a:bodyPr wrap="square" lIns="0" tIns="0" rIns="0" bIns="0" rtlCol="0" anchor="ctr"/>
          <a:lstStyle/>
          <a:p>
            <a:pPr marL="0" indent="0">
              <a:buNone/>
            </a:pPr>
            <a:r>
              <a:rPr lang="en-US" sz="1250" dirty="0">
                <a:solidFill>
                  <a:srgbClr val="E8F4FD"/>
                </a:solidFill>
                <a:latin typeface="Calibri" pitchFamily="34" charset="0"/>
                <a:ea typeface="Calibri" pitchFamily="34" charset="-122"/>
                <a:cs typeface="Calibri" pitchFamily="34" charset="-120"/>
              </a:rPr>
              <a:t>Triển khai đủ 4 cấu hình: A1, A2 (kiến trúc rời) và B1, B2 (multimodal pretrained).</a:t>
            </a:r>
            <a:endParaRPr lang="en-US" sz="1250" dirty="0"/>
          </a:p>
        </p:txBody>
      </p:sp>
      <p:sp>
        <p:nvSpPr>
          <p:cNvPr id="9" name="Text 7"/>
          <p:cNvSpPr/>
          <p:nvPr/>
        </p:nvSpPr>
        <p:spPr>
          <a:xfrm>
            <a:off x="411480" y="2286000"/>
            <a:ext cx="411480" cy="502920"/>
          </a:xfrm>
          <a:prstGeom prst="rect">
            <a:avLst/>
          </a:prstGeom>
          <a:noFill/>
          <a:ln/>
        </p:spPr>
        <p:txBody>
          <a:bodyPr wrap="square" lIns="0" tIns="0" rIns="0" bIns="0" rtlCol="0" anchor="ctr"/>
          <a:lstStyle/>
          <a:p>
            <a:pPr marL="0" indent="0" algn="ctr">
              <a:buNone/>
            </a:pPr>
            <a:r>
              <a:rPr lang="en-US" sz="1600" dirty="0">
                <a:solidFill>
                  <a:srgbClr val="06D6A0"/>
                </a:solidFill>
              </a:rPr>
              <a:t>✅</a:t>
            </a:r>
            <a:endParaRPr lang="en-US" sz="1600" dirty="0"/>
          </a:p>
        </p:txBody>
      </p:sp>
      <p:sp>
        <p:nvSpPr>
          <p:cNvPr id="10" name="Text 8"/>
          <p:cNvSpPr/>
          <p:nvPr/>
        </p:nvSpPr>
        <p:spPr>
          <a:xfrm>
            <a:off x="896112" y="2304288"/>
            <a:ext cx="7818120" cy="475488"/>
          </a:xfrm>
          <a:prstGeom prst="rect">
            <a:avLst/>
          </a:prstGeom>
          <a:noFill/>
          <a:ln/>
        </p:spPr>
        <p:txBody>
          <a:bodyPr wrap="square" lIns="0" tIns="0" rIns="0" bIns="0" rtlCol="0" anchor="ctr"/>
          <a:lstStyle/>
          <a:p>
            <a:pPr marL="0" indent="0">
              <a:buNone/>
            </a:pPr>
            <a:r>
              <a:rPr lang="en-US" sz="1250" dirty="0">
                <a:solidFill>
                  <a:srgbClr val="E8F4FD"/>
                </a:solidFill>
                <a:latin typeface="Calibri" pitchFamily="34" charset="0"/>
                <a:ea typeface="Calibri" pitchFamily="34" charset="-122"/>
                <a:cs typeface="Calibri" pitchFamily="34" charset="-120"/>
              </a:rPr>
              <a:t>So sánh LSTM decoder và Transformer decoder — Transformer vượt trội (74.97% vs 66.78%).</a:t>
            </a:r>
            <a:endParaRPr lang="en-US" sz="1250" dirty="0"/>
          </a:p>
        </p:txBody>
      </p:sp>
      <p:sp>
        <p:nvSpPr>
          <p:cNvPr id="11" name="Text 9"/>
          <p:cNvSpPr/>
          <p:nvPr/>
        </p:nvSpPr>
        <p:spPr>
          <a:xfrm>
            <a:off x="411480" y="2926080"/>
            <a:ext cx="411480" cy="502920"/>
          </a:xfrm>
          <a:prstGeom prst="rect">
            <a:avLst/>
          </a:prstGeom>
          <a:noFill/>
          <a:ln/>
        </p:spPr>
        <p:txBody>
          <a:bodyPr wrap="square" lIns="0" tIns="0" rIns="0" bIns="0" rtlCol="0" anchor="ctr"/>
          <a:lstStyle/>
          <a:p>
            <a:pPr marL="0" indent="0" algn="ctr">
              <a:buNone/>
            </a:pPr>
            <a:r>
              <a:rPr lang="en-US" sz="1600" dirty="0">
                <a:solidFill>
                  <a:srgbClr val="06D6A0"/>
                </a:solidFill>
              </a:rPr>
              <a:t>✅</a:t>
            </a:r>
            <a:endParaRPr lang="en-US" sz="1600" dirty="0"/>
          </a:p>
        </p:txBody>
      </p:sp>
      <p:sp>
        <p:nvSpPr>
          <p:cNvPr id="12" name="Text 10"/>
          <p:cNvSpPr/>
          <p:nvPr/>
        </p:nvSpPr>
        <p:spPr>
          <a:xfrm>
            <a:off x="896112" y="2944368"/>
            <a:ext cx="7818120" cy="475488"/>
          </a:xfrm>
          <a:prstGeom prst="rect">
            <a:avLst/>
          </a:prstGeom>
          <a:noFill/>
          <a:ln/>
        </p:spPr>
        <p:txBody>
          <a:bodyPr wrap="square" lIns="0" tIns="0" rIns="0" bIns="0" rtlCol="0" anchor="ctr"/>
          <a:lstStyle/>
          <a:p>
            <a:pPr marL="0" indent="0">
              <a:buNone/>
            </a:pPr>
            <a:r>
              <a:rPr lang="en-US" sz="1250" dirty="0">
                <a:solidFill>
                  <a:srgbClr val="E8F4FD"/>
                </a:solidFill>
                <a:latin typeface="Calibri" pitchFamily="34" charset="0"/>
                <a:ea typeface="Calibri" pitchFamily="34" charset="-122"/>
                <a:cs typeface="Calibri" pitchFamily="34" charset="-120"/>
              </a:rPr>
              <a:t>Fine-tune Qwen2-VL bằng LoRA — cải thiện Exact Match từ 2.96% lên 43.33%.</a:t>
            </a:r>
            <a:endParaRPr lang="en-US" sz="1250" dirty="0"/>
          </a:p>
        </p:txBody>
      </p:sp>
      <p:sp>
        <p:nvSpPr>
          <p:cNvPr id="13" name="Text 11"/>
          <p:cNvSpPr/>
          <p:nvPr/>
        </p:nvSpPr>
        <p:spPr>
          <a:xfrm>
            <a:off x="411480" y="3566160"/>
            <a:ext cx="411480" cy="502920"/>
          </a:xfrm>
          <a:prstGeom prst="rect">
            <a:avLst/>
          </a:prstGeom>
          <a:noFill/>
          <a:ln/>
        </p:spPr>
        <p:txBody>
          <a:bodyPr wrap="square" lIns="0" tIns="0" rIns="0" bIns="0" rtlCol="0" anchor="ctr"/>
          <a:lstStyle/>
          <a:p>
            <a:pPr marL="0" indent="0" algn="ctr">
              <a:buNone/>
            </a:pPr>
            <a:r>
              <a:rPr lang="en-US" sz="1600" dirty="0">
                <a:solidFill>
                  <a:srgbClr val="06D6A0"/>
                </a:solidFill>
              </a:rPr>
              <a:t>✅</a:t>
            </a:r>
            <a:endParaRPr lang="en-US" sz="1600" dirty="0"/>
          </a:p>
        </p:txBody>
      </p:sp>
      <p:sp>
        <p:nvSpPr>
          <p:cNvPr id="14" name="Text 12"/>
          <p:cNvSpPr/>
          <p:nvPr/>
        </p:nvSpPr>
        <p:spPr>
          <a:xfrm>
            <a:off x="896112" y="3584448"/>
            <a:ext cx="7818120" cy="475488"/>
          </a:xfrm>
          <a:prstGeom prst="rect">
            <a:avLst/>
          </a:prstGeom>
          <a:noFill/>
          <a:ln/>
        </p:spPr>
        <p:txBody>
          <a:bodyPr wrap="square" lIns="0" tIns="0" rIns="0" bIns="0" rtlCol="0" anchor="ctr"/>
          <a:lstStyle/>
          <a:p>
            <a:pPr marL="0" indent="0">
              <a:buNone/>
            </a:pPr>
            <a:r>
              <a:rPr lang="en-US" sz="1250" dirty="0">
                <a:solidFill>
                  <a:srgbClr val="E8F4FD"/>
                </a:solidFill>
                <a:latin typeface="Calibri" pitchFamily="34" charset="0"/>
                <a:ea typeface="Calibri" pitchFamily="34" charset="-122"/>
                <a:cs typeface="Calibri" pitchFamily="34" charset="-120"/>
              </a:rPr>
              <a:t>Có demo local (FastAPI) và demo Colab (Gradio) hoạt động realtime.</a:t>
            </a:r>
            <a:endParaRPr lang="en-US" sz="1250" dirty="0"/>
          </a:p>
        </p:txBody>
      </p:sp>
      <p:sp>
        <p:nvSpPr>
          <p:cNvPr id="15" name="Text 13"/>
          <p:cNvSpPr/>
          <p:nvPr/>
        </p:nvSpPr>
        <p:spPr>
          <a:xfrm>
            <a:off x="411480" y="4206240"/>
            <a:ext cx="411480" cy="502920"/>
          </a:xfrm>
          <a:prstGeom prst="rect">
            <a:avLst/>
          </a:prstGeom>
          <a:noFill/>
          <a:ln/>
        </p:spPr>
        <p:txBody>
          <a:bodyPr wrap="square" lIns="0" tIns="0" rIns="0" bIns="0" rtlCol="0" anchor="ctr"/>
          <a:lstStyle/>
          <a:p>
            <a:pPr marL="0" indent="0" algn="ctr">
              <a:buNone/>
            </a:pPr>
            <a:r>
              <a:rPr lang="en-US" sz="1600" dirty="0">
                <a:solidFill>
                  <a:srgbClr val="06D6A0"/>
                </a:solidFill>
              </a:rPr>
              <a:t>✅</a:t>
            </a:r>
            <a:endParaRPr lang="en-US" sz="1600" dirty="0"/>
          </a:p>
        </p:txBody>
      </p:sp>
      <p:sp>
        <p:nvSpPr>
          <p:cNvPr id="16" name="Text 14"/>
          <p:cNvSpPr/>
          <p:nvPr/>
        </p:nvSpPr>
        <p:spPr>
          <a:xfrm>
            <a:off x="896112" y="4224528"/>
            <a:ext cx="7818120" cy="475488"/>
          </a:xfrm>
          <a:prstGeom prst="rect">
            <a:avLst/>
          </a:prstGeom>
          <a:noFill/>
          <a:ln/>
        </p:spPr>
        <p:txBody>
          <a:bodyPr wrap="square" lIns="0" tIns="0" rIns="0" bIns="0" rtlCol="0" anchor="ctr"/>
          <a:lstStyle/>
          <a:p>
            <a:pPr marL="0" indent="0">
              <a:buNone/>
            </a:pPr>
            <a:r>
              <a:rPr lang="en-US" sz="1250" dirty="0">
                <a:solidFill>
                  <a:srgbClr val="E8F4FD"/>
                </a:solidFill>
                <a:latin typeface="Calibri" pitchFamily="34" charset="0"/>
                <a:ea typeface="Calibri" pitchFamily="34" charset="-122"/>
                <a:cs typeface="Calibri" pitchFamily="34" charset="-120"/>
              </a:rPr>
              <a:t>Bài 2 mở rộng thành Explainable VQA với giải thích, khuyến nghị và confidence.</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914400" y="3200400"/>
            <a:ext cx="4572000" cy="4572000"/>
          </a:xfrm>
          <a:prstGeom prst="ellipse">
            <a:avLst/>
          </a:prstGeom>
          <a:solidFill>
            <a:srgbClr val="0077B6">
              <a:alpha val="30000"/>
            </a:srgbClr>
          </a:solidFill>
          <a:ln w="12700">
            <a:solidFill>
              <a:srgbClr val="0077B6">
                <a:alpha val="30000"/>
              </a:srgbClr>
            </a:solidFill>
            <a:prstDash val="solid"/>
          </a:ln>
        </p:spPr>
        <p:txBody>
          <a:bodyPr/>
          <a:lstStyle/>
          <a:p>
            <a:endParaRPr lang="en-US"/>
          </a:p>
        </p:txBody>
      </p:sp>
      <p:sp>
        <p:nvSpPr>
          <p:cNvPr id="3" name="Shape 1"/>
          <p:cNvSpPr/>
          <p:nvPr/>
        </p:nvSpPr>
        <p:spPr>
          <a:xfrm>
            <a:off x="6400800" y="-1371600"/>
            <a:ext cx="4572000" cy="4572000"/>
          </a:xfrm>
          <a:prstGeom prst="ellipse">
            <a:avLst/>
          </a:prstGeom>
          <a:solidFill>
            <a:srgbClr val="0077B6">
              <a:alpha val="20000"/>
            </a:srgbClr>
          </a:solidFill>
          <a:ln w="12700">
            <a:solidFill>
              <a:srgbClr val="0077B6">
                <a:alpha val="20000"/>
              </a:srgbClr>
            </a:solidFill>
            <a:prstDash val="solid"/>
          </a:ln>
        </p:spPr>
        <p:txBody>
          <a:bodyPr/>
          <a:lstStyle/>
          <a:p>
            <a:endParaRPr lang="en-US"/>
          </a:p>
        </p:txBody>
      </p:sp>
      <p:sp>
        <p:nvSpPr>
          <p:cNvPr id="4" name="Text 2"/>
          <p:cNvSpPr/>
          <p:nvPr/>
        </p:nvSpPr>
        <p:spPr>
          <a:xfrm>
            <a:off x="411480" y="1097280"/>
            <a:ext cx="8321040" cy="1645920"/>
          </a:xfrm>
          <a:prstGeom prst="rect">
            <a:avLst/>
          </a:prstGeom>
          <a:noFill/>
          <a:ln/>
        </p:spPr>
        <p:txBody>
          <a:bodyPr wrap="square" lIns="0" tIns="0" rIns="0" bIns="0"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Cảm </a:t>
            </a:r>
            <a:r>
              <a:rPr lang="en-US" sz="4000" b="1">
                <a:solidFill>
                  <a:srgbClr val="FFFFFF"/>
                </a:solidFill>
                <a:latin typeface="Calibri" pitchFamily="34" charset="0"/>
                <a:ea typeface="Calibri" pitchFamily="34" charset="-122"/>
                <a:cs typeface="Calibri" pitchFamily="34" charset="-120"/>
              </a:rPr>
              <a:t>ơn thầy</a:t>
            </a:r>
            <a:endParaRPr lang="en-US" sz="4000" dirty="0"/>
          </a:p>
          <a:p>
            <a:pPr marL="0" indent="0" algn="ctr">
              <a:buNone/>
            </a:pPr>
            <a:r>
              <a:rPr lang="en-US" sz="4000" b="1" dirty="0">
                <a:solidFill>
                  <a:srgbClr val="FFFFFF"/>
                </a:solidFill>
                <a:latin typeface="Calibri" pitchFamily="34" charset="0"/>
                <a:ea typeface="Calibri" pitchFamily="34" charset="-122"/>
                <a:cs typeface="Calibri" pitchFamily="34" charset="-120"/>
              </a:rPr>
              <a:t>đã lắng nghe!</a:t>
            </a:r>
            <a:endParaRPr lang="en-US" sz="4000" dirty="0"/>
          </a:p>
        </p:txBody>
      </p:sp>
      <p:sp>
        <p:nvSpPr>
          <p:cNvPr id="5" name="Shape 3"/>
          <p:cNvSpPr/>
          <p:nvPr/>
        </p:nvSpPr>
        <p:spPr>
          <a:xfrm>
            <a:off x="3200400" y="2834640"/>
            <a:ext cx="2743200" cy="27432"/>
          </a:xfrm>
          <a:prstGeom prst="rect">
            <a:avLst/>
          </a:prstGeom>
          <a:solidFill>
            <a:srgbClr val="00B4D8"/>
          </a:solidFill>
          <a:ln w="12700">
            <a:solidFill>
              <a:srgbClr val="00B4D8"/>
            </a:solidFill>
            <a:prstDash val="solid"/>
          </a:ln>
        </p:spPr>
        <p:txBody>
          <a:bodyPr/>
          <a:lstStyle/>
          <a:p>
            <a:endParaRPr lang="en-US"/>
          </a:p>
        </p:txBody>
      </p:sp>
      <p:sp>
        <p:nvSpPr>
          <p:cNvPr id="6" name="Text 4"/>
          <p:cNvSpPr/>
          <p:nvPr/>
        </p:nvSpPr>
        <p:spPr>
          <a:xfrm>
            <a:off x="411480" y="3017520"/>
            <a:ext cx="8321040" cy="731520"/>
          </a:xfrm>
          <a:prstGeom prst="rect">
            <a:avLst/>
          </a:prstGeom>
          <a:noFill/>
          <a:ln/>
        </p:spPr>
        <p:txBody>
          <a:bodyPr wrap="square" lIns="0" tIns="0" rIns="0" bIns="0" rtlCol="0" anchor="ctr"/>
          <a:lstStyle/>
          <a:p>
            <a:pPr marL="0" indent="0" algn="ctr">
              <a:buNone/>
            </a:pPr>
            <a:r>
              <a:rPr lang="en-US" sz="2800" dirty="0">
                <a:solidFill>
                  <a:srgbClr val="00B4D8"/>
                </a:solidFill>
                <a:latin typeface="Calibri" pitchFamily="34" charset="0"/>
                <a:ea typeface="Calibri" pitchFamily="34" charset="-122"/>
                <a:cs typeface="Calibri" pitchFamily="34" charset="-120"/>
              </a:rPr>
              <a:t>Q &amp; A</a:t>
            </a:r>
            <a:endParaRPr lang="en-US" sz="2800" dirty="0"/>
          </a:p>
        </p:txBody>
      </p:sp>
      <p:sp>
        <p:nvSpPr>
          <p:cNvPr id="8" name="Shape 6"/>
          <p:cNvSpPr/>
          <p:nvPr/>
        </p:nvSpPr>
        <p:spPr>
          <a:xfrm>
            <a:off x="0" y="4800600"/>
            <a:ext cx="9144000" cy="342900"/>
          </a:xfrm>
          <a:prstGeom prst="rect">
            <a:avLst/>
          </a:prstGeom>
          <a:solidFill>
            <a:srgbClr val="0077B6"/>
          </a:solidFill>
          <a:ln w="12700">
            <a:solidFill>
              <a:srgbClr val="0077B6"/>
            </a:solidFill>
            <a:prstDash val="solid"/>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TotalTime>
  <Words>2557</Words>
  <Application>Microsoft Office PowerPoint</Application>
  <PresentationFormat>On-screen Show (16:9)</PresentationFormat>
  <Paragraphs>281</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Traffic Sign VQA</dc:title>
  <dc:subject>PptxGenJS Presentation</dc:subject>
  <dc:creator>PptxGenJS</dc:creator>
  <cp:lastModifiedBy>Khởi Đông</cp:lastModifiedBy>
  <cp:revision>3</cp:revision>
  <dcterms:created xsi:type="dcterms:W3CDTF">2026-05-15T01:18:40Z</dcterms:created>
  <dcterms:modified xsi:type="dcterms:W3CDTF">2026-05-15T01:47:46Z</dcterms:modified>
</cp:coreProperties>
</file>